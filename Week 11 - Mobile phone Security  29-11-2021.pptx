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4"/>
  </p:sldMasterIdLst>
  <p:notesMasterIdLst>
    <p:notesMasterId r:id="rId36"/>
  </p:notesMasterIdLst>
  <p:handoutMasterIdLst>
    <p:handoutMasterId r:id="rId37"/>
  </p:handoutMasterIdLst>
  <p:sldIdLst>
    <p:sldId id="403" r:id="rId5"/>
    <p:sldId id="256" r:id="rId6"/>
    <p:sldId id="257" r:id="rId7"/>
    <p:sldId id="259" r:id="rId8"/>
    <p:sldId id="287" r:id="rId9"/>
    <p:sldId id="311" r:id="rId10"/>
    <p:sldId id="312" r:id="rId11"/>
    <p:sldId id="313" r:id="rId12"/>
    <p:sldId id="321" r:id="rId13"/>
    <p:sldId id="346" r:id="rId14"/>
    <p:sldId id="308" r:id="rId15"/>
    <p:sldId id="322" r:id="rId16"/>
    <p:sldId id="325" r:id="rId17"/>
    <p:sldId id="326" r:id="rId18"/>
    <p:sldId id="327" r:id="rId19"/>
    <p:sldId id="328" r:id="rId20"/>
    <p:sldId id="330" r:id="rId21"/>
    <p:sldId id="329" r:id="rId22"/>
    <p:sldId id="331" r:id="rId23"/>
    <p:sldId id="332" r:id="rId24"/>
    <p:sldId id="335" r:id="rId25"/>
    <p:sldId id="336" r:id="rId26"/>
    <p:sldId id="337" r:id="rId27"/>
    <p:sldId id="347" r:id="rId28"/>
    <p:sldId id="345" r:id="rId29"/>
    <p:sldId id="1242" r:id="rId30"/>
    <p:sldId id="258" r:id="rId31"/>
    <p:sldId id="281" r:id="rId32"/>
    <p:sldId id="297" r:id="rId33"/>
    <p:sldId id="333" r:id="rId34"/>
    <p:sldId id="501" r:id="rId35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FF0000"/>
    <a:srgbClr val="CCECFF"/>
    <a:srgbClr val="66CCFF"/>
    <a:srgbClr val="CCFFFF"/>
    <a:srgbClr val="F8F8F8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02" autoAdjust="0"/>
    <p:restoredTop sz="94637"/>
  </p:normalViewPr>
  <p:slideViewPr>
    <p:cSldViewPr snapToGrid="0">
      <p:cViewPr varScale="1">
        <p:scale>
          <a:sx n="108" d="100"/>
          <a:sy n="108" d="100"/>
        </p:scale>
        <p:origin x="1728" y="19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1878" y="-90"/>
      </p:cViewPr>
      <p:guideLst>
        <p:guide orient="horz" pos="2928"/>
        <p:guide pos="216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 smtClean="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890DDA38-5E15-4458-AA02-5DB6EAB597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86505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B7D5C97-239A-4625-A264-D204ED0A6B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62692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2EBA187-3F9C-4A31-ABE2-454C7EF753BC}" type="slidenum">
              <a:rPr lang="en-US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843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cy-GB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cy-GB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cy-GB" altLang="en-US"/>
            </a:p>
          </p:txBody>
        </p:sp>
      </p:grp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475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9859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5363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162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408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8391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7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3757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382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2791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8833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F9FE1-ED46-4BB3-BF75-C0829B686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2776D-B530-459F-ABFB-A1E4FF0496BA}" type="datetimeFigureOut">
              <a:rPr lang="en-US"/>
              <a:pPr>
                <a:defRPr/>
              </a:pPr>
              <a:t>12/15/23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31069-306B-4A91-8E7F-563AF2F0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7AB7E-52B4-41D5-BC3B-A93E8D62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552CA-C049-4CEA-84F8-C91EF2BA02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70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cy-GB" altLang="en-US" sz="2400">
              <a:latin typeface="Times New Roman" panose="02020603050405020304" pitchFamily="18" charset="0"/>
            </a:endParaRP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cy-GB" altLang="en-US" sz="2400">
              <a:latin typeface="Times New Roman" panose="02020603050405020304" pitchFamily="18" charset="0"/>
            </a:endParaRPr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cy-GB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  <p:sldLayoutId id="214748389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://developer.apple.com/iphone/program/university.html" TargetMode="External"/><Relationship Id="rId3" Type="http://schemas.openxmlformats.org/officeDocument/2006/relationships/hyperlink" Target="http://www.samsung.com/global/business/semiconductor/product/application/detail?productId=7668&amp;iaId=2341" TargetMode="External"/><Relationship Id="rId7" Type="http://schemas.openxmlformats.org/officeDocument/2006/relationships/hyperlink" Target="http://en.wikipedia.org/wiki/iOS" TargetMode="External"/><Relationship Id="rId2" Type="http://schemas.openxmlformats.org/officeDocument/2006/relationships/hyperlink" Target="http://www.cisco.com/en/US/solutions/collateral/ns341/ns525/ns537/ns705/ns827/white_paper_c11-520862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acworld.co.uk/ipod-itunes/news/index.cfm?newsid=16927" TargetMode="External"/><Relationship Id="rId11" Type="http://schemas.openxmlformats.org/officeDocument/2006/relationships/hyperlink" Target="http://www.slideshare.net/agent0x0/the-android-vs-apple-ios-security-showdown" TargetMode="External"/><Relationship Id="rId5" Type="http://schemas.openxmlformats.org/officeDocument/2006/relationships/hyperlink" Target="http://www.insidemobileapps.com/2012/07/24/ios-device-sales-leapfrog-android-with-410-million-devices-sold/" TargetMode="External"/><Relationship Id="rId10" Type="http://schemas.openxmlformats.org/officeDocument/2006/relationships/hyperlink" Target="http://source.android.com/tech/security/index.html" TargetMode="External"/><Relationship Id="rId4" Type="http://schemas.openxmlformats.org/officeDocument/2006/relationships/hyperlink" Target="http://blog.nielsen.com/nielsenwire/online_mobile/two-thirds-of-new-mobile-buyers-now-opting-for-smartphones/" TargetMode="External"/><Relationship Id="rId9" Type="http://schemas.openxmlformats.org/officeDocument/2006/relationships/hyperlink" Target="http://images.apple.com/ipad/business/docs/iOS_Security_May12.pdf" TargetMode="Externa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ymantec.com/connect/blogs/introducing-symantec-smartphone-honey-stick-project" TargetMode="External"/><Relationship Id="rId3" Type="http://schemas.openxmlformats.org/officeDocument/2006/relationships/hyperlink" Target="http://developer.android.com/about/dashboards/index.html" TargetMode="External"/><Relationship Id="rId7" Type="http://schemas.openxmlformats.org/officeDocument/2006/relationships/hyperlink" Target="https://www.mylookout.com/resources/reports/mobile-lost-and-found/" TargetMode="External"/><Relationship Id="rId2" Type="http://schemas.openxmlformats.org/officeDocument/2006/relationships/hyperlink" Target="http://googlemobile.blogspot.com/2012/02/android-and-security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icro-trax.com/statistics" TargetMode="External"/><Relationship Id="rId5" Type="http://schemas.openxmlformats.org/officeDocument/2006/relationships/hyperlink" Target="http://opensignalmaps.com/reports/fragmentation.php" TargetMode="External"/><Relationship Id="rId4" Type="http://schemas.openxmlformats.org/officeDocument/2006/relationships/hyperlink" Target="http://theunderstatement.com/post/11982112928/android-orphans-visualizing-a-sad-history-of-support" TargetMode="External"/><Relationship Id="rId9" Type="http://schemas.openxmlformats.org/officeDocument/2006/relationships/hyperlink" Target="http://newsroom.juniper.net/press-releases/global-research-shows-mobile-malware-accelerating-nyse-jnpr-0851976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abc.net.au/news/2009-11-09/australian-admits-creating-first-iphone-virus/1135474" TargetMode="External"/><Relationship Id="rId3" Type="http://schemas.openxmlformats.org/officeDocument/2006/relationships/hyperlink" Target="http://nakedsecurity.sophos.com/2012/04/12/a%20ndroid-malware-angry-birds-space-game/" TargetMode="External"/><Relationship Id="rId7" Type="http://schemas.openxmlformats.org/officeDocument/2006/relationships/hyperlink" Target="http://arstechnica.com/security/2012/07/android-nokia-smartphone-hack/" TargetMode="External"/><Relationship Id="rId12" Type="http://schemas.openxmlformats.org/officeDocument/2006/relationships/hyperlink" Target="http://www.slideshare.net/cooperq/your-cell-phone-is-covered-in-spiders" TargetMode="External"/><Relationship Id="rId2" Type="http://schemas.openxmlformats.org/officeDocument/2006/relationships/hyperlink" Target="http://www.slideshare.net/fsecure/mobile-threat-report-q2-201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libnfc.org/" TargetMode="External"/><Relationship Id="rId11" Type="http://schemas.openxmlformats.org/officeDocument/2006/relationships/hyperlink" Target="http://en.wikipedia.org/wiki/Mobile_device_forensics" TargetMode="External"/><Relationship Id="rId5" Type="http://schemas.openxmlformats.org/officeDocument/2006/relationships/hyperlink" Target="http://www.proxmark.org/" TargetMode="External"/><Relationship Id="rId10" Type="http://schemas.openxmlformats.org/officeDocument/2006/relationships/hyperlink" Target="http://www.heritage.org/research/reports/2010/08/overcriminalization" TargetMode="External"/><Relationship Id="rId4" Type="http://schemas.openxmlformats.org/officeDocument/2006/relationships/hyperlink" Target="https://viaforensics.com/mobile-security/forensics-security-analysis-google-wallet.html" TargetMode="External"/><Relationship Id="rId9" Type="http://schemas.openxmlformats.org/officeDocument/2006/relationships/hyperlink" Target="http://arstechnica.com/gadgets/2011/01/why-you-should-always-encrypt-your-smartphone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static.usenix.org/event/osdi10/tech/slides/enck.pdf" TargetMode="External"/><Relationship Id="rId2" Type="http://schemas.openxmlformats.org/officeDocument/2006/relationships/hyperlink" Target="http://appanalysis.org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y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6600"/>
            <a:ext cx="8229600" cy="4530725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  <a:defRPr/>
            </a:pPr>
            <a:endParaRPr lang="en-GB" sz="4400" dirty="0"/>
          </a:p>
          <a:p>
            <a:pPr marL="0" indent="0" algn="ctr">
              <a:buFont typeface="Monotype Sorts" pitchFamily="-84" charset="2"/>
              <a:buNone/>
              <a:defRPr/>
            </a:pPr>
            <a:r>
              <a:rPr lang="en-GB" sz="5400" dirty="0">
                <a:solidFill>
                  <a:schemeClr val="bg2">
                    <a:lumMod val="75000"/>
                  </a:schemeClr>
                </a:solidFill>
              </a:rPr>
              <a:t>Information Security Essentials </a:t>
            </a:r>
          </a:p>
          <a:p>
            <a:pPr marL="0" indent="0" algn="ctr">
              <a:lnSpc>
                <a:spcPct val="150000"/>
              </a:lnSpc>
              <a:buFont typeface="Monotype Sorts" pitchFamily="-84" charset="2"/>
              <a:buNone/>
              <a:defRPr/>
            </a:pPr>
            <a:r>
              <a:rPr lang="en-GB" sz="3600" dirty="0">
                <a:solidFill>
                  <a:schemeClr val="bg2">
                    <a:lumMod val="75000"/>
                  </a:schemeClr>
                </a:solidFill>
              </a:rPr>
              <a:t>Week 11 Lecture 21 </a:t>
            </a:r>
          </a:p>
          <a:p>
            <a:pPr marL="0" indent="0" algn="ctr">
              <a:lnSpc>
                <a:spcPct val="150000"/>
              </a:lnSpc>
              <a:buFont typeface="Monotype Sorts" pitchFamily="-84" charset="2"/>
              <a:buNone/>
              <a:defRPr/>
            </a:pPr>
            <a:r>
              <a:rPr lang="en-GB" sz="3600">
                <a:solidFill>
                  <a:schemeClr val="bg2">
                    <a:lumMod val="75000"/>
                  </a:schemeClr>
                </a:solidFill>
              </a:rPr>
              <a:t>29-11-2023</a:t>
            </a:r>
            <a:endParaRPr lang="en-GB" sz="36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 algn="ctr">
              <a:lnSpc>
                <a:spcPct val="150000"/>
              </a:lnSpc>
              <a:buFont typeface="Monotype Sorts" pitchFamily="-84" charset="2"/>
              <a:buNone/>
              <a:defRPr/>
            </a:pPr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Presented by: Sir </a:t>
            </a:r>
            <a:r>
              <a:rPr lang="en-GB" sz="2800" dirty="0" err="1">
                <a:solidFill>
                  <a:schemeClr val="bg2">
                    <a:lumMod val="75000"/>
                  </a:schemeClr>
                </a:solidFill>
              </a:rPr>
              <a:t>Yawar</a:t>
            </a:r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 Abbas</a:t>
            </a:r>
          </a:p>
          <a:p>
            <a:pPr marL="0" indent="0" algn="ctr">
              <a:lnSpc>
                <a:spcPct val="150000"/>
              </a:lnSpc>
              <a:buFont typeface="Monotype Sorts" pitchFamily="-84" charset="2"/>
              <a:buNone/>
              <a:defRPr/>
            </a:pPr>
            <a:endParaRPr lang="en-GB" sz="2800" dirty="0"/>
          </a:p>
          <a:p>
            <a:pPr marL="0" indent="0" algn="ctr">
              <a:buFont typeface="Monotype Sorts" pitchFamily="-84" charset="2"/>
              <a:buNone/>
              <a:defRPr/>
            </a:pPr>
            <a:endParaRPr lang="en-GB" sz="3200" dirty="0"/>
          </a:p>
          <a:p>
            <a:pPr marL="0" indent="0">
              <a:buFont typeface="Monotype Sorts" pitchFamily="-84" charset="2"/>
              <a:buNone/>
              <a:defRPr/>
            </a:pPr>
            <a:endParaRPr lang="cy-GB" dirty="0"/>
          </a:p>
        </p:txBody>
      </p:sp>
      <p:sp>
        <p:nvSpPr>
          <p:cNvPr id="4" name="Rectangle 3"/>
          <p:cNvSpPr/>
          <p:nvPr/>
        </p:nvSpPr>
        <p:spPr bwMode="auto">
          <a:xfrm>
            <a:off x="5854700" y="6230938"/>
            <a:ext cx="3275013" cy="612775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cy-GB">
              <a:latin typeface="Verdana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74638" y="6243638"/>
            <a:ext cx="3276600" cy="614362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cy-GB">
              <a:latin typeface="Verdana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51D8D2C0-F0E1-4B92-B414-0395BB54B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30375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Mobile Device Security</a:t>
            </a:r>
          </a:p>
        </p:txBody>
      </p:sp>
      <p:sp>
        <p:nvSpPr>
          <p:cNvPr id="2051" name="Subtitle 2">
            <a:extLst>
              <a:ext uri="{FF2B5EF4-FFF2-40B4-BE49-F238E27FC236}">
                <a16:creationId xmlns:a16="http://schemas.microsoft.com/office/drawing/2014/main" id="{F3A112DB-63D8-4900-A814-224BDD7C1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5382944"/>
            <a:ext cx="7772400" cy="887681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898989"/>
                </a:solidFill>
                <a:ea typeface="ＭＳ Ｐゴシック" panose="020B0600070205080204" pitchFamily="34" charset="-128"/>
              </a:rPr>
              <a:t>Obtained from: web.cse.ohio-state.edu › courses › 4471_mobile_device_security_handout</a:t>
            </a:r>
          </a:p>
          <a:p>
            <a:pPr eaLnBrk="1" hangingPunct="1"/>
            <a:endParaRPr lang="en-US" altLang="en-US" dirty="0">
              <a:solidFill>
                <a:srgbClr val="898989"/>
              </a:solidFill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solidFill>
                <a:srgbClr val="898989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3F178ED9-18E5-45CC-8FC5-8B3BBA2D0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Organization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B79F4130-10B9-4D3B-8F1F-34DDE00EC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Quick Overview of Mobile Devices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Mobile Threats and Attacks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Countermeasures</a:t>
            </a:r>
          </a:p>
          <a:p>
            <a:pPr eaLnBrk="1" hangingPunct="1"/>
            <a:r>
              <a:rPr lang="en-US" altLang="en-US" dirty="0" err="1">
                <a:ea typeface="ＭＳ Ｐゴシック" panose="020B0600070205080204" pitchFamily="34" charset="-128"/>
              </a:rPr>
              <a:t>TaintDroid</a:t>
            </a:r>
            <a:r>
              <a:rPr lang="en-US" altLang="en-US" dirty="0">
                <a:ea typeface="ＭＳ Ｐゴシック" panose="020B0600070205080204" pitchFamily="34" charset="-128"/>
              </a:rPr>
              <a:t>/Taint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8">
            <a:extLst>
              <a:ext uri="{FF2B5EF4-FFF2-40B4-BE49-F238E27FC236}">
                <a16:creationId xmlns:a16="http://schemas.microsoft.com/office/drawing/2014/main" id="{8F795386-DBCF-4120-BB8B-61962FD9D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825" y="1522413"/>
            <a:ext cx="2987675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itle 1">
            <a:extLst>
              <a:ext uri="{FF2B5EF4-FFF2-40B4-BE49-F238E27FC236}">
                <a16:creationId xmlns:a16="http://schemas.microsoft.com/office/drawing/2014/main" id="{C1DAB88A-F69E-4131-A153-821ADAB9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Overview of Mobile Devices</a:t>
            </a:r>
          </a:p>
        </p:txBody>
      </p:sp>
      <p:sp>
        <p:nvSpPr>
          <p:cNvPr id="4100" name="Content Placeholder 3">
            <a:extLst>
              <a:ext uri="{FF2B5EF4-FFF2-40B4-BE49-F238E27FC236}">
                <a16:creationId xmlns:a16="http://schemas.microsoft.com/office/drawing/2014/main" id="{8F16187E-0752-47D7-BAB2-3B8B73230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626" y="1010650"/>
            <a:ext cx="4229100" cy="50673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ea typeface="ＭＳ Ｐゴシック" panose="020B0600070205080204" pitchFamily="34" charset="-128"/>
              </a:rPr>
              <a:t>Mobile </a:t>
            </a:r>
            <a:r>
              <a:rPr lang="en-US" altLang="en-US" sz="2500" i="1" dirty="0">
                <a:ea typeface="ＭＳ Ｐゴシック" panose="020B0600070205080204" pitchFamily="34" charset="-128"/>
              </a:rPr>
              <a:t>computers</a:t>
            </a:r>
            <a:r>
              <a:rPr lang="en-US" altLang="en-US" sz="2500" dirty="0">
                <a:ea typeface="ＭＳ Ｐゴシック" panose="020B0600070205080204" pitchFamily="34" charset="-128"/>
              </a:rPr>
              <a:t>:</a:t>
            </a:r>
          </a:p>
          <a:p>
            <a:pPr lvl="1" eaLnBrk="1" hangingPunct="1">
              <a:lnSpc>
                <a:spcPct val="80000"/>
              </a:lnSpc>
              <a:buFont typeface="Lucida Grande" pitchFamily="-84" charset="0"/>
              <a:buChar char="–"/>
            </a:pPr>
            <a:r>
              <a:rPr lang="en-US" altLang="en-US" sz="2200" dirty="0">
                <a:ea typeface="ＭＳ Ｐゴシック" panose="020B0600070205080204" pitchFamily="34" charset="-128"/>
              </a:rPr>
              <a:t>Mainly smartphones, tablets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Sensors: GPS, camera, accelerometer, etc.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Computation: powerful CPUs (≥ 1 GHz, multi-core)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Communication: cellular/4G, Wi-Fi, near field communication (NFC), etc.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ea typeface="ＭＳ Ｐゴシック" panose="020B0600070205080204" pitchFamily="34" charset="-128"/>
              </a:rPr>
              <a:t>Many connect to cellular networks: </a:t>
            </a:r>
            <a:r>
              <a:rPr lang="en-US" altLang="en-US" sz="2500" i="1" dirty="0">
                <a:ea typeface="ＭＳ Ｐゴシック" panose="020B0600070205080204" pitchFamily="34" charset="-128"/>
              </a:rPr>
              <a:t>billing system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ea typeface="ＭＳ Ｐゴシック" panose="020B0600070205080204" pitchFamily="34" charset="-128"/>
              </a:rPr>
              <a:t>Cisco: 7 billion mobile devices will have been sold by 2012 [1]</a:t>
            </a:r>
          </a:p>
        </p:txBody>
      </p:sp>
      <p:pic>
        <p:nvPicPr>
          <p:cNvPr id="4101" name="Picture 13">
            <a:extLst>
              <a:ext uri="{FF2B5EF4-FFF2-40B4-BE49-F238E27FC236}">
                <a16:creationId xmlns:a16="http://schemas.microsoft.com/office/drawing/2014/main" id="{D5885867-0BC0-48FE-B2FA-9B800286B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1" t="18518" r="4301" b="18518"/>
          <a:stretch>
            <a:fillRect/>
          </a:stretch>
        </p:blipFill>
        <p:spPr bwMode="auto">
          <a:xfrm>
            <a:off x="6300788" y="1892300"/>
            <a:ext cx="2503487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Content Placeholder 10">
            <a:extLst>
              <a:ext uri="{FF2B5EF4-FFF2-40B4-BE49-F238E27FC236}">
                <a16:creationId xmlns:a16="http://schemas.microsoft.com/office/drawing/2014/main" id="{65161B84-BA9B-41CA-9CAD-E938FF3F65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0" r="24820"/>
          <a:stretch>
            <a:fillRect/>
          </a:stretch>
        </p:blipFill>
        <p:spPr bwMode="auto">
          <a:xfrm>
            <a:off x="4656138" y="2235200"/>
            <a:ext cx="1074737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14">
            <a:extLst>
              <a:ext uri="{FF2B5EF4-FFF2-40B4-BE49-F238E27FC236}">
                <a16:creationId xmlns:a16="http://schemas.microsoft.com/office/drawing/2014/main" id="{CE4BA250-E05C-485D-A9B5-3B384EC52D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8788" y="5740400"/>
            <a:ext cx="995362" cy="385763"/>
          </a:xfrm>
          <a:prstGeom prst="rect">
            <a:avLst/>
          </a:prstGeom>
          <a:solidFill>
            <a:srgbClr val="AB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15">
            <a:extLst>
              <a:ext uri="{FF2B5EF4-FFF2-40B4-BE49-F238E27FC236}">
                <a16:creationId xmlns:a16="http://schemas.microsoft.com/office/drawing/2014/main" id="{CB9CD3ED-B206-42BE-AF6B-11DF8B4A0E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862"/>
          <a:stretch>
            <a:fillRect/>
          </a:stretch>
        </p:blipFill>
        <p:spPr bwMode="auto">
          <a:xfrm>
            <a:off x="8250238" y="6164263"/>
            <a:ext cx="436562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16">
            <a:extLst>
              <a:ext uri="{FF2B5EF4-FFF2-40B4-BE49-F238E27FC236}">
                <a16:creationId xmlns:a16="http://schemas.microsoft.com/office/drawing/2014/main" id="{6E1A1057-7C89-4773-8382-2F32847144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657850"/>
            <a:ext cx="1141413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17">
            <a:extLst>
              <a:ext uri="{FF2B5EF4-FFF2-40B4-BE49-F238E27FC236}">
                <a16:creationId xmlns:a16="http://schemas.microsoft.com/office/drawing/2014/main" id="{F3B39EA7-2178-4F72-93D4-ED3F81610F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6461125"/>
            <a:ext cx="1258888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Picture 19">
            <a:extLst>
              <a:ext uri="{FF2B5EF4-FFF2-40B4-BE49-F238E27FC236}">
                <a16:creationId xmlns:a16="http://schemas.microsoft.com/office/drawing/2014/main" id="{0E3E29F4-DCB5-4614-9A18-15AB7DE9B9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68" t="2814" r="13368" b="3436"/>
          <a:stretch>
            <a:fillRect/>
          </a:stretch>
        </p:blipFill>
        <p:spPr bwMode="auto">
          <a:xfrm>
            <a:off x="7891463" y="2351088"/>
            <a:ext cx="1085850" cy="202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8" name="Picture 23" descr="wide-area-network-link.png">
            <a:extLst>
              <a:ext uri="{FF2B5EF4-FFF2-40B4-BE49-F238E27FC236}">
                <a16:creationId xmlns:a16="http://schemas.microsoft.com/office/drawing/2014/main" id="{4B956072-CDEC-494E-887D-04C44D5D84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6" t="10287" r="18655" b="19907"/>
          <a:stretch>
            <a:fillRect/>
          </a:stretch>
        </p:blipFill>
        <p:spPr bwMode="auto">
          <a:xfrm>
            <a:off x="7164388" y="4473575"/>
            <a:ext cx="1165225" cy="127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CEFE374-DE62-490D-BBEA-8073D5ED7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1200" y="1519238"/>
            <a:ext cx="4559300" cy="2954337"/>
          </a:xfrm>
          <a:prstGeom prst="roundRect">
            <a:avLst>
              <a:gd name="adj" fmla="val 19245"/>
            </a:avLst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4110" name="Picture 25">
            <a:extLst>
              <a:ext uri="{FF2B5EF4-FFF2-40B4-BE49-F238E27FC236}">
                <a16:creationId xmlns:a16="http://schemas.microsoft.com/office/drawing/2014/main" id="{C1F3E378-D88E-4BA2-B818-ECEA35E8E8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70"/>
          <a:stretch>
            <a:fillRect/>
          </a:stretch>
        </p:blipFill>
        <p:spPr bwMode="auto">
          <a:xfrm>
            <a:off x="5014913" y="3978275"/>
            <a:ext cx="3841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1" name="Picture 26" descr="tango-wireless.png">
            <a:extLst>
              <a:ext uri="{FF2B5EF4-FFF2-40B4-BE49-F238E27FC236}">
                <a16:creationId xmlns:a16="http://schemas.microsoft.com/office/drawing/2014/main" id="{8C02FF8E-8EE0-4C47-B85F-707114C092C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088" y="3978275"/>
            <a:ext cx="490537" cy="490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2" name="Picture 28" descr="wifi_ap.png">
            <a:extLst>
              <a:ext uri="{FF2B5EF4-FFF2-40B4-BE49-F238E27FC236}">
                <a16:creationId xmlns:a16="http://schemas.microsoft.com/office/drawing/2014/main" id="{890F68DE-FCFD-4B53-8ED6-56BB566C944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938" y="5808663"/>
            <a:ext cx="5143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3" name="Picture 29" descr="tango-wireless.png">
            <a:extLst>
              <a:ext uri="{FF2B5EF4-FFF2-40B4-BE49-F238E27FC236}">
                <a16:creationId xmlns:a16="http://schemas.microsoft.com/office/drawing/2014/main" id="{1A702A5C-5214-4320-85E5-58B9D3E368F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463" y="3978275"/>
            <a:ext cx="490537" cy="490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4" name="Picture 30" descr="tango-wireless.png">
            <a:extLst>
              <a:ext uri="{FF2B5EF4-FFF2-40B4-BE49-F238E27FC236}">
                <a16:creationId xmlns:a16="http://schemas.microsoft.com/office/drawing/2014/main" id="{28ECED5D-FFB6-4EBA-84D3-33F671CF6D1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0" y="3978275"/>
            <a:ext cx="492125" cy="490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5" name="Picture 31" descr="tango-wireless.png">
            <a:extLst>
              <a:ext uri="{FF2B5EF4-FFF2-40B4-BE49-F238E27FC236}">
                <a16:creationId xmlns:a16="http://schemas.microsoft.com/office/drawing/2014/main" id="{ADB15D50-D6F7-47D3-AD6E-C4C06A0435C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25" y="1600200"/>
            <a:ext cx="490538" cy="490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6" name="Picture 32">
            <a:extLst>
              <a:ext uri="{FF2B5EF4-FFF2-40B4-BE49-F238E27FC236}">
                <a16:creationId xmlns:a16="http://schemas.microsoft.com/office/drawing/2014/main" id="{CF84B753-4DD8-4D7B-A33C-96C5F61954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70"/>
          <a:stretch>
            <a:fillRect/>
          </a:stretch>
        </p:blipFill>
        <p:spPr bwMode="auto">
          <a:xfrm>
            <a:off x="8342313" y="3978275"/>
            <a:ext cx="3841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Straight Connector 34">
            <a:extLst>
              <a:ext uri="{FF2B5EF4-FFF2-40B4-BE49-F238E27FC236}">
                <a16:creationId xmlns:a16="http://schemas.microsoft.com/office/drawing/2014/main" id="{46649F11-DCA3-41C6-BFBB-472DB6D556F7}"/>
              </a:ext>
            </a:extLst>
          </p:cNvPr>
          <p:cNvCxnSpPr>
            <a:cxnSpLocks noChangeShapeType="1"/>
            <a:endCxn id="4112" idx="0"/>
          </p:cNvCxnSpPr>
          <p:nvPr/>
        </p:nvCxnSpPr>
        <p:spPr bwMode="auto">
          <a:xfrm rot="5400000">
            <a:off x="4834731" y="5037932"/>
            <a:ext cx="1535113" cy="6350"/>
          </a:xfrm>
          <a:prstGeom prst="curvedConnector3">
            <a:avLst>
              <a:gd name="adj1" fmla="val 78944"/>
            </a:avLst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36">
            <a:extLst>
              <a:ext uri="{FF2B5EF4-FFF2-40B4-BE49-F238E27FC236}">
                <a16:creationId xmlns:a16="http://schemas.microsoft.com/office/drawing/2014/main" id="{CCB9A706-CF67-4E98-8CB6-6091A42B624E}"/>
              </a:ext>
            </a:extLst>
          </p:cNvPr>
          <p:cNvCxnSpPr>
            <a:cxnSpLocks noChangeShapeType="1"/>
            <a:endCxn id="4112" idx="0"/>
          </p:cNvCxnSpPr>
          <p:nvPr/>
        </p:nvCxnSpPr>
        <p:spPr bwMode="auto">
          <a:xfrm rot="10800000" flipV="1">
            <a:off x="5599113" y="4224338"/>
            <a:ext cx="1774825" cy="1584325"/>
          </a:xfrm>
          <a:prstGeom prst="curvedConnector2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41">
            <a:extLst>
              <a:ext uri="{FF2B5EF4-FFF2-40B4-BE49-F238E27FC236}">
                <a16:creationId xmlns:a16="http://schemas.microsoft.com/office/drawing/2014/main" id="{19095836-F15A-4C56-93F6-AAE5839A2507}"/>
              </a:ext>
            </a:extLst>
          </p:cNvPr>
          <p:cNvCxnSpPr>
            <a:cxnSpLocks noChangeShapeType="1"/>
            <a:endCxn id="4112" idx="0"/>
          </p:cNvCxnSpPr>
          <p:nvPr/>
        </p:nvCxnSpPr>
        <p:spPr bwMode="auto">
          <a:xfrm rot="10800000" flipV="1">
            <a:off x="5599113" y="3978275"/>
            <a:ext cx="3378200" cy="1830388"/>
          </a:xfrm>
          <a:prstGeom prst="curvedConnector2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Connector 44">
            <a:extLst>
              <a:ext uri="{FF2B5EF4-FFF2-40B4-BE49-F238E27FC236}">
                <a16:creationId xmlns:a16="http://schemas.microsoft.com/office/drawing/2014/main" id="{C973B160-CC65-40CF-8AB6-ED2B25DC9004}"/>
              </a:ext>
            </a:extLst>
          </p:cNvPr>
          <p:cNvCxnSpPr>
            <a:cxnSpLocks noChangeShapeType="1"/>
            <a:endCxn id="4112" idx="0"/>
          </p:cNvCxnSpPr>
          <p:nvPr/>
        </p:nvCxnSpPr>
        <p:spPr bwMode="auto">
          <a:xfrm rot="5400000">
            <a:off x="5012531" y="2478882"/>
            <a:ext cx="3916363" cy="2743200"/>
          </a:xfrm>
          <a:prstGeom prst="curvedConnector3">
            <a:avLst>
              <a:gd name="adj1" fmla="val 65500"/>
            </a:avLst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8C6F276D-BF40-4BA8-AE4B-A0B11775FD51}"/>
              </a:ext>
            </a:extLst>
          </p:cNvPr>
          <p:cNvCxnSpPr>
            <a:cxnSpLocks noChangeShapeType="1"/>
            <a:stCxn id="4124" idx="2"/>
            <a:endCxn id="4112" idx="0"/>
          </p:cNvCxnSpPr>
          <p:nvPr/>
        </p:nvCxnSpPr>
        <p:spPr bwMode="auto">
          <a:xfrm rot="5400000">
            <a:off x="3919538" y="3765550"/>
            <a:ext cx="3722688" cy="363537"/>
          </a:xfrm>
          <a:prstGeom prst="curvedConnector3">
            <a:avLst>
              <a:gd name="adj1" fmla="val 73944"/>
            </a:avLst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122" name="Picture 64" descr="dollar.png">
            <a:extLst>
              <a:ext uri="{FF2B5EF4-FFF2-40B4-BE49-F238E27FC236}">
                <a16:creationId xmlns:a16="http://schemas.microsoft.com/office/drawing/2014/main" id="{A22943B8-19A8-4BA1-A7D8-BAE3D610A73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225" y="4919663"/>
            <a:ext cx="49371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23" name="Picture 29" descr="iPhone4s.jpg">
            <a:extLst>
              <a:ext uri="{FF2B5EF4-FFF2-40B4-BE49-F238E27FC236}">
                <a16:creationId xmlns:a16="http://schemas.microsoft.com/office/drawing/2014/main" id="{EDAB5AC6-9DDE-4D75-8EDB-022A35215DD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2290763"/>
            <a:ext cx="1016000" cy="1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24" name="Picture 31" descr="tango-wireless.png">
            <a:extLst>
              <a:ext uri="{FF2B5EF4-FFF2-40B4-BE49-F238E27FC236}">
                <a16:creationId xmlns:a16="http://schemas.microsoft.com/office/drawing/2014/main" id="{E6591E35-90D1-4679-AF8E-2C24C61571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175" y="1595438"/>
            <a:ext cx="490538" cy="4905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5" name="TextBox 35">
            <a:extLst>
              <a:ext uri="{FF2B5EF4-FFF2-40B4-BE49-F238E27FC236}">
                <a16:creationId xmlns:a16="http://schemas.microsoft.com/office/drawing/2014/main" id="{6DE77A88-8583-4EF1-AB0D-41957BF5C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788" y="6362700"/>
            <a:ext cx="139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Organization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98E9171D-0A6C-48E1-8F95-C57B5FC6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Organization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52AF753A-D127-4B85-BC41-FF840470B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Quick Overview of Mobile Devices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Mobile Threats and Attacks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Countermeasures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DD243475-D234-48F0-8A46-F4EE23A2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Mobile Threats and Attacks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61C044D6-1CEF-4081-A69E-8D4A65EBC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736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000">
                <a:ea typeface="ＭＳ Ｐゴシック" panose="020B0600070205080204" pitchFamily="34" charset="-128"/>
              </a:rPr>
              <a:t>Mobile devices make attractive targets: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People store much personal info on them: email, calendars, contacts, pictures, etc.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Sensitive organizational info too…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Can fit in pockets, easily lost/stolen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Built-in billing system: SMS/MMS (mobile operator), in-app purchases (credit card), etc.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Many new devices have near field communications (NFC), used for contactless payments, etc.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Your device becomes your credit card</a:t>
            </a:r>
          </a:p>
          <a:p>
            <a:pPr lvl="1" eaLnBrk="1" hangingPunct="1">
              <a:lnSpc>
                <a:spcPct val="80000"/>
              </a:lnSpc>
              <a:buFont typeface="Lucida Grande" pitchFamily="-84" charset="0"/>
              <a:buChar char="–"/>
            </a:pPr>
            <a:r>
              <a:rPr lang="en-US" altLang="en-US" sz="2600">
                <a:ea typeface="ＭＳ Ｐゴシック" panose="020B0600070205080204" pitchFamily="34" charset="-128"/>
              </a:rPr>
              <a:t>Location privacy issues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000">
                <a:ea typeface="ＭＳ Ｐゴシック" panose="020B0600070205080204" pitchFamily="34" charset="-128"/>
              </a:rPr>
              <a:t>NFC-based billing system vulnerabilities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7FE9D489-3F11-4FB5-ADA4-68ADDCE2B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Mobile Device Loss/Theft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8B627D51-FD08-493A-BCA5-01E233177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000">
                <a:ea typeface="ＭＳ Ｐゴシック" panose="020B0600070205080204" pitchFamily="34" charset="-128"/>
              </a:rPr>
              <a:t>Many mobile devices lost, stolen each year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113 mobile phones lost/stolen every minute in the U.S. [15]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56% of us misplace our mobile phone or laptop each month [15]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Lookout Security found $2.5 billion worth of phones in 2011 via its Android app [16]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Symantec placed 50 “lost” smartphones throughout U.S. cities [17]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96% were accessed by finders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80% of finders tried to access “sensitive” data on phone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2200">
              <a:ea typeface="ＭＳ Ｐゴシック" panose="020B0600070205080204" pitchFamily="34" charset="-128"/>
            </a:endParaRPr>
          </a:p>
          <a:p>
            <a:pPr lvl="2" eaLnBrk="1" hangingPunct="1">
              <a:lnSpc>
                <a:spcPct val="90000"/>
              </a:lnSpc>
            </a:pPr>
            <a:endParaRPr lang="en-US" altLang="en-US" sz="22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4">
            <a:extLst>
              <a:ext uri="{FF2B5EF4-FFF2-40B4-BE49-F238E27FC236}">
                <a16:creationId xmlns:a16="http://schemas.microsoft.com/office/drawing/2014/main" id="{B6BB8FB3-8456-4312-9534-2968A6247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Device Malware</a:t>
            </a:r>
          </a:p>
        </p:txBody>
      </p:sp>
      <p:sp>
        <p:nvSpPr>
          <p:cNvPr id="8195" name="Content Placeholder 5">
            <a:extLst>
              <a:ext uri="{FF2B5EF4-FFF2-40B4-BE49-F238E27FC236}">
                <a16:creationId xmlns:a16="http://schemas.microsoft.com/office/drawing/2014/main" id="{EBDDEBF7-3782-4631-A7FF-5409D6BFE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17587"/>
            <a:ext cx="8229600" cy="4822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000" dirty="0">
                <a:ea typeface="ＭＳ Ｐゴシック" panose="020B0600070205080204" pitchFamily="34" charset="-128"/>
              </a:rPr>
              <a:t>iOS malware: very little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>
                <a:ea typeface="ＭＳ Ｐゴシック" panose="020B0600070205080204" pitchFamily="34" charset="-128"/>
              </a:rPr>
              <a:t>Juniper Networks: Major increase in Android malware from 2010 to 2011 [18]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>
                <a:ea typeface="ＭＳ Ｐゴシック" panose="020B0600070205080204" pitchFamily="34" charset="-128"/>
              </a:rPr>
              <a:t>Android malware growth keeps increasing ($$$)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>
                <a:ea typeface="ＭＳ Ｐゴシック" panose="020B0600070205080204" pitchFamily="34" charset="-128"/>
              </a:rPr>
              <a:t>Main categories: [19]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dirty="0">
                <a:ea typeface="ＭＳ Ｐゴシック" panose="020B0600070205080204" pitchFamily="34" charset="-128"/>
              </a:rPr>
              <a:t>Trojans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dirty="0">
                <a:ea typeface="ＭＳ Ｐゴシック" panose="020B0600070205080204" pitchFamily="34" charset="-128"/>
              </a:rPr>
              <a:t>Monitoring apps/spyware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dirty="0">
                <a:ea typeface="ＭＳ Ｐゴシック" panose="020B0600070205080204" pitchFamily="34" charset="-128"/>
              </a:rPr>
              <a:t>Adware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dirty="0">
                <a:ea typeface="ＭＳ Ｐゴシック" panose="020B0600070205080204" pitchFamily="34" charset="-128"/>
              </a:rPr>
              <a:t>Botnets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>
                <a:ea typeface="ＭＳ Ｐゴシック" panose="020B0600070205080204" pitchFamily="34" charset="-128"/>
              </a:rPr>
              <a:t>We’ll look at notable malware examples</a:t>
            </a:r>
          </a:p>
          <a:p>
            <a:pPr eaLnBrk="1" hangingPunct="1">
              <a:lnSpc>
                <a:spcPct val="90000"/>
              </a:lnSpc>
            </a:pPr>
            <a:endParaRPr lang="en-US" altLang="en-US" sz="30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5F348B5A-3406-4EAF-9276-4ACD582CB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Device Search and Seizure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CC437D8-3173-4EFE-BC00-F8C2AAAB7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425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US" altLang="en-US" i="1">
                <a:ea typeface="ＭＳ Ｐゴシック" panose="020B0600070205080204" pitchFamily="34" charset="-128"/>
              </a:rPr>
              <a:t>People v. Diaz</a:t>
            </a:r>
            <a:r>
              <a:rPr lang="en-US" altLang="en-US">
                <a:ea typeface="ＭＳ Ｐゴシック" panose="020B0600070205080204" pitchFamily="34" charset="-128"/>
              </a:rPr>
              <a:t>: if you’re arrested, police can search your mobile device without warrant [26]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Rationale: prevent perpetrators destroying evidence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Quite easy to break the law (overcriminalization) [27]</a:t>
            </a:r>
          </a:p>
          <a:p>
            <a:pPr lvl="2" eaLnBrk="1" hangingPunct="1"/>
            <a:r>
              <a:rPr lang="en-US" altLang="en-US">
                <a:ea typeface="ＭＳ Ｐゴシック" panose="020B0600070205080204" pitchFamily="34" charset="-128"/>
              </a:rPr>
              <a:t>Crime severity: murder, treason, etc. vs. unpaid citations</a:t>
            </a:r>
          </a:p>
          <a:p>
            <a:pPr lvl="2" eaLnBrk="1" hangingPunct="1"/>
            <a:r>
              <a:rPr lang="en-US" altLang="en-US">
                <a:ea typeface="ＭＳ Ｐゴシック" panose="020B0600070205080204" pitchFamily="34" charset="-128"/>
              </a:rPr>
              <a:t>“Tens of thousands” of offenses on the books [26]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Easy for law enforcement to extract data from </a:t>
            </a:r>
            <a:br>
              <a:rPr lang="en-US" altLang="en-US">
                <a:ea typeface="ＭＳ Ｐゴシック" panose="020B0600070205080204" pitchFamily="34" charset="-128"/>
              </a:rPr>
            </a:br>
            <a:r>
              <a:rPr lang="en-US" altLang="en-US">
                <a:ea typeface="ＭＳ Ｐゴシック" panose="020B0600070205080204" pitchFamily="34" charset="-128"/>
              </a:rPr>
              <a:t>mobile devices (forensics) [28]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CD7FE058-5332-478D-9E76-B2E350597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Location Disclosure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8F6CA7D6-058F-498F-A143-07108E498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425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MAC, Bluetooth Addresses, IMEI, IMSI etc. are globally unique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Infrastructure based mobile communication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Peer-t-Peer ad hoc mobile communication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58A813E-6E6B-4A91-A4AC-6AF48644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Organization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14B5D0EF-15D5-46E5-8C2C-7EA0C8E0B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Quick Overview of Mobile Devices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Mobile Threats and Attacks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Countermeasures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52A37346-2926-466B-B0A0-30541DF85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Mobile Access Control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26EEEC64-F97F-47FF-8543-7140B4B83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3000">
                <a:ea typeface="ＭＳ Ｐゴシック" panose="020B0600070205080204" pitchFamily="34" charset="-128"/>
              </a:rPr>
              <a:t>Very easy for attacker to control a mobile device if he/she has physical access</a:t>
            </a:r>
          </a:p>
          <a:p>
            <a:pPr lvl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Especially if there’s no way to authenticate user</a:t>
            </a:r>
          </a:p>
          <a:p>
            <a:pPr lvl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Then device can join botnet, send SMS spam, etc.</a:t>
            </a:r>
          </a:p>
          <a:p>
            <a:pPr>
              <a:lnSpc>
                <a:spcPct val="80000"/>
              </a:lnSpc>
            </a:pPr>
            <a:r>
              <a:rPr lang="en-US" altLang="en-US" sz="3000">
                <a:ea typeface="ＭＳ Ｐゴシック" panose="020B0600070205080204" pitchFamily="34" charset="-128"/>
              </a:rPr>
              <a:t>Need access controls for mobile devices</a:t>
            </a:r>
          </a:p>
          <a:p>
            <a:pPr lvl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Authentication, authorization, accountability</a:t>
            </a:r>
          </a:p>
          <a:p>
            <a:pPr lvl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Authentication workflow:</a:t>
            </a:r>
          </a:p>
          <a:p>
            <a:pPr lvl="2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Request access</a:t>
            </a:r>
          </a:p>
          <a:p>
            <a:pPr lvl="2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Supplication (user provides identity, e.g., John Smith)</a:t>
            </a:r>
          </a:p>
          <a:p>
            <a:pPr lvl="2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Authentication (system determines user is John)</a:t>
            </a:r>
          </a:p>
          <a:p>
            <a:pPr lvl="2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Authorization (system determines what John can/cannot do)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B59FD82F-096B-4E38-9F46-AED23A565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Authentication: Categories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D5185558-34AF-4DA1-8FF9-DE0478634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000">
                <a:ea typeface="ＭＳ Ｐゴシック" panose="020B0600070205080204" pitchFamily="34" charset="-128"/>
              </a:rPr>
              <a:t>Authentication generally based on:</a:t>
            </a:r>
          </a:p>
          <a:p>
            <a:pPr lvl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Something supplicant knows</a:t>
            </a:r>
          </a:p>
          <a:p>
            <a:pPr lvl="2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Password/passphrase</a:t>
            </a:r>
          </a:p>
          <a:p>
            <a:pPr lvl="2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Unlock pattern</a:t>
            </a:r>
          </a:p>
          <a:p>
            <a:pPr lvl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Something supplicant has</a:t>
            </a:r>
          </a:p>
          <a:p>
            <a:pPr lvl="2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Magnetic key card</a:t>
            </a:r>
          </a:p>
          <a:p>
            <a:pPr lvl="2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Smart card</a:t>
            </a:r>
          </a:p>
          <a:p>
            <a:pPr lvl="2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Token device</a:t>
            </a:r>
          </a:p>
          <a:p>
            <a:pPr lvl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Something supplicant is</a:t>
            </a:r>
          </a:p>
          <a:p>
            <a:pPr lvl="2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Fingerprint</a:t>
            </a:r>
          </a:p>
          <a:p>
            <a:pPr lvl="2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Retina scan</a:t>
            </a:r>
          </a:p>
          <a:p>
            <a:pPr lvl="1">
              <a:lnSpc>
                <a:spcPct val="90000"/>
              </a:lnSpc>
            </a:pPr>
            <a:endParaRPr lang="en-US" altLang="en-US" sz="260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endParaRPr lang="en-US" altLang="en-US" sz="3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3B9771AD-B37A-4900-A9EC-D40E9883A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Authentication: Passwords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839D2694-A96F-4EB4-8981-E659AF8A5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5981"/>
            <a:ext cx="8229600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000" dirty="0">
                <a:ea typeface="ＭＳ Ｐゴシック" panose="020B0600070205080204" pitchFamily="34" charset="-128"/>
              </a:rPr>
              <a:t>Cheapest, easiest form of authentication</a:t>
            </a:r>
          </a:p>
          <a:p>
            <a:pPr>
              <a:lnSpc>
                <a:spcPct val="90000"/>
              </a:lnSpc>
            </a:pPr>
            <a:r>
              <a:rPr lang="en-US" altLang="en-US" sz="3000" dirty="0">
                <a:ea typeface="ＭＳ Ｐゴシック" panose="020B0600070205080204" pitchFamily="34" charset="-128"/>
              </a:rPr>
              <a:t>Works well with most applications</a:t>
            </a:r>
          </a:p>
          <a:p>
            <a:pPr>
              <a:lnSpc>
                <a:spcPct val="90000"/>
              </a:lnSpc>
            </a:pPr>
            <a:r>
              <a:rPr lang="en-US" altLang="en-US" sz="3000" dirty="0">
                <a:ea typeface="ＭＳ Ｐゴシック" panose="020B0600070205080204" pitchFamily="34" charset="-128"/>
              </a:rPr>
              <a:t>Also the weakest form of access control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>
                <a:ea typeface="ＭＳ Ｐゴシック" panose="020B0600070205080204" pitchFamily="34" charset="-128"/>
              </a:rPr>
              <a:t>Lazy users’ passwords: 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1234</a:t>
            </a:r>
            <a:r>
              <a:rPr lang="en-US" altLang="en-US" sz="2600" dirty="0">
                <a:ea typeface="ＭＳ Ｐゴシック" panose="020B0600070205080204" pitchFamily="34" charset="-128"/>
              </a:rPr>
              <a:t>, 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password</a:t>
            </a:r>
            <a:r>
              <a:rPr lang="en-US" altLang="en-US" sz="2600" dirty="0">
                <a:ea typeface="ＭＳ Ｐゴシック" panose="020B0600070205080204" pitchFamily="34" charset="-128"/>
              </a:rPr>
              <a:t>, </a:t>
            </a:r>
            <a:r>
              <a:rPr lang="en-US" altLang="en-US" sz="2600" i="1" dirty="0" err="1">
                <a:ea typeface="ＭＳ Ｐゴシック" panose="020B0600070205080204" pitchFamily="34" charset="-128"/>
              </a:rPr>
              <a:t>letmein</a:t>
            </a:r>
            <a:r>
              <a:rPr lang="en-US" altLang="en-US" sz="2600" dirty="0">
                <a:ea typeface="ＭＳ Ｐゴシック" panose="020B0600070205080204" pitchFamily="34" charset="-128"/>
              </a:rPr>
              <a:t>, etc. 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>
                <a:ea typeface="ＭＳ Ｐゴシック" panose="020B0600070205080204" pitchFamily="34" charset="-128"/>
              </a:rPr>
              <a:t>Can be defeated using dictionary, brute force attacks</a:t>
            </a:r>
          </a:p>
          <a:p>
            <a:pPr>
              <a:lnSpc>
                <a:spcPct val="90000"/>
              </a:lnSpc>
            </a:pPr>
            <a:r>
              <a:rPr lang="en-US" altLang="en-US" sz="3000" dirty="0">
                <a:ea typeface="ＭＳ Ｐゴシック" panose="020B0600070205080204" pitchFamily="34" charset="-128"/>
              </a:rPr>
              <a:t>Requires administrative controls to be effective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>
                <a:ea typeface="ＭＳ Ｐゴシック" panose="020B0600070205080204" pitchFamily="34" charset="-128"/>
              </a:rPr>
              <a:t>Minimum length/complexity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>
                <a:ea typeface="ＭＳ Ｐゴシック" panose="020B0600070205080204" pitchFamily="34" charset="-128"/>
              </a:rPr>
              <a:t>Password aging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>
                <a:ea typeface="ＭＳ Ｐゴシック" panose="020B0600070205080204" pitchFamily="34" charset="-128"/>
              </a:rPr>
              <a:t>Limit failed attempts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5B90-08E8-4DE1-B0EB-A7F751150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29407"/>
            <a:ext cx="8229600" cy="5762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dirty="0"/>
              <a:t>Authentication: Smart Cards/</a:t>
            </a:r>
            <a:br>
              <a:rPr lang="en-US" sz="4000" dirty="0"/>
            </a:br>
            <a:r>
              <a:rPr lang="en-US" sz="4000" dirty="0"/>
              <a:t>Security Tokens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BCAA23F9-33EB-4A04-A803-FF7383144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862881"/>
            <a:ext cx="8229600" cy="4530725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More expensive, harder to implement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Vulnerability: prone to loss or theft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Very strong when combined with another form of authentication, e.g., a password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Does not work well in all applications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Try carrying a smart card in addition to a mobile device!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547E7966-1FB7-48DB-A066-B734A9CC8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Authentication: Biometrics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E147A08A-A145-4029-BD11-81E75C58F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More expensive/harder to implement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Prone to error: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False negatives: not authenticate authorized user 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False positives: authenticate unauthorized user 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Strong authentication when it works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Does not work well in all applications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Fingerprint readers becoming more common on mobile devices (Atrix 4G)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6C35528B-2630-48F7-BADD-DD0A9C0DD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Authentication: Pattern Lock</a:t>
            </a:r>
          </a:p>
        </p:txBody>
      </p:sp>
      <p:sp>
        <p:nvSpPr>
          <p:cNvPr id="17411" name="Content Placeholder 3">
            <a:extLst>
              <a:ext uri="{FF2B5EF4-FFF2-40B4-BE49-F238E27FC236}">
                <a16:creationId xmlns:a16="http://schemas.microsoft.com/office/drawing/2014/main" id="{CD45CBB8-F480-449C-A74B-A036794B57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sz="2600">
                <a:ea typeface="ＭＳ Ｐゴシック" panose="020B0600070205080204" pitchFamily="34" charset="-128"/>
              </a:rPr>
              <a:t>Swipe path of length </a:t>
            </a:r>
            <a:br>
              <a:rPr lang="en-US" altLang="en-US" sz="2600">
                <a:ea typeface="ＭＳ Ｐゴシック" panose="020B0600070205080204" pitchFamily="34" charset="-128"/>
              </a:rPr>
            </a:br>
            <a:r>
              <a:rPr lang="en-US" altLang="en-US" sz="2600">
                <a:ea typeface="ＭＳ Ｐゴシック" panose="020B0600070205080204" pitchFamily="34" charset="-128"/>
              </a:rPr>
              <a:t>4–9 on 3 x 3 grid</a:t>
            </a:r>
          </a:p>
          <a:p>
            <a:r>
              <a:rPr lang="en-US" altLang="en-US" sz="2600">
                <a:ea typeface="ＭＳ Ｐゴシック" panose="020B0600070205080204" pitchFamily="34" charset="-128"/>
              </a:rPr>
              <a:t>Easy to use, suitable for mobile devices</a:t>
            </a:r>
          </a:p>
          <a:p>
            <a:r>
              <a:rPr lang="en-US" altLang="en-US" sz="2600">
                <a:ea typeface="ＭＳ Ｐゴシック" panose="020B0600070205080204" pitchFamily="34" charset="-128"/>
              </a:rPr>
              <a:t>Problems: [30]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389,112 possible patterns; (456,976 possible patterns for 4-char case-insensitive alphabetic password!)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Attacker can see pattern from finger oils on screen</a:t>
            </a:r>
          </a:p>
        </p:txBody>
      </p:sp>
      <p:pic>
        <p:nvPicPr>
          <p:cNvPr id="17412" name="Picture 2">
            <a:extLst>
              <a:ext uri="{FF2B5EF4-FFF2-40B4-BE49-F238E27FC236}">
                <a16:creationId xmlns:a16="http://schemas.microsoft.com/office/drawing/2014/main" id="{B16281F6-B101-4626-864F-E04D1263CFC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89" b="12589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18F01F0F-A06C-41CE-8683-DD7F88D0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Authentication: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9B93FF-BD5F-41B0-94A7-F25A38BAFC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1200" y="2120900"/>
          <a:ext cx="7848600" cy="185737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Passwords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Smart Cards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Biometrics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Pattern Lock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Security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Weak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Strong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Strong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Weak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Ease of 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Easy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Medium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Hard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Easy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Implementation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Easy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Hard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Hard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Easy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Works for phones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ＭＳ Ｐゴシック" pitchFamily="34" charset="-128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473" name="TextBox 2">
            <a:extLst>
              <a:ext uri="{FF2B5EF4-FFF2-40B4-BE49-F238E27FC236}">
                <a16:creationId xmlns:a16="http://schemas.microsoft.com/office/drawing/2014/main" id="{F5B3F2E1-90C5-41E1-A764-D2C219782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4241800"/>
            <a:ext cx="80994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– Deeper problem: mobile devices are designed with single-user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assumption…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6A7F1A5D-D6F5-47C6-91BD-F58F18D92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DiffUser (1)</a:t>
            </a:r>
          </a:p>
        </p:txBody>
      </p:sp>
      <p:sp>
        <p:nvSpPr>
          <p:cNvPr id="19459" name="Content Placeholder 4">
            <a:extLst>
              <a:ext uri="{FF2B5EF4-FFF2-40B4-BE49-F238E27FC236}">
                <a16:creationId xmlns:a16="http://schemas.microsoft.com/office/drawing/2014/main" id="{77DA6DC2-3206-4EF1-B6F2-5417E1598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48759" y="857072"/>
            <a:ext cx="4366759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Current smartphone access control focus: 1 user (admin)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Hard to achieve </a:t>
            </a:r>
            <a:r>
              <a:rPr lang="en-US" altLang="en-US" sz="2400" i="1" dirty="0">
                <a:ea typeface="ＭＳ Ｐゴシック" panose="020B0600070205080204" pitchFamily="34" charset="-128"/>
              </a:rPr>
              <a:t>fine-grained</a:t>
            </a:r>
            <a:r>
              <a:rPr lang="en-US" altLang="en-US" sz="2400" dirty="0">
                <a:ea typeface="ＭＳ Ｐゴシック" panose="020B0600070205080204" pitchFamily="34" charset="-128"/>
              </a:rPr>
              <a:t> mobile device management: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Control app installation/gaming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Parental controls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Lend phone to friend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We design 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DiffUser</a:t>
            </a:r>
            <a:r>
              <a:rPr lang="en-US" altLang="en-US" sz="2400" dirty="0">
                <a:ea typeface="ＭＳ Ｐゴシック" panose="020B0600070205080204" pitchFamily="34" charset="-128"/>
              </a:rPr>
              <a:t>, differentiated user access control model [31]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Different users use smartphone in different contexts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User classification: admin, “normal,” guest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5E9A9F0-5417-4396-8080-532077DEAE8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318000" y="1854200"/>
          <a:ext cx="4751388" cy="43476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8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6152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Smartphone Privileges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1259" marR="101259" marT="50630" marB="506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Admin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Normal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Guest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177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Personal Info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SMS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✔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✘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177">
                <a:tc v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Contacts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✔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✘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177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Resource</a:t>
                      </a:r>
                      <a:r>
                        <a:rPr lang="en-US" sz="2000" baseline="0" dirty="0"/>
                        <a:t> Access</a:t>
                      </a:r>
                      <a:endParaRPr lang="en-US" sz="2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WiFi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✔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Limit‼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177">
                <a:tc v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GPS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✔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Limit‼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177">
                <a:tc v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Bluetooth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✔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Limit‼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Apps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App Install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✔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Limit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✘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Sensitive Apps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✔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Limit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✘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511" name="TextBox 7">
            <a:extLst>
              <a:ext uri="{FF2B5EF4-FFF2-40B4-BE49-F238E27FC236}">
                <a16:creationId xmlns:a16="http://schemas.microsoft.com/office/drawing/2014/main" id="{966A3B91-1C22-48AC-A994-FDA85CB9A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0400" y="6110288"/>
            <a:ext cx="2206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Source:</a:t>
            </a:r>
            <a:r>
              <a:rPr lang="en-US" altLang="en-US" sz="1800"/>
              <a:t> [31], Table 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44CFF6D-7A35-468D-9E1B-A2CD42691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DiffUser (2)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D53BF9DE-EC21-49C2-9A62-F1BA547E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089900" cy="32639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Implement our system on Android using Java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Override Android’s “Home” Activity for multi-user authentication, profile configuration</a:t>
            </a:r>
          </a:p>
        </p:txBody>
      </p:sp>
      <p:pic>
        <p:nvPicPr>
          <p:cNvPr id="20484" name="Picture 4">
            <a:extLst>
              <a:ext uri="{FF2B5EF4-FFF2-40B4-BE49-F238E27FC236}">
                <a16:creationId xmlns:a16="http://schemas.microsoft.com/office/drawing/2014/main" id="{DCE76190-5975-45F8-9359-14831F02D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64"/>
          <a:stretch>
            <a:fillRect/>
          </a:stretch>
        </p:blipFill>
        <p:spPr bwMode="auto">
          <a:xfrm>
            <a:off x="1549400" y="3213100"/>
            <a:ext cx="4059238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>
            <a:extLst>
              <a:ext uri="{FF2B5EF4-FFF2-40B4-BE49-F238E27FC236}">
                <a16:creationId xmlns:a16="http://schemas.microsoft.com/office/drawing/2014/main" id="{9FAC92FD-72D1-41F8-A9D9-17C8A261E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87"/>
          <a:stretch>
            <a:fillRect/>
          </a:stretch>
        </p:blipFill>
        <p:spPr bwMode="auto">
          <a:xfrm>
            <a:off x="5613400" y="3289300"/>
            <a:ext cx="19685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Box 6">
            <a:extLst>
              <a:ext uri="{FF2B5EF4-FFF2-40B4-BE49-F238E27FC236}">
                <a16:creationId xmlns:a16="http://schemas.microsoft.com/office/drawing/2014/main" id="{03A3B7F6-D5B3-472D-ADD1-9E7179C42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963" y="6159500"/>
            <a:ext cx="6070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Source: [31], Figure 2. From left to right: “normal” user screen;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user login and authentication; user profile configuration.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A915B-84E6-474A-AE61-E6EEF3A1B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Mobile Device Information Leakage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EF90675B-5C64-45DC-A27A-B2E32C55F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854075"/>
            <a:ext cx="8851900" cy="5067300"/>
          </a:xfrm>
        </p:spPr>
        <p:txBody>
          <a:bodyPr/>
          <a:lstStyle/>
          <a:p>
            <a:r>
              <a:rPr lang="en-US" altLang="en-US" sz="2400" dirty="0">
                <a:ea typeface="ＭＳ Ｐゴシック" panose="020B0600070205080204" pitchFamily="34" charset="-128"/>
              </a:rPr>
              <a:t>Types of mobile device information sources: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Internal to device (e.g., GPS location, IMEI, etc.)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External sources (e.g., CNN, Chase Bank, etc.)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Third-party mobile apps can leak info to external sources [32]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Send out device ID (IMEI/EID), contacts, location, etc.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Apps ask permission to access such info; users can ignore!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Apps can intercept info sent to a source, send to different destination!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Motives: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Monitor employees’ activity using accelerometers (cited in [32])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Ads, market research (include user location, behavior, etc.)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Malice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How do we protect against such information leakage?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DE4EBC79-C09C-461D-AA97-79C5E08E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Information Flow Tracking (IFT)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16583743-8137-4946-B830-9DCC3D136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200" y="1163637"/>
            <a:ext cx="4038600" cy="45307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 err="1">
                <a:ea typeface="ＭＳ Ｐゴシック" panose="020B0600070205080204" pitchFamily="34" charset="-128"/>
              </a:rPr>
              <a:t>IFT</a:t>
            </a:r>
            <a:r>
              <a:rPr lang="en-US" altLang="en-US" sz="2400" dirty="0">
                <a:ea typeface="ＭＳ Ｐゴシック" panose="020B0600070205080204" pitchFamily="34" charset="-128"/>
              </a:rPr>
              <a:t> tracks each information flow among internal, external sources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Each flow is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tagged</a:t>
            </a:r>
            <a:r>
              <a:rPr lang="en-US" altLang="en-US" sz="2000" dirty="0">
                <a:ea typeface="ＭＳ Ｐゴシック" panose="020B0600070205080204" pitchFamily="34" charset="-128"/>
              </a:rPr>
              <a:t>, e.g., “untrusted”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Tag propagated as information flows among internal, external sources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Sound alarm if data sent to third party</a:t>
            </a:r>
          </a:p>
          <a:p>
            <a:pPr>
              <a:lnSpc>
                <a:spcPct val="8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Challenges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Reasonable runtime, space overhead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Many information sources</a:t>
            </a:r>
          </a:p>
        </p:txBody>
      </p:sp>
      <p:pic>
        <p:nvPicPr>
          <p:cNvPr id="22532" name="Content Placeholder 4" descr="Leakage.png">
            <a:extLst>
              <a:ext uri="{FF2B5EF4-FFF2-40B4-BE49-F238E27FC236}">
                <a16:creationId xmlns:a16="http://schemas.microsoft.com/office/drawing/2014/main" id="{ACB5E8DA-004B-40D8-8B0E-951C373B00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6" b="-359"/>
          <a:stretch>
            <a:fillRect/>
          </a:stretch>
        </p:blipFill>
        <p:spPr>
          <a:xfrm>
            <a:off x="4648200" y="2590800"/>
            <a:ext cx="4038600" cy="2540000"/>
          </a:xfrm>
        </p:spPr>
      </p:pic>
      <p:sp>
        <p:nvSpPr>
          <p:cNvPr id="22533" name="TextBox 5">
            <a:extLst>
              <a:ext uri="{FF2B5EF4-FFF2-40B4-BE49-F238E27FC236}">
                <a16:creationId xmlns:a16="http://schemas.microsoft.com/office/drawing/2014/main" id="{9362961A-CD07-4C6F-8E00-27BF6D444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300" y="6178550"/>
            <a:ext cx="3844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Information leakage on mobile devices</a:t>
            </a:r>
          </a:p>
        </p:txBody>
      </p:sp>
      <p:sp>
        <p:nvSpPr>
          <p:cNvPr id="22534" name="TextBox 8">
            <a:extLst>
              <a:ext uri="{FF2B5EF4-FFF2-40B4-BE49-F238E27FC236}">
                <a16:creationId xmlns:a16="http://schemas.microsoft.com/office/drawing/2014/main" id="{D7435F87-5184-4BAD-BA28-26E0501F5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0900" y="2406650"/>
            <a:ext cx="1009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“trusted”</a:t>
            </a:r>
          </a:p>
        </p:txBody>
      </p:sp>
      <p:sp>
        <p:nvSpPr>
          <p:cNvPr id="22535" name="TextBox 10">
            <a:extLst>
              <a:ext uri="{FF2B5EF4-FFF2-40B4-BE49-F238E27FC236}">
                <a16:creationId xmlns:a16="http://schemas.microsoft.com/office/drawing/2014/main" id="{E16C62FC-FF83-4DEB-852A-087D29105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5429250"/>
            <a:ext cx="1241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“untrusted”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B5BAB9-E96C-4A89-AEA5-87C84546A941}"/>
              </a:ext>
            </a:extLst>
          </p:cNvPr>
          <p:cNvCxnSpPr>
            <a:cxnSpLocks noChangeShapeType="1"/>
            <a:stCxn id="22534" idx="2"/>
          </p:cNvCxnSpPr>
          <p:nvPr/>
        </p:nvCxnSpPr>
        <p:spPr bwMode="auto">
          <a:xfrm>
            <a:off x="5165725" y="2774950"/>
            <a:ext cx="1527175" cy="79375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E983B9-B6BF-4FF3-AF18-2FF80AB29FC4}"/>
              </a:ext>
            </a:extLst>
          </p:cNvPr>
          <p:cNvCxnSpPr>
            <a:cxnSpLocks noChangeShapeType="1"/>
            <a:stCxn id="22534" idx="2"/>
          </p:cNvCxnSpPr>
          <p:nvPr/>
        </p:nvCxnSpPr>
        <p:spPr bwMode="auto">
          <a:xfrm>
            <a:off x="5165725" y="2774950"/>
            <a:ext cx="803275" cy="112395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A61E07-BAAD-4528-B189-AEDBCB0CC8A2}"/>
              </a:ext>
            </a:extLst>
          </p:cNvPr>
          <p:cNvCxnSpPr>
            <a:cxnSpLocks noChangeShapeType="1"/>
            <a:stCxn id="22535" idx="0"/>
          </p:cNvCxnSpPr>
          <p:nvPr/>
        </p:nvCxnSpPr>
        <p:spPr bwMode="auto">
          <a:xfrm flipV="1">
            <a:off x="5978525" y="4406900"/>
            <a:ext cx="104775" cy="102235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8ACF40-9186-4D9F-8D1A-A3319A8A8846}"/>
              </a:ext>
            </a:extLst>
          </p:cNvPr>
          <p:cNvCxnSpPr>
            <a:cxnSpLocks noChangeShapeType="1"/>
            <a:stCxn id="22535" idx="0"/>
          </p:cNvCxnSpPr>
          <p:nvPr/>
        </p:nvCxnSpPr>
        <p:spPr bwMode="auto">
          <a:xfrm flipV="1">
            <a:off x="5978525" y="4102100"/>
            <a:ext cx="828675" cy="132715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E01D3B6-FDAF-462A-BA26-DFDA4BC57483}"/>
              </a:ext>
            </a:extLst>
          </p:cNvPr>
          <p:cNvCxnSpPr>
            <a:cxnSpLocks noChangeShapeType="1"/>
            <a:stCxn id="22535" idx="0"/>
          </p:cNvCxnSpPr>
          <p:nvPr/>
        </p:nvCxnSpPr>
        <p:spPr bwMode="auto">
          <a:xfrm flipV="1">
            <a:off x="5978525" y="4508500"/>
            <a:ext cx="1120775" cy="92075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0886499C-8C9A-46A2-82C1-9B8D0E89E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TaintDroid 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01A60439-14C8-47E4-8070-BE83542CF2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912503"/>
            <a:ext cx="4688443" cy="4902200"/>
          </a:xfrm>
        </p:spPr>
        <p:txBody>
          <a:bodyPr/>
          <a:lstStyle/>
          <a:p>
            <a:r>
              <a:rPr lang="en-US" altLang="en-US" sz="2600" dirty="0" err="1">
                <a:ea typeface="ＭＳ Ｐゴシック" panose="020B0600070205080204" pitchFamily="34" charset="-128"/>
              </a:rPr>
              <a:t>Enck</a:t>
            </a:r>
            <a:r>
              <a:rPr lang="en-US" altLang="en-US" sz="2600" dirty="0">
                <a:ea typeface="ＭＳ Ｐゴシック" panose="020B0600070205080204" pitchFamily="34" charset="-128"/>
              </a:rPr>
              <a:t> et al., </a:t>
            </a:r>
            <a:r>
              <a:rPr lang="en-US" altLang="en-US" sz="2600" dirty="0" err="1">
                <a:ea typeface="ＭＳ Ｐゴシック" panose="020B0600070205080204" pitchFamily="34" charset="-128"/>
              </a:rPr>
              <a:t>OSDI</a:t>
            </a:r>
            <a:r>
              <a:rPr lang="en-US" altLang="en-US" sz="2600" dirty="0">
                <a:ea typeface="ＭＳ Ｐゴシック" panose="020B0600070205080204" pitchFamily="34" charset="-128"/>
              </a:rPr>
              <a:t> 2010 [32]</a:t>
            </a:r>
          </a:p>
          <a:p>
            <a:r>
              <a:rPr lang="en-US" altLang="en-US" sz="2600" dirty="0" err="1">
                <a:ea typeface="ＭＳ Ｐゴシック" panose="020B0600070205080204" pitchFamily="34" charset="-128"/>
              </a:rPr>
              <a:t>IFT</a:t>
            </a:r>
            <a:r>
              <a:rPr lang="en-US" altLang="en-US" sz="2600" dirty="0">
                <a:ea typeface="ＭＳ Ｐゴシック" panose="020B0600070205080204" pitchFamily="34" charset="-128"/>
              </a:rPr>
              <a:t> system on Android 2.1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System firmware (</a:t>
            </a:r>
            <a:r>
              <a:rPr lang="en-US" altLang="en-US" sz="2200" i="1" dirty="0">
                <a:ea typeface="ＭＳ Ｐゴシック" panose="020B0600070205080204" pitchFamily="34" charset="-128"/>
              </a:rPr>
              <a:t>not </a:t>
            </a:r>
            <a:r>
              <a:rPr lang="en-US" altLang="en-US" sz="2200" dirty="0">
                <a:ea typeface="ＭＳ Ｐゴシック" panose="020B0600070205080204" pitchFamily="34" charset="-128"/>
              </a:rPr>
              <a:t>app)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Modifies Android’s Dalvik 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VM</a:t>
            </a:r>
            <a:r>
              <a:rPr lang="en-US" altLang="en-US" sz="2200" dirty="0">
                <a:ea typeface="ＭＳ Ｐゴシック" panose="020B0600070205080204" pitchFamily="34" charset="-128"/>
              </a:rPr>
              <a:t>, tracks info flows across methods, classes, files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Tracks the following info: </a:t>
            </a:r>
          </a:p>
          <a:p>
            <a:pPr lvl="2"/>
            <a:r>
              <a:rPr lang="en-US" altLang="en-US" sz="1900" dirty="0">
                <a:ea typeface="ＭＳ Ｐゴシック" panose="020B0600070205080204" pitchFamily="34" charset="-128"/>
              </a:rPr>
              <a:t>Sensors: GPS, camera, accelerometer, microphone</a:t>
            </a:r>
          </a:p>
          <a:p>
            <a:pPr lvl="2"/>
            <a:r>
              <a:rPr lang="en-US" altLang="en-US" sz="1900" dirty="0">
                <a:ea typeface="ＭＳ Ｐゴシック" panose="020B0600070205080204" pitchFamily="34" charset="-128"/>
              </a:rPr>
              <a:t>Internal info: contacts, phone #, IMEI, IMSI, Google acct</a:t>
            </a:r>
          </a:p>
          <a:p>
            <a:pPr lvl="2"/>
            <a:r>
              <a:rPr lang="en-US" altLang="en-US" sz="1900" dirty="0">
                <a:ea typeface="ＭＳ Ｐゴシック" panose="020B0600070205080204" pitchFamily="34" charset="-128"/>
              </a:rPr>
              <a:t>External info: network, SMS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Notifies user of info leakage</a:t>
            </a:r>
          </a:p>
          <a:p>
            <a:endParaRPr lang="en-US" altLang="en-US" sz="2600" dirty="0">
              <a:ea typeface="ＭＳ Ｐゴシック" panose="020B0600070205080204" pitchFamily="34" charset="-128"/>
            </a:endParaRPr>
          </a:p>
        </p:txBody>
      </p:sp>
      <p:pic>
        <p:nvPicPr>
          <p:cNvPr id="23556" name="Content Placeholder 4">
            <a:extLst>
              <a:ext uri="{FF2B5EF4-FFF2-40B4-BE49-F238E27FC236}">
                <a16:creationId xmlns:a16="http://schemas.microsoft.com/office/drawing/2014/main" id="{F75A4276-C69E-481D-8CA0-D153045622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86" b="-2336"/>
          <a:stretch>
            <a:fillRect/>
          </a:stretch>
        </p:blipFill>
        <p:spPr>
          <a:xfrm>
            <a:off x="4737100" y="1396588"/>
            <a:ext cx="4038600" cy="1857251"/>
          </a:xfrm>
        </p:spPr>
      </p:pic>
      <p:sp>
        <p:nvSpPr>
          <p:cNvPr id="23557" name="TextBox 5">
            <a:extLst>
              <a:ext uri="{FF2B5EF4-FFF2-40B4-BE49-F238E27FC236}">
                <a16:creationId xmlns:a16="http://schemas.microsoft.com/office/drawing/2014/main" id="{B51EFBCF-2813-4DA2-AAB9-43FC194E5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1186" y="3357173"/>
            <a:ext cx="1331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Source: [33]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7D8FF8-56E1-454C-923C-A68607CDAEF1}"/>
              </a:ext>
            </a:extLst>
          </p:cNvPr>
          <p:cNvSpPr/>
          <p:nvPr/>
        </p:nvSpPr>
        <p:spPr>
          <a:xfrm>
            <a:off x="4737100" y="4463764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*The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Dalvik Virtual Machine (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DVM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is an android virtual machine optimized for mobile devices. It optimizes the virtual machine for </a:t>
            </a: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memory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 </a:t>
            </a: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battery life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performance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r>
              <a:rPr lang="en-US" dirty="0" err="1">
                <a:solidFill>
                  <a:srgbClr val="000000"/>
                </a:solidFill>
                <a:latin typeface="verdana" panose="020B0604030504040204" pitchFamily="34" charset="0"/>
              </a:rPr>
              <a:t>TaintDroid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 is used for Tracking using </a:t>
            </a:r>
            <a:r>
              <a:rPr lang="en-US" dirty="0" err="1">
                <a:solidFill>
                  <a:srgbClr val="000000"/>
                </a:solidFill>
                <a:latin typeface="verdana" panose="020B0604030504040204" pitchFamily="34" charset="0"/>
              </a:rPr>
              <a:t>DVM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4">
            <a:extLst>
              <a:ext uri="{FF2B5EF4-FFF2-40B4-BE49-F238E27FC236}">
                <a16:creationId xmlns:a16="http://schemas.microsoft.com/office/drawing/2014/main" id="{D3AE42BA-5B63-4C50-9338-700E755E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Location Privacy Protection</a:t>
            </a:r>
          </a:p>
        </p:txBody>
      </p:sp>
      <p:sp>
        <p:nvSpPr>
          <p:cNvPr id="28675" name="Content Placeholder 5">
            <a:extLst>
              <a:ext uri="{FF2B5EF4-FFF2-40B4-BE49-F238E27FC236}">
                <a16:creationId xmlns:a16="http://schemas.microsoft.com/office/drawing/2014/main" id="{2130A43D-9032-44DA-910B-CBF0621D0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530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3000">
                <a:ea typeface="ＭＳ Ｐゴシック" panose="020B0600070205080204" pitchFamily="34" charset="-128"/>
              </a:rPr>
              <a:t>Strong regulation</a:t>
            </a:r>
          </a:p>
          <a:p>
            <a:pPr lvl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Corporate</a:t>
            </a:r>
          </a:p>
          <a:p>
            <a:pPr lvl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Individual</a:t>
            </a:r>
          </a:p>
          <a:p>
            <a:pPr>
              <a:lnSpc>
                <a:spcPct val="80000"/>
              </a:lnSpc>
            </a:pPr>
            <a:r>
              <a:rPr lang="en-US" altLang="en-US" sz="3000">
                <a:ea typeface="ＭＳ Ｐゴシック" panose="020B0600070205080204" pitchFamily="34" charset="-128"/>
              </a:rPr>
              <a:t>Dynamic MAC and Bluetooth addresses?</a:t>
            </a:r>
          </a:p>
          <a:p>
            <a:pPr lvl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Collision</a:t>
            </a:r>
          </a:p>
          <a:p>
            <a:pPr lvl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How often to change?</a:t>
            </a:r>
          </a:p>
          <a:p>
            <a:pPr>
              <a:lnSpc>
                <a:spcPct val="80000"/>
              </a:lnSpc>
            </a:pPr>
            <a:r>
              <a:rPr lang="en-US" altLang="en-US" sz="3000">
                <a:ea typeface="ＭＳ Ｐゴシック" panose="020B0600070205080204" pitchFamily="34" charset="-128"/>
              </a:rPr>
              <a:t>Proxy-based communications</a:t>
            </a:r>
          </a:p>
          <a:p>
            <a:pPr lvl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Dummy device as proxy</a:t>
            </a:r>
          </a:p>
          <a:p>
            <a:pPr lvl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Group communications</a:t>
            </a:r>
          </a:p>
          <a:p>
            <a:pPr>
              <a:lnSpc>
                <a:spcPct val="80000"/>
              </a:lnSpc>
            </a:pPr>
            <a:endParaRPr lang="en-US" altLang="en-US" sz="3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FF28749B-DF1A-4537-B711-18CE93A4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Summary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150A0613-0613-4A3C-A95D-F6789D1FD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4106"/>
            <a:ext cx="8229600" cy="4530725"/>
          </a:xfrm>
        </p:spPr>
        <p:txBody>
          <a:bodyPr/>
          <a:lstStyle/>
          <a:p>
            <a:r>
              <a:rPr lang="en-US" altLang="en-US" sz="2400" dirty="0">
                <a:ea typeface="ＭＳ Ｐゴシック" panose="020B0600070205080204" pitchFamily="34" charset="-128"/>
              </a:rPr>
              <a:t>Mobile devices are increasingly popular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There are many threats and attacks against mobile devices, e.g., loss/theft, sensitive information leakage, and location privacy compromise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Mobile access control, information leakage protection, and location privacy protection, etc.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109B7-DA75-4526-9E42-5C2C36FA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and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DB136-9EB9-4836-A560-2C0D0FBBE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3637"/>
            <a:ext cx="8229600" cy="4530725"/>
          </a:xfrm>
        </p:spPr>
        <p:txBody>
          <a:bodyPr/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10389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C10F118D-A7D7-44ED-B175-3C2AB93A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References (1)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5F56B428-B9E1-4A34-83FD-78747453A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1775"/>
            <a:ext cx="8229600" cy="50307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1600">
                <a:ea typeface="ＭＳ Ｐゴシック" panose="020B0600070205080204" pitchFamily="34" charset="-128"/>
              </a:rPr>
              <a:t>Cisco, “Cisco Visual Networking Index: Global Mobile Data Traffic Forecast Update, 2011–2016”</a:t>
            </a:r>
            <a:r>
              <a:rPr lang="en-US" altLang="ja-JP" sz="1600">
                <a:ea typeface="MS PMincho" panose="02020600040205080304" pitchFamily="18" charset="-128"/>
              </a:rPr>
              <a:t>, 14 Feb. 2012, </a:t>
            </a:r>
            <a:r>
              <a:rPr lang="en-US" altLang="ja-JP" sz="1600">
                <a:ea typeface="MS PMincho" panose="02020600040205080304" pitchFamily="18" charset="-128"/>
                <a:hlinkClick r:id="rId2"/>
              </a:rPr>
              <a:t>http://www.cisco.com/en/US/solutions/collateral/ns341/ns525/ns537/</a:t>
            </a:r>
            <a:br>
              <a:rPr lang="en-US" altLang="ja-JP" sz="1600">
                <a:ea typeface="MS PMincho" panose="02020600040205080304" pitchFamily="18" charset="-128"/>
                <a:hlinkClick r:id="rId2"/>
              </a:rPr>
            </a:br>
            <a:r>
              <a:rPr lang="en-US" altLang="ja-JP" sz="1600">
                <a:ea typeface="MS PMincho" panose="02020600040205080304" pitchFamily="18" charset="-128"/>
                <a:hlinkClick r:id="rId2"/>
              </a:rPr>
              <a:t>ns705/ns827/white_paper_c11-520862.html</a:t>
            </a:r>
            <a:r>
              <a:rPr lang="en-US" altLang="ja-JP" sz="1600">
                <a:ea typeface="MS PMincho" panose="02020600040205080304" pitchFamily="18" charset="-128"/>
              </a:rPr>
              <a:t> 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1600">
                <a:ea typeface="ＭＳ Ｐゴシック" panose="020B0600070205080204" pitchFamily="34" charset="-128"/>
              </a:rPr>
              <a:t>Samsung, “Exynos 5 Dual,” 2012, </a:t>
            </a:r>
            <a:r>
              <a:rPr lang="en-US" altLang="en-US" sz="1600">
                <a:ea typeface="ＭＳ Ｐゴシック" panose="020B0600070205080204" pitchFamily="34" charset="-128"/>
                <a:hlinkClick r:id="rId3"/>
              </a:rPr>
              <a:t>http://www.samsung.com/global/business/semiconductor/</a:t>
            </a:r>
            <a:br>
              <a:rPr lang="en-US" altLang="en-US" sz="1600">
                <a:ea typeface="ＭＳ Ｐゴシック" panose="020B0600070205080204" pitchFamily="34" charset="-128"/>
                <a:hlinkClick r:id="rId3"/>
              </a:rPr>
            </a:br>
            <a:r>
              <a:rPr lang="en-US" altLang="en-US" sz="1600">
                <a:ea typeface="ＭＳ Ｐゴシック" panose="020B0600070205080204" pitchFamily="34" charset="-128"/>
                <a:hlinkClick r:id="rId3"/>
              </a:rPr>
              <a:t>product/application/detail?productId=7668&amp;iaId=2341</a:t>
            </a:r>
            <a:endParaRPr lang="en-US" altLang="en-US" sz="16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1600">
                <a:ea typeface="ＭＳ Ｐゴシック" panose="020B0600070205080204" pitchFamily="34" charset="-128"/>
              </a:rPr>
              <a:t>Nielsen Co., “Two Thirds of All New Mobile Buyers Now Opting for Smartphones,”  12 Jul. 2012, </a:t>
            </a:r>
            <a:r>
              <a:rPr lang="en-US" altLang="en-US" sz="1600">
                <a:ea typeface="ＭＳ Ｐゴシック" panose="020B0600070205080204" pitchFamily="34" charset="-128"/>
                <a:hlinkClick r:id="rId4"/>
              </a:rPr>
              <a:t>http://blog.nielsen.com/nielsenwire/online_mobile/two-thirds-of-new-mobile-buyers-</a:t>
            </a:r>
            <a:br>
              <a:rPr lang="en-US" altLang="en-US" sz="1600">
                <a:ea typeface="ＭＳ Ｐゴシック" panose="020B0600070205080204" pitchFamily="34" charset="-128"/>
                <a:hlinkClick r:id="rId4"/>
              </a:rPr>
            </a:br>
            <a:r>
              <a:rPr lang="en-US" altLang="en-US" sz="1600">
                <a:ea typeface="ＭＳ Ｐゴシック" panose="020B0600070205080204" pitchFamily="34" charset="-128"/>
                <a:hlinkClick r:id="rId4"/>
              </a:rPr>
              <a:t>now-opting-for-smartphones/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1600">
                <a:ea typeface="ＭＳ Ｐゴシック" panose="020B0600070205080204" pitchFamily="34" charset="-128"/>
              </a:rPr>
              <a:t>K. De Vere, “iOS leapfrogs Android with 410 million devices sold and 650,000 apps,” 24 Jul. 2012, </a:t>
            </a:r>
            <a:r>
              <a:rPr lang="en-US" altLang="en-US" sz="1600">
                <a:ea typeface="ＭＳ Ｐゴシック" panose="020B0600070205080204" pitchFamily="34" charset="-128"/>
                <a:hlinkClick r:id="rId5"/>
              </a:rPr>
              <a:t>http://www.insidemobileapps.com/2012/07/24/ios-device-sales-leapfrog-android-with-</a:t>
            </a:r>
            <a:br>
              <a:rPr lang="en-US" altLang="en-US" sz="1600">
                <a:ea typeface="ＭＳ Ｐゴシック" panose="020B0600070205080204" pitchFamily="34" charset="-128"/>
                <a:hlinkClick r:id="rId5"/>
              </a:rPr>
            </a:br>
            <a:r>
              <a:rPr lang="en-US" altLang="en-US" sz="1600">
                <a:ea typeface="ＭＳ Ｐゴシック" panose="020B0600070205080204" pitchFamily="34" charset="-128"/>
                <a:hlinkClick r:id="rId5"/>
              </a:rPr>
              <a:t>410-million-devices-sold/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1600">
                <a:ea typeface="ＭＳ Ｐゴシック" panose="020B0600070205080204" pitchFamily="34" charset="-128"/>
              </a:rPr>
              <a:t>K. Haslem, “Macworld Expo: Optimised OS X sits on ‘versatile’ Flash,” 12 Jan. 2007, Macworld, </a:t>
            </a:r>
            <a:r>
              <a:rPr lang="en-US" altLang="en-US" sz="1600">
                <a:ea typeface="ＭＳ Ｐゴシック" panose="020B0600070205080204" pitchFamily="34" charset="-128"/>
                <a:hlinkClick r:id="rId6"/>
              </a:rPr>
              <a:t>http://www.macworld.co.uk/ipod-itunes/news/index.cfm?newsid=16927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1600">
                <a:ea typeface="ＭＳ Ｐゴシック" panose="020B0600070205080204" pitchFamily="34" charset="-128"/>
              </a:rPr>
              <a:t>Wikipedia, “iOS,” updated 2012, </a:t>
            </a:r>
            <a:r>
              <a:rPr lang="en-US" altLang="en-US" sz="1600">
                <a:ea typeface="ＭＳ Ｐゴシック" panose="020B0600070205080204" pitchFamily="34" charset="-128"/>
                <a:hlinkClick r:id="rId7"/>
              </a:rPr>
              <a:t>http://en.wikipedia.org/wiki/iOS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1600">
                <a:ea typeface="ＭＳ Ｐゴシック" panose="020B0600070205080204" pitchFamily="34" charset="-128"/>
              </a:rPr>
              <a:t>Apple Inc., “iPhone Developer University Program,” </a:t>
            </a:r>
            <a:r>
              <a:rPr lang="en-US" altLang="en-US" sz="1600">
                <a:ea typeface="ＭＳ Ｐゴシック" panose="020B0600070205080204" pitchFamily="34" charset="-128"/>
                <a:hlinkClick r:id="rId8"/>
              </a:rPr>
              <a:t>http://developer.apple.com/iphone/program/university.html</a:t>
            </a:r>
            <a:endParaRPr lang="en-US" altLang="en-US" sz="16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1600">
                <a:ea typeface="ＭＳ Ｐゴシック" panose="020B0600070205080204" pitchFamily="34" charset="-128"/>
              </a:rPr>
              <a:t>Apple Inc, “iOS Security,” </a:t>
            </a:r>
            <a:r>
              <a:rPr lang="en-US" altLang="en-US" sz="1600">
                <a:ea typeface="ＭＳ Ｐゴシック" panose="020B0600070205080204" pitchFamily="34" charset="-128"/>
                <a:hlinkClick r:id="rId9"/>
              </a:rPr>
              <a:t>http://images.apple.com/ipad/business/docs/</a:t>
            </a:r>
            <a:br>
              <a:rPr lang="en-US" altLang="en-US" sz="1600">
                <a:ea typeface="ＭＳ Ｐゴシック" panose="020B0600070205080204" pitchFamily="34" charset="-128"/>
                <a:hlinkClick r:id="rId9"/>
              </a:rPr>
            </a:br>
            <a:r>
              <a:rPr lang="en-US" altLang="en-US" sz="1600">
                <a:ea typeface="ＭＳ Ｐゴシック" panose="020B0600070205080204" pitchFamily="34" charset="-128"/>
                <a:hlinkClick r:id="rId9"/>
              </a:rPr>
              <a:t>iOS_Security_May12.pdf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1600">
                <a:ea typeface="ＭＳ Ｐゴシック" panose="020B0600070205080204" pitchFamily="34" charset="-128"/>
              </a:rPr>
              <a:t>Android Open Source Project, “Android Security Overview,” </a:t>
            </a:r>
            <a:r>
              <a:rPr lang="en-US" altLang="en-US" sz="1600">
                <a:ea typeface="ＭＳ Ｐゴシック" panose="020B0600070205080204" pitchFamily="34" charset="-128"/>
                <a:hlinkClick r:id="rId10"/>
              </a:rPr>
              <a:t>http://source.android.com/tech/</a:t>
            </a:r>
            <a:br>
              <a:rPr lang="en-US" altLang="en-US" sz="1600">
                <a:ea typeface="ＭＳ Ｐゴシック" panose="020B0600070205080204" pitchFamily="34" charset="-128"/>
                <a:hlinkClick r:id="rId10"/>
              </a:rPr>
            </a:br>
            <a:r>
              <a:rPr lang="en-US" altLang="en-US" sz="1600">
                <a:ea typeface="ＭＳ Ｐゴシック" panose="020B0600070205080204" pitchFamily="34" charset="-128"/>
                <a:hlinkClick r:id="rId10"/>
              </a:rPr>
              <a:t>security/index.html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endParaRPr lang="en-US" altLang="en-US" sz="1600">
              <a:ea typeface="ＭＳ Ｐゴシック" panose="020B0600070205080204" pitchFamily="34" charset="-128"/>
            </a:endParaRPr>
          </a:p>
        </p:txBody>
      </p:sp>
      <p:sp>
        <p:nvSpPr>
          <p:cNvPr id="30724" name="TextBox 1">
            <a:extLst>
              <a:ext uri="{FF2B5EF4-FFF2-40B4-BE49-F238E27FC236}">
                <a16:creationId xmlns:a16="http://schemas.microsoft.com/office/drawing/2014/main" id="{44CA3A64-7607-4D1A-B84E-BE436643D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313488"/>
            <a:ext cx="80200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Presentation organization inspired by T. Eston, “Android vs. iOS Security Showdown,” 2012,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hlinkClick r:id="rId11"/>
              </a:rPr>
              <a:t>http://www.slideshare.net/agent0x0/the-android-vs-apple-ios-security-showdown</a:t>
            </a:r>
            <a:r>
              <a:rPr lang="en-US" altLang="en-US" sz="1600"/>
              <a:t> 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539674B2-6993-45EA-BB7F-9B305DB8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References (2)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9A5B76DD-6EA3-4B1C-AC78-8A8080716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18088"/>
          </a:xfrm>
        </p:spPr>
        <p:txBody>
          <a:bodyPr/>
          <a:lstStyle/>
          <a:p>
            <a:pPr marL="514350" indent="-514350" eaLnBrk="1" hangingPunct="1">
              <a:buFont typeface="Arial" panose="020B0604020202020204" pitchFamily="34" charset="0"/>
              <a:buAutoNum type="arabicPeriod" startAt="10"/>
            </a:pPr>
            <a:r>
              <a:rPr lang="fr-FR" altLang="en-US" sz="1600">
                <a:ea typeface="ＭＳ Ｐゴシック" panose="020B0600070205080204" pitchFamily="34" charset="-128"/>
              </a:rPr>
              <a:t>A. Rubin, 15 Feb. 2012, https://plus.google.com/u/0/112599748506977857728/</a:t>
            </a:r>
            <a:br>
              <a:rPr lang="fr-FR" altLang="en-US" sz="1600">
                <a:ea typeface="ＭＳ Ｐゴシック" panose="020B0600070205080204" pitchFamily="34" charset="-128"/>
              </a:rPr>
            </a:br>
            <a:r>
              <a:rPr lang="fr-FR" altLang="en-US" sz="1600">
                <a:ea typeface="ＭＳ Ｐゴシック" panose="020B0600070205080204" pitchFamily="34" charset="-128"/>
              </a:rPr>
              <a:t>posts/Btey7rJBaLF </a:t>
            </a:r>
            <a:endParaRPr lang="en-US" altLang="en-US" sz="1600">
              <a:ea typeface="ＭＳ Ｐゴシック" panose="020B0600070205080204" pitchFamily="34" charset="-128"/>
            </a:endParaRPr>
          </a:p>
          <a:p>
            <a:pPr marL="514350" indent="-514350" eaLnBrk="1" hangingPunct="1">
              <a:buFont typeface="Arial" panose="020B0604020202020204" pitchFamily="34" charset="0"/>
              <a:buAutoNum type="arabicPeriod" startAt="10"/>
            </a:pPr>
            <a:r>
              <a:rPr lang="en-US" altLang="en-US" sz="1600">
                <a:ea typeface="ＭＳ Ｐゴシック" panose="020B0600070205080204" pitchFamily="34" charset="-128"/>
              </a:rPr>
              <a:t>H. Lockheimer, “Android and Security,” 2 Feb. 2012, </a:t>
            </a:r>
            <a:r>
              <a:rPr lang="en-US" altLang="en-US" sz="1600">
                <a:ea typeface="ＭＳ Ｐゴシック" panose="020B0600070205080204" pitchFamily="34" charset="-128"/>
                <a:hlinkClick r:id="rId2"/>
              </a:rPr>
              <a:t>http://googlemobile.blogspot.com/</a:t>
            </a:r>
            <a:br>
              <a:rPr lang="en-US" altLang="en-US" sz="1600">
                <a:ea typeface="ＭＳ Ｐゴシック" panose="020B0600070205080204" pitchFamily="34" charset="-128"/>
                <a:hlinkClick r:id="rId2"/>
              </a:rPr>
            </a:br>
            <a:r>
              <a:rPr lang="en-US" altLang="en-US" sz="1600">
                <a:ea typeface="ＭＳ Ｐゴシック" panose="020B0600070205080204" pitchFamily="34" charset="-128"/>
                <a:hlinkClick r:id="rId2"/>
              </a:rPr>
              <a:t>2012/02/android-and-security.html</a:t>
            </a:r>
            <a:endParaRPr lang="en-US" altLang="en-US" sz="1600">
              <a:ea typeface="ＭＳ Ｐゴシック" panose="020B0600070205080204" pitchFamily="34" charset="-128"/>
            </a:endParaRPr>
          </a:p>
          <a:p>
            <a:pPr marL="514350" indent="-514350" eaLnBrk="1" hangingPunct="1">
              <a:buFont typeface="Arial" panose="020B0604020202020204" pitchFamily="34" charset="0"/>
              <a:buAutoNum type="arabicPeriod" startAt="10"/>
            </a:pPr>
            <a:r>
              <a:rPr lang="en-US" altLang="en-US" sz="1600">
                <a:ea typeface="ＭＳ Ｐゴシック" panose="020B0600070205080204" pitchFamily="34" charset="-128"/>
              </a:rPr>
              <a:t>Android Open Source Project, </a:t>
            </a:r>
            <a:r>
              <a:rPr lang="en-US" altLang="en-US" sz="1600">
                <a:ea typeface="ＭＳ Ｐゴシック" panose="020B0600070205080204" pitchFamily="34" charset="-128"/>
                <a:hlinkClick r:id="rId3"/>
              </a:rPr>
              <a:t>http://developer.android.com/about/dashboards/index.html</a:t>
            </a:r>
            <a:endParaRPr lang="en-US" altLang="en-US" sz="1600">
              <a:ea typeface="ＭＳ Ｐゴシック" panose="020B0600070205080204" pitchFamily="34" charset="-128"/>
            </a:endParaRPr>
          </a:p>
          <a:p>
            <a:pPr marL="514350" indent="-514350" eaLnBrk="1" hangingPunct="1">
              <a:buFont typeface="Arial" panose="020B0604020202020204" pitchFamily="34" charset="0"/>
              <a:buAutoNum type="arabicPeriod" startAt="10"/>
            </a:pPr>
            <a:r>
              <a:rPr lang="en-US" altLang="en-US" sz="1600">
                <a:ea typeface="ＭＳ Ｐゴシック" panose="020B0600070205080204" pitchFamily="34" charset="-128"/>
              </a:rPr>
              <a:t>M. DeGusta, “Android Orphans: Visualizing a Sad History of Support,” 26 Oct. 2011, </a:t>
            </a:r>
            <a:r>
              <a:rPr lang="en-US" altLang="en-US" sz="1600">
                <a:ea typeface="ＭＳ Ｐゴシック" panose="020B0600070205080204" pitchFamily="34" charset="-128"/>
                <a:hlinkClick r:id="rId4"/>
              </a:rPr>
              <a:t>http://theunderstatement.com/post/11982112928/android-orphans-visualizing-a-sad-history-of-support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 startAt="10"/>
            </a:pPr>
            <a:r>
              <a:rPr lang="en-US" altLang="en-US" sz="1600">
                <a:ea typeface="ＭＳ Ｐゴシック" panose="020B0600070205080204" pitchFamily="34" charset="-128"/>
                <a:hlinkClick r:id="rId5"/>
              </a:rPr>
              <a:t>http://opensignalmaps.com/reports/fragmentation.php</a:t>
            </a:r>
            <a:endParaRPr lang="en-US" altLang="en-US" sz="1600">
              <a:ea typeface="ＭＳ Ｐゴシック" panose="020B0600070205080204" pitchFamily="34" charset="-128"/>
            </a:endParaRPr>
          </a:p>
          <a:p>
            <a:pPr marL="514350" indent="-514350" eaLnBrk="1" hangingPunct="1">
              <a:buFont typeface="Arial" panose="020B0604020202020204" pitchFamily="34" charset="0"/>
              <a:buAutoNum type="arabicPeriod" startAt="10"/>
            </a:pPr>
            <a:r>
              <a:rPr lang="en-US" altLang="en-US" sz="1600">
                <a:ea typeface="ＭＳ Ｐゴシック" panose="020B0600070205080204" pitchFamily="34" charset="-128"/>
                <a:hlinkClick r:id="rId6"/>
              </a:rPr>
              <a:t>http://www.micro-trax.com/statistics</a:t>
            </a:r>
            <a:r>
              <a:rPr lang="en-US" altLang="en-US" sz="1600">
                <a:ea typeface="ＭＳ Ｐゴシック" panose="020B0600070205080204" pitchFamily="34" charset="-128"/>
              </a:rPr>
              <a:t> `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 startAt="10"/>
            </a:pPr>
            <a:r>
              <a:rPr lang="en-US" altLang="en-US" sz="1600">
                <a:ea typeface="ＭＳ Ｐゴシック" panose="020B0600070205080204" pitchFamily="34" charset="-128"/>
              </a:rPr>
              <a:t>Lookout, Inc., “Mobile Lost and Found,” 2012, </a:t>
            </a:r>
            <a:r>
              <a:rPr lang="en-US" altLang="en-US" sz="1600">
                <a:ea typeface="ＭＳ Ｐゴシック" panose="020B0600070205080204" pitchFamily="34" charset="-128"/>
                <a:hlinkClick r:id="rId7"/>
              </a:rPr>
              <a:t>https://www.mylookout.com/resources/</a:t>
            </a:r>
            <a:br>
              <a:rPr lang="en-US" altLang="en-US" sz="1600">
                <a:ea typeface="ＭＳ Ｐゴシック" panose="020B0600070205080204" pitchFamily="34" charset="-128"/>
                <a:hlinkClick r:id="rId7"/>
              </a:rPr>
            </a:br>
            <a:r>
              <a:rPr lang="en-US" altLang="en-US" sz="1600">
                <a:ea typeface="ＭＳ Ｐゴシック" panose="020B0600070205080204" pitchFamily="34" charset="-128"/>
                <a:hlinkClick r:id="rId7"/>
              </a:rPr>
              <a:t>reports/mobile-lost-and-found/</a:t>
            </a:r>
            <a:endParaRPr lang="en-US" altLang="en-US" sz="1600">
              <a:ea typeface="ＭＳ Ｐゴシック" panose="020B0600070205080204" pitchFamily="34" charset="-128"/>
            </a:endParaRPr>
          </a:p>
          <a:p>
            <a:pPr marL="514350" indent="-514350" eaLnBrk="1" hangingPunct="1">
              <a:buFont typeface="Arial" panose="020B0604020202020204" pitchFamily="34" charset="0"/>
              <a:buAutoNum type="arabicPeriod" startAt="10"/>
            </a:pPr>
            <a:r>
              <a:rPr lang="en-US" altLang="en-US" sz="1600">
                <a:ea typeface="ＭＳ Ｐゴシック" panose="020B0600070205080204" pitchFamily="34" charset="-128"/>
              </a:rPr>
              <a:t>K. Haley, “Introducing the Smartphone Honey Stick Project,” 9 Mar. 2012, </a:t>
            </a:r>
            <a:r>
              <a:rPr lang="en-US" altLang="en-US" sz="1600">
                <a:ea typeface="ＭＳ Ｐゴシック" panose="020B0600070205080204" pitchFamily="34" charset="-128"/>
                <a:hlinkClick r:id="rId8"/>
              </a:rPr>
              <a:t>http://www.symantec.com/connect/blogs/introducing-symantec-smartphone-honey-stick-project</a:t>
            </a:r>
            <a:endParaRPr lang="en-US" altLang="en-US" sz="1600">
              <a:ea typeface="ＭＳ Ｐゴシック" panose="020B0600070205080204" pitchFamily="34" charset="-128"/>
            </a:endParaRPr>
          </a:p>
          <a:p>
            <a:pPr marL="514350" indent="-514350" eaLnBrk="1" hangingPunct="1">
              <a:buFont typeface="Arial" panose="020B0604020202020204" pitchFamily="34" charset="0"/>
              <a:buAutoNum type="arabicPeriod" startAt="10"/>
            </a:pPr>
            <a:r>
              <a:rPr lang="en-US" altLang="en-US" sz="1600">
                <a:ea typeface="ＭＳ Ｐゴシック" panose="020B0600070205080204" pitchFamily="34" charset="-128"/>
              </a:rPr>
              <a:t>Juniper Networks, Inc., “Global Research Shows Mobile Malware Accelerating,” 15 Feb. 2012, </a:t>
            </a:r>
            <a:r>
              <a:rPr lang="en-US" altLang="en-US" sz="1600">
                <a:ea typeface="ＭＳ Ｐゴシック" panose="020B0600070205080204" pitchFamily="34" charset="-128"/>
                <a:hlinkClick r:id="rId9"/>
              </a:rPr>
              <a:t>http://newsroom.juniper.net/press-releases/global-research-shows-</a:t>
            </a:r>
            <a:br>
              <a:rPr lang="en-US" altLang="en-US" sz="1600">
                <a:ea typeface="ＭＳ Ｐゴシック" panose="020B0600070205080204" pitchFamily="34" charset="-128"/>
                <a:hlinkClick r:id="rId9"/>
              </a:rPr>
            </a:br>
            <a:r>
              <a:rPr lang="en-US" altLang="en-US" sz="1600">
                <a:ea typeface="ＭＳ Ｐゴシック" panose="020B0600070205080204" pitchFamily="34" charset="-128"/>
                <a:hlinkClick r:id="rId9"/>
              </a:rPr>
              <a:t>mobile-malware-accelerating-nyse-jnpr-0851976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 startAt="10"/>
            </a:pPr>
            <a:endParaRPr lang="en-US" altLang="en-US" sz="16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BA7845BB-35BB-418B-82A5-65BC25E8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References (3)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D5A4CE65-CA3D-467D-8BEB-47F07AFF3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21700" cy="4525963"/>
          </a:xfrm>
        </p:spPr>
        <p:txBody>
          <a:bodyPr/>
          <a:lstStyle/>
          <a:p>
            <a:pPr marL="514350" indent="-514350" eaLnBrk="1" hangingPunct="1">
              <a:buFont typeface="Arial" panose="020B0604020202020204" pitchFamily="34" charset="0"/>
              <a:buAutoNum type="arabicPeriod" startAt="19"/>
            </a:pPr>
            <a:r>
              <a:rPr lang="en-US" altLang="en-US" sz="1600">
                <a:ea typeface="ＭＳ Ｐゴシック" panose="020B0600070205080204" pitchFamily="34" charset="-128"/>
              </a:rPr>
              <a:t>F-Secure, “Mobile Threat Report Q2 2012,” 7 Aug. 2012, </a:t>
            </a:r>
            <a:r>
              <a:rPr lang="en-US" altLang="en-US" sz="1600">
                <a:ea typeface="ＭＳ Ｐゴシック" panose="020B0600070205080204" pitchFamily="34" charset="-128"/>
                <a:hlinkClick r:id="rId2"/>
              </a:rPr>
              <a:t>http://www.slideshare.net/fsecure/</a:t>
            </a:r>
            <a:br>
              <a:rPr lang="en-US" altLang="en-US" sz="1600">
                <a:ea typeface="ＭＳ Ｐゴシック" panose="020B0600070205080204" pitchFamily="34" charset="-128"/>
                <a:hlinkClick r:id="rId2"/>
              </a:rPr>
            </a:br>
            <a:r>
              <a:rPr lang="en-US" altLang="en-US" sz="1600">
                <a:ea typeface="ＭＳ Ｐゴシック" panose="020B0600070205080204" pitchFamily="34" charset="-128"/>
                <a:hlinkClick r:id="rId2"/>
              </a:rPr>
              <a:t>mobile-threat-report-q2-2012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 startAt="19"/>
            </a:pPr>
            <a:r>
              <a:rPr lang="en-US" altLang="en-US" sz="1600">
                <a:ea typeface="ＭＳ Ｐゴシック" panose="020B0600070205080204" pitchFamily="34" charset="-128"/>
                <a:hlinkClick r:id="rId3"/>
              </a:rPr>
              <a:t>http://nakedsecurity.sophos.com/2012/04/12/a ndroid-malware-angry-birds-space-game/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 startAt="19"/>
            </a:pPr>
            <a:r>
              <a:rPr lang="en-US" altLang="en-US" sz="1600">
                <a:ea typeface="ＭＳ Ｐゴシック" panose="020B0600070205080204" pitchFamily="34" charset="-128"/>
              </a:rPr>
              <a:t>Via Forensics LLC, “Forensic Security Analysis of Google Wallet,” 12 Dec. 2011, </a:t>
            </a:r>
            <a:r>
              <a:rPr lang="en-US" altLang="en-US" sz="1600">
                <a:ea typeface="ＭＳ Ｐゴシック" panose="020B0600070205080204" pitchFamily="34" charset="-128"/>
                <a:hlinkClick r:id="rId4"/>
              </a:rPr>
              <a:t>https://viaforensics.com/mobile-security/forensics-security-analysis-google-wallet.html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 startAt="19"/>
            </a:pPr>
            <a:r>
              <a:rPr lang="en-US" altLang="en-US" sz="1600">
                <a:ea typeface="ＭＳ Ｐゴシック" panose="020B0600070205080204" pitchFamily="34" charset="-128"/>
              </a:rPr>
              <a:t>Proxmark, </a:t>
            </a:r>
            <a:r>
              <a:rPr lang="en-US" altLang="en-US" sz="1600">
                <a:ea typeface="ＭＳ Ｐゴシック" panose="020B0600070205080204" pitchFamily="34" charset="-128"/>
                <a:hlinkClick r:id="rId5"/>
              </a:rPr>
              <a:t>http://www.proxmark.org/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 startAt="19"/>
            </a:pPr>
            <a:r>
              <a:rPr lang="en-US" altLang="en-US" sz="1600">
                <a:ea typeface="ＭＳ Ｐゴシック" panose="020B0600070205080204" pitchFamily="34" charset="-128"/>
              </a:rPr>
              <a:t>libnfc, </a:t>
            </a:r>
            <a:r>
              <a:rPr lang="en-US" altLang="en-US" sz="1600">
                <a:ea typeface="ＭＳ Ｐゴシック" panose="020B0600070205080204" pitchFamily="34" charset="-128"/>
                <a:hlinkClick r:id="rId6"/>
              </a:rPr>
              <a:t>http://www.libnfc.org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 startAt="19"/>
            </a:pPr>
            <a:r>
              <a:rPr lang="en-US" altLang="en-US" sz="1600">
                <a:ea typeface="ＭＳ Ｐゴシック" panose="020B0600070205080204" pitchFamily="34" charset="-128"/>
              </a:rPr>
              <a:t>D. Goodin, “Android, Nokia smartphone security toppled by Near Field Communication hack,” 25 Jul. 2012,  </a:t>
            </a:r>
            <a:r>
              <a:rPr lang="en-US" altLang="en-US" sz="1600">
                <a:ea typeface="ＭＳ Ｐゴシック" panose="020B0600070205080204" pitchFamily="34" charset="-128"/>
                <a:hlinkClick r:id="rId7"/>
              </a:rPr>
              <a:t>http://arstechnica.com/security/2012/07/android-nokia-smartphone-hack/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 startAt="19"/>
            </a:pPr>
            <a:r>
              <a:rPr lang="en-US" altLang="en-US" sz="1600">
                <a:ea typeface="ＭＳ Ｐゴシック" panose="020B0600070205080204" pitchFamily="34" charset="-128"/>
              </a:rPr>
              <a:t>B. Andersen, “Australian admits creating first iPhone virus,” 10 Nov. 2009, </a:t>
            </a:r>
            <a:r>
              <a:rPr lang="en-US" altLang="en-US" sz="1600">
                <a:ea typeface="ＭＳ Ｐゴシック" panose="020B0600070205080204" pitchFamily="34" charset="-128"/>
                <a:hlinkClick r:id="rId8"/>
              </a:rPr>
              <a:t>http://www.abc.net.au/news/2009-11-09/australian-admits-creating-first-iphone-virus/1135474</a:t>
            </a:r>
            <a:endParaRPr lang="en-US" altLang="en-US" sz="1600">
              <a:ea typeface="ＭＳ Ｐゴシック" panose="020B0600070205080204" pitchFamily="34" charset="-128"/>
            </a:endParaRPr>
          </a:p>
          <a:p>
            <a:pPr marL="514350" indent="-514350" eaLnBrk="1" hangingPunct="1">
              <a:buFont typeface="Arial" panose="020B0604020202020204" pitchFamily="34" charset="0"/>
              <a:buAutoNum type="arabicPeriod" startAt="19"/>
            </a:pPr>
            <a:r>
              <a:rPr lang="en-US" altLang="en-US" sz="1600">
                <a:ea typeface="ＭＳ Ｐゴシック" panose="020B0600070205080204" pitchFamily="34" charset="-128"/>
              </a:rPr>
              <a:t>R. Radia, “Why you should always encrypt your smartphone,” 16 Jan. 2011, </a:t>
            </a:r>
            <a:r>
              <a:rPr lang="en-US" altLang="en-US" sz="1600">
                <a:ea typeface="ＭＳ Ｐゴシック" panose="020B0600070205080204" pitchFamily="34" charset="-128"/>
                <a:hlinkClick r:id="rId9"/>
              </a:rPr>
              <a:t>http://arstechnica.com/gadgets/2011/01/why-you-should-always-encrypt-your-smartphone/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 startAt="19"/>
            </a:pPr>
            <a:r>
              <a:rPr lang="en-US" altLang="en-US" sz="1600">
                <a:ea typeface="ＭＳ Ｐゴシック" panose="020B0600070205080204" pitchFamily="34" charset="-128"/>
              </a:rPr>
              <a:t>Heritage Foundation, “Solutions for America: Overcriminalization,” 17 Aug. 2010, </a:t>
            </a:r>
            <a:r>
              <a:rPr lang="en-US" altLang="en-US" sz="1600">
                <a:ea typeface="ＭＳ Ｐゴシック" panose="020B0600070205080204" pitchFamily="34" charset="-128"/>
                <a:hlinkClick r:id="rId10"/>
              </a:rPr>
              <a:t>http://www.heritage.org/research/reports/2010/08/overcriminalization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 startAt="19"/>
            </a:pPr>
            <a:r>
              <a:rPr lang="en-US" altLang="en-US" sz="1600">
                <a:ea typeface="ＭＳ Ｐゴシック" panose="020B0600070205080204" pitchFamily="34" charset="-128"/>
              </a:rPr>
              <a:t>Wikipedia, </a:t>
            </a:r>
            <a:r>
              <a:rPr lang="en-US" altLang="en-US" sz="1600">
                <a:ea typeface="ＭＳ Ｐゴシック" panose="020B0600070205080204" pitchFamily="34" charset="-128"/>
                <a:hlinkClick r:id="rId11"/>
              </a:rPr>
              <a:t>http://en.wikipedia.org/wiki/Mobile_device_forensics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 startAt="19"/>
            </a:pPr>
            <a:r>
              <a:rPr lang="en-US" altLang="en-US" sz="1600">
                <a:ea typeface="ＭＳ Ｐゴシック" panose="020B0600070205080204" pitchFamily="34" charset="-128"/>
              </a:rPr>
              <a:t>C. Quentin, </a:t>
            </a:r>
            <a:r>
              <a:rPr lang="en-US" altLang="en-US" sz="1600">
                <a:ea typeface="ＭＳ Ｐゴシック" panose="020B0600070205080204" pitchFamily="34" charset="-128"/>
                <a:hlinkClick r:id="rId12"/>
              </a:rPr>
              <a:t>http://www.slideshare.net/cooperq/your-cell-phone-is-covered-in-spiders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 startAt="19"/>
            </a:pPr>
            <a:endParaRPr lang="en-US" altLang="en-US" sz="16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01C01687-28E4-45D5-A405-F131D63B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References (4)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95B73EEE-709E-4FDB-9A2E-85B703075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panose="020B0604020202020204" pitchFamily="34" charset="0"/>
              <a:buAutoNum type="arabicPeriod" startAt="30"/>
            </a:pPr>
            <a:r>
              <a:rPr lang="en-US" altLang="en-US" sz="1600">
                <a:ea typeface="ＭＳ Ｐゴシック" panose="020B0600070205080204" pitchFamily="34" charset="-128"/>
              </a:rPr>
              <a:t>A. J. Aviv, K. Gibson, E. Mossop, M. Blaze, and A. M. Smith, “Smudge Attacks on Smartphone Touch Screens,” Proc. USENIX WOOT, 2010.</a:t>
            </a:r>
          </a:p>
          <a:p>
            <a:pPr marL="514350" indent="-514350">
              <a:buFont typeface="Arial" panose="020B0604020202020204" pitchFamily="34" charset="0"/>
              <a:buAutoNum type="arabicPeriod" startAt="30"/>
            </a:pPr>
            <a:r>
              <a:rPr lang="en-US" altLang="en-US" sz="1600">
                <a:ea typeface="ＭＳ Ｐゴシック" panose="020B0600070205080204" pitchFamily="34" charset="-128"/>
              </a:rPr>
              <a:t>X. Ni, Z. Yang, X. Bai, A. C. Champion, and Dong Xuan, “</a:t>
            </a:r>
            <a:r>
              <a:rPr lang="en-US" altLang="ja-JP" sz="1600">
                <a:ea typeface="ＭＳ Ｐゴシック" panose="020B0600070205080204" pitchFamily="34" charset="-128"/>
              </a:rPr>
              <a:t>DiffUser: Differentiated User Access Control on Smartphones,</a:t>
            </a:r>
            <a:r>
              <a:rPr lang="en-US" altLang="en-US" sz="1600">
                <a:ea typeface="ＭＳ Ｐゴシック" panose="020B0600070205080204" pitchFamily="34" charset="-128"/>
              </a:rPr>
              <a:t>”</a:t>
            </a:r>
            <a:r>
              <a:rPr lang="en-US" altLang="ja-JP" sz="1600">
                <a:ea typeface="ＭＳ Ｐゴシック" panose="020B0600070205080204" pitchFamily="34" charset="-128"/>
              </a:rPr>
              <a:t> </a:t>
            </a:r>
            <a:r>
              <a:rPr lang="en-US" altLang="ja-JP" sz="1600" i="1">
                <a:ea typeface="ＭＳ Ｐゴシック" panose="020B0600070205080204" pitchFamily="34" charset="-128"/>
              </a:rPr>
              <a:t>Proc. IEEE Int</a:t>
            </a:r>
            <a:r>
              <a:rPr lang="en-US" altLang="en-US" sz="1600" i="1">
                <a:ea typeface="ＭＳ Ｐゴシック" panose="020B0600070205080204" pitchFamily="34" charset="-128"/>
              </a:rPr>
              <a:t>’</a:t>
            </a:r>
            <a:r>
              <a:rPr lang="en-US" altLang="ja-JP" sz="1600" i="1">
                <a:ea typeface="ＭＳ Ｐゴシック" panose="020B0600070205080204" pitchFamily="34" charset="-128"/>
              </a:rPr>
              <a:t>l. Workshop on Wireless and Sensor Networks Security (WSNS)</a:t>
            </a:r>
            <a:r>
              <a:rPr lang="en-US" altLang="ja-JP" sz="1600">
                <a:ea typeface="ＭＳ Ｐゴシック" panose="020B0600070205080204" pitchFamily="34" charset="-128"/>
              </a:rPr>
              <a:t>, 2009.</a:t>
            </a:r>
          </a:p>
          <a:p>
            <a:pPr marL="514350" indent="-514350">
              <a:buFont typeface="Arial" panose="020B0604020202020204" pitchFamily="34" charset="0"/>
              <a:buAutoNum type="arabicPeriod" startAt="30"/>
            </a:pPr>
            <a:r>
              <a:rPr lang="en-US" altLang="en-US" sz="1600">
                <a:ea typeface="ＭＳ Ｐゴシック" panose="020B0600070205080204" pitchFamily="34" charset="-128"/>
              </a:rPr>
              <a:t>W. Enck, P. Gilbert, B.-G. Chun, L. P. Cox, J. Jung, P. McDaniel, and A. N. Sheth, “</a:t>
            </a:r>
            <a:r>
              <a:rPr lang="en-US" altLang="ja-JP" sz="1600">
                <a:ea typeface="ＭＳ Ｐゴシック" panose="020B0600070205080204" pitchFamily="34" charset="-128"/>
              </a:rPr>
              <a:t>TaintDroid: An Information-Flow Tracking System for Realtime Privacy Monitoring on Smartphones,</a:t>
            </a:r>
            <a:r>
              <a:rPr lang="en-US" altLang="en-US" sz="1600">
                <a:ea typeface="ＭＳ Ｐゴシック" panose="020B0600070205080204" pitchFamily="34" charset="-128"/>
              </a:rPr>
              <a:t>”</a:t>
            </a:r>
            <a:r>
              <a:rPr lang="en-US" altLang="ja-JP" sz="1600">
                <a:ea typeface="ＭＳ Ｐゴシック" panose="020B0600070205080204" pitchFamily="34" charset="-128"/>
              </a:rPr>
              <a:t> Proc. USENIX OSDI, 2010, </a:t>
            </a:r>
            <a:r>
              <a:rPr lang="en-US" altLang="ja-JP" sz="1600">
                <a:ea typeface="ＭＳ Ｐゴシック" panose="020B0600070205080204" pitchFamily="34" charset="-128"/>
                <a:hlinkClick r:id="rId2"/>
              </a:rPr>
              <a:t>http://appanalysis.org</a:t>
            </a:r>
            <a:r>
              <a:rPr lang="en-US" altLang="ja-JP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>
              <a:buFont typeface="Arial" panose="020B0604020202020204" pitchFamily="34" charset="0"/>
              <a:buAutoNum type="arabicPeriod" startAt="30"/>
            </a:pPr>
            <a:r>
              <a:rPr lang="en-US" altLang="en-US" sz="1600">
                <a:ea typeface="ＭＳ Ｐゴシック" panose="020B0600070205080204" pitchFamily="34" charset="-128"/>
              </a:rPr>
              <a:t>W. Enck, P. Gilbert, B.-G. Chun, L. P. Cox, J. Jung, P. McDaniel, and A. N. Sheth, “TaintDroid: An Information-Flow Tracking System for Realtime Privacy Monitoring on Smartphones,” </a:t>
            </a:r>
            <a:r>
              <a:rPr lang="en-US" altLang="en-US" sz="1600">
                <a:ea typeface="ＭＳ Ｐゴシック" panose="020B0600070205080204" pitchFamily="34" charset="-128"/>
                <a:hlinkClick r:id="rId3"/>
              </a:rPr>
              <a:t>http://static.usenix.org/event/osdi10/tech/slides/enck.pdf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marL="514350" indent="-514350">
              <a:buFont typeface="Arial" panose="020B0604020202020204" pitchFamily="34" charset="0"/>
              <a:buAutoNum type="arabicPeriod" startAt="30"/>
            </a:pPr>
            <a:r>
              <a:rPr lang="en-US" altLang="en-US" sz="1600">
                <a:ea typeface="ＭＳ Ｐゴシック" panose="020B0600070205080204" pitchFamily="34" charset="-128"/>
              </a:rPr>
              <a:t>B. Gu, X. Li, G. Li, A. C. Champion, Z. Chen, F. Qin, and D. Xuan, “D2Taint: Differentiated and Dynamic Information Flow Tracking on Smartphones for Numerous Data Sources,” Technical Report, 2012.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890713"/>
          </a:xfrm>
        </p:spPr>
        <p:txBody>
          <a:bodyPr/>
          <a:lstStyle/>
          <a:p>
            <a:pPr eaLnBrk="1" hangingPunct="1"/>
            <a:r>
              <a:rPr lang="en-US" altLang="en-US"/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5C92F24E4244AAD2ED8B96D617959" ma:contentTypeVersion="6" ma:contentTypeDescription="Create a new document." ma:contentTypeScope="" ma:versionID="3018d496b803f6cc1781f7a6cb4acf16">
  <xsd:schema xmlns:xsd="http://www.w3.org/2001/XMLSchema" xmlns:xs="http://www.w3.org/2001/XMLSchema" xmlns:p="http://schemas.microsoft.com/office/2006/metadata/properties" xmlns:ns2="f6eb52e1-44dd-45c2-887b-74d63854f9ed" targetNamespace="http://schemas.microsoft.com/office/2006/metadata/properties" ma:root="true" ma:fieldsID="b11849237a42fd386cbd3544317d650b" ns2:_="">
    <xsd:import namespace="f6eb52e1-44dd-45c2-887b-74d63854f9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eb52e1-44dd-45c2-887b-74d63854f9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041B5F-5C5A-406B-9D75-A69755EC710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E5EAE89-2A61-42CA-9500-99D56482B1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ED2CA7-6A59-419C-8FF4-86BF8A5FD6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eb52e1-44dd-45c2-887b-74d63854f9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11636</TotalTime>
  <Words>2515</Words>
  <Application>Microsoft Macintosh PowerPoint</Application>
  <PresentationFormat>On-screen Show (4:3)</PresentationFormat>
  <Paragraphs>293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Helvetica</vt:lpstr>
      <vt:lpstr>Lucida Grande</vt:lpstr>
      <vt:lpstr>Monotype Sorts</vt:lpstr>
      <vt:lpstr>Times New Roman</vt:lpstr>
      <vt:lpstr>verdana</vt:lpstr>
      <vt:lpstr>verdana</vt:lpstr>
      <vt:lpstr>Webdings</vt:lpstr>
      <vt:lpstr>os-8</vt:lpstr>
      <vt:lpstr>PowerPoint Presentation</vt:lpstr>
      <vt:lpstr>Mobile Device Security</vt:lpstr>
      <vt:lpstr>Organization</vt:lpstr>
      <vt:lpstr>Overview of Mobile Devices</vt:lpstr>
      <vt:lpstr>Organization</vt:lpstr>
      <vt:lpstr>Mobile Threats and Attacks</vt:lpstr>
      <vt:lpstr>Mobile Device Loss/Theft</vt:lpstr>
      <vt:lpstr>Device Malware</vt:lpstr>
      <vt:lpstr>Device Search and Seizure</vt:lpstr>
      <vt:lpstr>Location Disclosure</vt:lpstr>
      <vt:lpstr>Organization</vt:lpstr>
      <vt:lpstr>Mobile Access Control</vt:lpstr>
      <vt:lpstr>Authentication: Categories</vt:lpstr>
      <vt:lpstr>Authentication: Passwords</vt:lpstr>
      <vt:lpstr>Authentication: Smart Cards/ Security Tokens</vt:lpstr>
      <vt:lpstr>Authentication: Biometrics</vt:lpstr>
      <vt:lpstr>Authentication: Pattern Lock</vt:lpstr>
      <vt:lpstr>Authentication: Comparison</vt:lpstr>
      <vt:lpstr>DiffUser (1)</vt:lpstr>
      <vt:lpstr>DiffUser (2)</vt:lpstr>
      <vt:lpstr>Mobile Device Information Leakage</vt:lpstr>
      <vt:lpstr>Information Flow Tracking (IFT)</vt:lpstr>
      <vt:lpstr>TaintDroid </vt:lpstr>
      <vt:lpstr>Location Privacy Protection</vt:lpstr>
      <vt:lpstr>Summary</vt:lpstr>
      <vt:lpstr>Conclusions and summary</vt:lpstr>
      <vt:lpstr>References (1)</vt:lpstr>
      <vt:lpstr>References (2)</vt:lpstr>
      <vt:lpstr>References (3)</vt:lpstr>
      <vt:lpstr>References (4)</vt:lpstr>
      <vt:lpstr>The End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Microsoft Office User</cp:lastModifiedBy>
  <cp:revision>312</cp:revision>
  <cp:lastPrinted>2001-06-14T13:58:17Z</cp:lastPrinted>
  <dcterms:created xsi:type="dcterms:W3CDTF">2011-01-13T23:43:38Z</dcterms:created>
  <dcterms:modified xsi:type="dcterms:W3CDTF">2023-12-15T23:32:19Z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0x0101009FE5C92F24E4244AAD2ED8B96D617959</vt:lpwstr>
  </property>
</Properties>
</file>