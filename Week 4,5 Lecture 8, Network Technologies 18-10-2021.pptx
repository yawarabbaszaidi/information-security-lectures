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483" r:id="rId5"/>
    <p:sldId id="488" r:id="rId6"/>
    <p:sldId id="489" r:id="rId7"/>
    <p:sldId id="501" r:id="rId8"/>
    <p:sldId id="490" r:id="rId9"/>
    <p:sldId id="528" r:id="rId10"/>
    <p:sldId id="529" r:id="rId11"/>
    <p:sldId id="269" r:id="rId12"/>
    <p:sldId id="532" r:id="rId13"/>
    <p:sldId id="510" r:id="rId14"/>
    <p:sldId id="511" r:id="rId15"/>
    <p:sldId id="509" r:id="rId16"/>
    <p:sldId id="514" r:id="rId17"/>
    <p:sldId id="282" r:id="rId18"/>
    <p:sldId id="645" r:id="rId19"/>
    <p:sldId id="643" r:id="rId20"/>
    <p:sldId id="275" r:id="rId21"/>
    <p:sldId id="278" r:id="rId22"/>
    <p:sldId id="656" r:id="rId23"/>
    <p:sldId id="276" r:id="rId24"/>
    <p:sldId id="277" r:id="rId25"/>
    <p:sldId id="283" r:id="rId26"/>
    <p:sldId id="301" r:id="rId27"/>
    <p:sldId id="635" r:id="rId28"/>
    <p:sldId id="536" r:id="rId29"/>
    <p:sldId id="535" r:id="rId30"/>
    <p:sldId id="538" r:id="rId31"/>
    <p:sldId id="537" r:id="rId32"/>
    <p:sldId id="540" r:id="rId33"/>
    <p:sldId id="285" r:id="rId34"/>
    <p:sldId id="542" r:id="rId35"/>
    <p:sldId id="541" r:id="rId36"/>
    <p:sldId id="300" r:id="rId37"/>
    <p:sldId id="298" r:id="rId38"/>
    <p:sldId id="556" r:id="rId39"/>
    <p:sldId id="558" r:id="rId40"/>
    <p:sldId id="302" r:id="rId41"/>
    <p:sldId id="315" r:id="rId42"/>
    <p:sldId id="585" r:id="rId43"/>
    <p:sldId id="326" r:id="rId44"/>
    <p:sldId id="327" r:id="rId45"/>
    <p:sldId id="328" r:id="rId46"/>
    <p:sldId id="329" r:id="rId47"/>
    <p:sldId id="589" r:id="rId48"/>
    <p:sldId id="330" r:id="rId49"/>
    <p:sldId id="331" r:id="rId50"/>
    <p:sldId id="658" r:id="rId51"/>
    <p:sldId id="332" r:id="rId52"/>
    <p:sldId id="335" r:id="rId53"/>
    <p:sldId id="593" r:id="rId54"/>
    <p:sldId id="594" r:id="rId55"/>
    <p:sldId id="595" r:id="rId56"/>
    <p:sldId id="597" r:id="rId57"/>
    <p:sldId id="659" r:id="rId58"/>
    <p:sldId id="601" r:id="rId59"/>
    <p:sldId id="602" r:id="rId60"/>
    <p:sldId id="604" r:id="rId61"/>
    <p:sldId id="606" r:id="rId62"/>
    <p:sldId id="607" r:id="rId63"/>
    <p:sldId id="339" r:id="rId64"/>
    <p:sldId id="350" r:id="rId65"/>
    <p:sldId id="608" r:id="rId66"/>
    <p:sldId id="609" r:id="rId67"/>
    <p:sldId id="610" r:id="rId68"/>
    <p:sldId id="342" r:id="rId69"/>
    <p:sldId id="660" r:id="rId70"/>
    <p:sldId id="344" r:id="rId71"/>
    <p:sldId id="345" r:id="rId72"/>
    <p:sldId id="346" r:id="rId73"/>
    <p:sldId id="347" r:id="rId74"/>
    <p:sldId id="348" r:id="rId75"/>
    <p:sldId id="611" r:id="rId76"/>
    <p:sldId id="351" r:id="rId77"/>
    <p:sldId id="352" r:id="rId78"/>
    <p:sldId id="354" r:id="rId79"/>
    <p:sldId id="357" r:id="rId80"/>
    <p:sldId id="358" r:id="rId81"/>
    <p:sldId id="359" r:id="rId82"/>
    <p:sldId id="376" r:id="rId83"/>
    <p:sldId id="377" r:id="rId84"/>
    <p:sldId id="378" r:id="rId85"/>
    <p:sldId id="383" r:id="rId86"/>
    <p:sldId id="381" r:id="rId87"/>
    <p:sldId id="382" r:id="rId88"/>
    <p:sldId id="384" r:id="rId89"/>
    <p:sldId id="379" r:id="rId90"/>
    <p:sldId id="385" r:id="rId91"/>
    <p:sldId id="386" r:id="rId92"/>
    <p:sldId id="637" r:id="rId93"/>
    <p:sldId id="387" r:id="rId94"/>
    <p:sldId id="388" r:id="rId95"/>
    <p:sldId id="389" r:id="rId96"/>
    <p:sldId id="391" r:id="rId97"/>
    <p:sldId id="392" r:id="rId98"/>
    <p:sldId id="394" r:id="rId99"/>
    <p:sldId id="393" r:id="rId100"/>
    <p:sldId id="395" r:id="rId101"/>
    <p:sldId id="396" r:id="rId102"/>
    <p:sldId id="397" r:id="rId103"/>
    <p:sldId id="613" r:id="rId104"/>
    <p:sldId id="614" r:id="rId105"/>
    <p:sldId id="615" r:id="rId106"/>
    <p:sldId id="654" r:id="rId107"/>
    <p:sldId id="638" r:id="rId108"/>
    <p:sldId id="648" r:id="rId109"/>
    <p:sldId id="652" r:id="rId110"/>
    <p:sldId id="653" r:id="rId111"/>
    <p:sldId id="655" r:id="rId112"/>
    <p:sldId id="616" r:id="rId113"/>
    <p:sldId id="617" r:id="rId114"/>
    <p:sldId id="618" r:id="rId115"/>
    <p:sldId id="667" r:id="rId116"/>
    <p:sldId id="623" r:id="rId117"/>
    <p:sldId id="628" r:id="rId118"/>
    <p:sldId id="629" r:id="rId119"/>
    <p:sldId id="630" r:id="rId120"/>
    <p:sldId id="405" r:id="rId121"/>
    <p:sldId id="406" r:id="rId122"/>
    <p:sldId id="407" r:id="rId123"/>
    <p:sldId id="408" r:id="rId124"/>
    <p:sldId id="409" r:id="rId125"/>
    <p:sldId id="415" r:id="rId126"/>
    <p:sldId id="416" r:id="rId127"/>
    <p:sldId id="421" r:id="rId128"/>
    <p:sldId id="634" r:id="rId129"/>
    <p:sldId id="435" r:id="rId130"/>
    <p:sldId id="436" r:id="rId131"/>
    <p:sldId id="418" r:id="rId132"/>
    <p:sldId id="478" r:id="rId133"/>
    <p:sldId id="479" r:id="rId134"/>
    <p:sldId id="480" r:id="rId135"/>
    <p:sldId id="481" r:id="rId136"/>
    <p:sldId id="473" r:id="rId137"/>
    <p:sldId id="474" r:id="rId138"/>
    <p:sldId id="475" r:id="rId139"/>
    <p:sldId id="422" r:id="rId140"/>
    <p:sldId id="561" r:id="rId141"/>
    <p:sldId id="477" r:id="rId142"/>
    <p:sldId id="443" r:id="rId143"/>
    <p:sldId id="444" r:id="rId144"/>
    <p:sldId id="445" r:id="rId145"/>
    <p:sldId id="446" r:id="rId146"/>
    <p:sldId id="447" r:id="rId147"/>
    <p:sldId id="448" r:id="rId148"/>
    <p:sldId id="449" r:id="rId149"/>
    <p:sldId id="450" r:id="rId150"/>
    <p:sldId id="451" r:id="rId151"/>
    <p:sldId id="452" r:id="rId152"/>
    <p:sldId id="453" r:id="rId153"/>
    <p:sldId id="661" r:id="rId154"/>
    <p:sldId id="662" r:id="rId155"/>
    <p:sldId id="454" r:id="rId156"/>
    <p:sldId id="663" r:id="rId157"/>
    <p:sldId id="455" r:id="rId158"/>
    <p:sldId id="456" r:id="rId159"/>
    <p:sldId id="457" r:id="rId160"/>
    <p:sldId id="458" r:id="rId161"/>
    <p:sldId id="459" r:id="rId162"/>
    <p:sldId id="460" r:id="rId163"/>
    <p:sldId id="461" r:id="rId164"/>
    <p:sldId id="646" r:id="rId165"/>
    <p:sldId id="647" r:id="rId166"/>
    <p:sldId id="463" r:id="rId167"/>
    <p:sldId id="664" r:id="rId168"/>
    <p:sldId id="666" r:id="rId169"/>
    <p:sldId id="464" r:id="rId170"/>
    <p:sldId id="466" r:id="rId171"/>
    <p:sldId id="665" r:id="rId172"/>
    <p:sldId id="468" r:id="rId173"/>
    <p:sldId id="469" r:id="rId174"/>
    <p:sldId id="470" r:id="rId175"/>
    <p:sldId id="433" r:id="rId176"/>
    <p:sldId id="639" r:id="rId177"/>
    <p:sldId id="640" r:id="rId178"/>
    <p:sldId id="641" r:id="rId179"/>
    <p:sldId id="471" r:id="rId180"/>
    <p:sldId id="642" r:id="rId181"/>
  </p:sldIdLst>
  <p:sldSz cx="9144000" cy="6858000" type="screen4x3"/>
  <p:notesSz cx="6858000" cy="9144000"/>
  <p:defaultTextStyle>
    <a:defPPr>
      <a:defRPr lang="en-US"/>
    </a:defPPr>
    <a:lvl1pPr algn="ctr" rtl="0" fontAlgn="base">
      <a:spcBef>
        <a:spcPct val="0"/>
      </a:spcBef>
      <a:spcAft>
        <a:spcPct val="0"/>
      </a:spcAft>
      <a:defRPr kern="1200">
        <a:solidFill>
          <a:schemeClr val="tx1"/>
        </a:solidFill>
        <a:latin typeface="Arial" charset="0"/>
        <a:ea typeface="+mn-ea"/>
        <a:cs typeface="Arial" charset="0"/>
      </a:defRPr>
    </a:lvl1pPr>
    <a:lvl2pPr marL="457200" algn="ctr" rtl="0" fontAlgn="base">
      <a:spcBef>
        <a:spcPct val="0"/>
      </a:spcBef>
      <a:spcAft>
        <a:spcPct val="0"/>
      </a:spcAft>
      <a:defRPr kern="1200">
        <a:solidFill>
          <a:schemeClr val="tx1"/>
        </a:solidFill>
        <a:latin typeface="Arial" charset="0"/>
        <a:ea typeface="+mn-ea"/>
        <a:cs typeface="Arial" charset="0"/>
      </a:defRPr>
    </a:lvl2pPr>
    <a:lvl3pPr marL="914400" algn="ctr" rtl="0" fontAlgn="base">
      <a:spcBef>
        <a:spcPct val="0"/>
      </a:spcBef>
      <a:spcAft>
        <a:spcPct val="0"/>
      </a:spcAft>
      <a:defRPr kern="1200">
        <a:solidFill>
          <a:schemeClr val="tx1"/>
        </a:solidFill>
        <a:latin typeface="Arial" charset="0"/>
        <a:ea typeface="+mn-ea"/>
        <a:cs typeface="Arial" charset="0"/>
      </a:defRPr>
    </a:lvl3pPr>
    <a:lvl4pPr marL="1371600" algn="ctr" rtl="0" fontAlgn="base">
      <a:spcBef>
        <a:spcPct val="0"/>
      </a:spcBef>
      <a:spcAft>
        <a:spcPct val="0"/>
      </a:spcAft>
      <a:defRPr kern="1200">
        <a:solidFill>
          <a:schemeClr val="tx1"/>
        </a:solidFill>
        <a:latin typeface="Arial" charset="0"/>
        <a:ea typeface="+mn-ea"/>
        <a:cs typeface="Arial" charset="0"/>
      </a:defRPr>
    </a:lvl4pPr>
    <a:lvl5pPr marL="1828800" algn="ctr"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437E86-3419-4BF7-9C00-3CC7854971F9}" v="2" dt="2021-10-22T20:21:52.6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091" autoAdjust="0"/>
    <p:restoredTop sz="94611"/>
  </p:normalViewPr>
  <p:slideViewPr>
    <p:cSldViewPr>
      <p:cViewPr varScale="1">
        <p:scale>
          <a:sx n="120" d="100"/>
          <a:sy n="120" d="100"/>
        </p:scale>
        <p:origin x="1032"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presProps" Target="presProps.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slide" Target="slides/slide163.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183"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slide" Target="slides/slide169.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theme" Target="theme/theme1.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80" Type="http://schemas.openxmlformats.org/officeDocument/2006/relationships/slide" Target="slides/slide176.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microsoft.com/office/2016/11/relationships/changesInfo" Target="changesInfos/changesInfo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microsoft.com/office/2015/10/relationships/revisionInfo" Target="revisionInfo.xml"/><Relationship Id="rId1" Type="http://schemas.openxmlformats.org/officeDocument/2006/relationships/customXml" Target="../customXml/item1.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WAR ALI" userId="S::sp20-ris-004@isbstudent.comsats.edu.pk::3934391d-a17d-4c22-b163-febebe8aae9f" providerId="AD" clId="Web-{FA437E86-3419-4BF7-9C00-3CC7854971F9}"/>
    <pc:docChg chg="modSld">
      <pc:chgData name="ANWAR ALI" userId="S::sp20-ris-004@isbstudent.comsats.edu.pk::3934391d-a17d-4c22-b163-febebe8aae9f" providerId="AD" clId="Web-{FA437E86-3419-4BF7-9C00-3CC7854971F9}" dt="2021-10-22T20:21:52.643" v="1" actId="20577"/>
      <pc:docMkLst>
        <pc:docMk/>
      </pc:docMkLst>
      <pc:sldChg chg="modSp">
        <pc:chgData name="ANWAR ALI" userId="S::sp20-ris-004@isbstudent.comsats.edu.pk::3934391d-a17d-4c22-b163-febebe8aae9f" providerId="AD" clId="Web-{FA437E86-3419-4BF7-9C00-3CC7854971F9}" dt="2021-10-22T20:21:52.643" v="1" actId="20577"/>
        <pc:sldMkLst>
          <pc:docMk/>
          <pc:sldMk cId="0" sldId="277"/>
        </pc:sldMkLst>
        <pc:spChg chg="mod">
          <ac:chgData name="ANWAR ALI" userId="S::sp20-ris-004@isbstudent.comsats.edu.pk::3934391d-a17d-4c22-b163-febebe8aae9f" providerId="AD" clId="Web-{FA437E86-3419-4BF7-9C00-3CC7854971F9}" dt="2021-10-22T20:21:52.643" v="1" actId="20577"/>
          <ac:spMkLst>
            <pc:docMk/>
            <pc:sldMk cId="0" sldId="277"/>
            <ac:spMk id="55299"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a:xfrm>
            <a:off x="457200" y="6476999"/>
            <a:ext cx="2133600" cy="274320"/>
          </a:xfrm>
          <a:prstGeom prst="rect">
            <a:avLst/>
          </a:prstGeom>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a:xfrm>
            <a:off x="8204396" y="6476999"/>
            <a:ext cx="733864" cy="274320"/>
          </a:xfrm>
          <a:prstGeom prst="rect">
            <a:avLst/>
          </a:prstGeom>
        </p:spPr>
        <p:txBody>
          <a:bodyPr/>
          <a:lstStyle/>
          <a:p>
            <a:pPr>
              <a:defRPr/>
            </a:pPr>
            <a:fld id="{D6A3CB0A-E48E-4715-9790-362935A6EAE7}" type="slidenum">
              <a:rPr lang="en-US" smtClean="0"/>
              <a:pPr>
                <a:defRPr/>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457200" y="6476999"/>
            <a:ext cx="2133600" cy="274320"/>
          </a:xfrm>
          <a:prstGeom prst="rect">
            <a:avLst/>
          </a:prstGeom>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a:xfrm>
            <a:off x="8204396" y="6476999"/>
            <a:ext cx="733864" cy="274320"/>
          </a:xfrm>
          <a:prstGeom prst="rect">
            <a:avLst/>
          </a:prstGeom>
        </p:spPr>
        <p:txBody>
          <a:bodyPr/>
          <a:lstStyle/>
          <a:p>
            <a:pPr>
              <a:defRPr/>
            </a:pPr>
            <a:fld id="{217FB93E-B2CC-47D0-83D3-C5AFF1C94691}"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a:t>Click to edit Master title style</a:t>
            </a:r>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457200" y="6476999"/>
            <a:ext cx="2133600" cy="274320"/>
          </a:xfrm>
          <a:prstGeom prst="rect">
            <a:avLst/>
          </a:prstGeom>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a:xfrm>
            <a:off x="8204396" y="6476999"/>
            <a:ext cx="733864" cy="274320"/>
          </a:xfrm>
          <a:prstGeom prst="rect">
            <a:avLst/>
          </a:prstGeom>
        </p:spPr>
        <p:txBody>
          <a:bodyPr/>
          <a:lstStyle/>
          <a:p>
            <a:pPr>
              <a:defRPr/>
            </a:pPr>
            <a:fld id="{84CB3E25-B1C9-4AAB-A9DA-45C7E353D77B}" type="slidenum">
              <a:rPr lang="en-US" smtClean="0"/>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457200" y="6476999"/>
            <a:ext cx="2133600" cy="274320"/>
          </a:xfrm>
          <a:prstGeom prst="rect">
            <a:avLst/>
          </a:prstGeom>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a:xfrm>
            <a:off x="8204396" y="6476999"/>
            <a:ext cx="733864" cy="274320"/>
          </a:xfrm>
          <a:prstGeom prst="rect">
            <a:avLst/>
          </a:prstGeom>
        </p:spPr>
        <p:txBody>
          <a:bodyPr/>
          <a:lstStyle/>
          <a:p>
            <a:pPr>
              <a:defRPr/>
            </a:pPr>
            <a:fld id="{F9E05839-5CD9-4814-847C-422DEE46E694}"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a:xfrm>
            <a:off x="457200" y="6476999"/>
            <a:ext cx="2133600" cy="274320"/>
          </a:xfrm>
          <a:prstGeom prst="rect">
            <a:avLst/>
          </a:prstGeom>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a:xfrm>
            <a:off x="8204396" y="6476999"/>
            <a:ext cx="733864" cy="274320"/>
          </a:xfrm>
          <a:prstGeom prst="rect">
            <a:avLst/>
          </a:prstGeom>
        </p:spPr>
        <p:txBody>
          <a:bodyPr/>
          <a:lstStyle/>
          <a:p>
            <a:pPr>
              <a:defRPr/>
            </a:pPr>
            <a:fld id="{D035A979-354F-4EF8-9521-B838FF108B21}"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a:xfrm>
            <a:off x="457200" y="6476999"/>
            <a:ext cx="2133600" cy="274320"/>
          </a:xfrm>
          <a:prstGeom prst="rect">
            <a:avLst/>
          </a:prstGeom>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a:xfrm>
            <a:off x="8204396" y="6476999"/>
            <a:ext cx="733864" cy="274320"/>
          </a:xfrm>
          <a:prstGeom prst="rect">
            <a:avLst/>
          </a:prstGeom>
        </p:spPr>
        <p:txBody>
          <a:bodyPr/>
          <a:lstStyle/>
          <a:p>
            <a:pPr>
              <a:defRPr/>
            </a:pPr>
            <a:fld id="{ADACEA91-5F3F-4855-9DB3-D2781B84679F}"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476999"/>
            <a:ext cx="2133600" cy="274320"/>
          </a:xfrm>
          <a:prstGeom prst="rect">
            <a:avLst/>
          </a:prstGeom>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a:xfrm>
            <a:off x="8204396" y="6476999"/>
            <a:ext cx="733864" cy="274320"/>
          </a:xfrm>
          <a:prstGeom prst="rect">
            <a:avLst/>
          </a:prstGeom>
        </p:spPr>
        <p:txBody>
          <a:bodyPr/>
          <a:lstStyle/>
          <a:p>
            <a:pPr>
              <a:defRPr/>
            </a:pPr>
            <a:fld id="{314A729F-9523-4113-8A8B-5DD0FDF5EE47}"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457200" y="6476999"/>
            <a:ext cx="2133600" cy="274320"/>
          </a:xfrm>
          <a:prstGeom prst="rect">
            <a:avLst/>
          </a:prstGeom>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a:xfrm>
            <a:off x="8204396" y="6476999"/>
            <a:ext cx="733864" cy="274320"/>
          </a:xfrm>
          <a:prstGeom prst="rect">
            <a:avLst/>
          </a:prstGeom>
        </p:spPr>
        <p:txBody>
          <a:bodyPr/>
          <a:lstStyle/>
          <a:p>
            <a:pPr>
              <a:defRPr/>
            </a:pPr>
            <a:fld id="{68B139E1-0E68-442D-B9B8-882F0FF35B76}" type="slidenum">
              <a:rPr lang="en-US" smtClean="0"/>
              <a:pPr>
                <a:defRPr/>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a:prstGeom prst="rect">
            <a:avLst/>
          </a:prstGeom>
        </p:spPr>
        <p:txBody>
          <a:bodyPr/>
          <a:lstStyle/>
          <a:p>
            <a:pPr>
              <a:defRPr/>
            </a:pPr>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pPr>
              <a:defRPr/>
            </a:pPr>
            <a:endParaRPr lang="en-US"/>
          </a:p>
        </p:txBody>
      </p:sp>
      <p:sp>
        <p:nvSpPr>
          <p:cNvPr id="7" name="Slide Number Placeholder 6"/>
          <p:cNvSpPr>
            <a:spLocks noGrp="1"/>
          </p:cNvSpPr>
          <p:nvPr>
            <p:ph type="sldNum" sz="quarter" idx="12"/>
          </p:nvPr>
        </p:nvSpPr>
        <p:spPr>
          <a:xfrm>
            <a:off x="8339328" y="1170432"/>
            <a:ext cx="733864" cy="201168"/>
          </a:xfrm>
          <a:prstGeom prst="rect">
            <a:avLst/>
          </a:prstGeom>
        </p:spPr>
        <p:txBody>
          <a:bodyPr/>
          <a:lstStyle/>
          <a:p>
            <a:pPr>
              <a:defRPr/>
            </a:pPr>
            <a:fld id="{A54BC6C2-4B11-4C26-AF87-D87309507D65}"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457200" y="6476999"/>
            <a:ext cx="2133600" cy="274320"/>
          </a:xfrm>
          <a:prstGeom prst="rect">
            <a:avLst/>
          </a:prstGeom>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a:xfrm>
            <a:off x="8204396" y="6476999"/>
            <a:ext cx="733864" cy="274320"/>
          </a:xfrm>
          <a:prstGeom prst="rect">
            <a:avLst/>
          </a:prstGeom>
        </p:spPr>
        <p:txBody>
          <a:bodyPr/>
          <a:lstStyle/>
          <a:p>
            <a:pPr>
              <a:defRPr/>
            </a:pPr>
            <a:fld id="{34587436-7CD9-4FFF-B96B-1825678C97F6}"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457200" y="6476999"/>
            <a:ext cx="2133600" cy="274320"/>
          </a:xfrm>
          <a:prstGeom prst="rect">
            <a:avLst/>
          </a:prstGeom>
        </p:spPr>
        <p:txBody>
          <a:bodyPr/>
          <a:lstStyle/>
          <a:p>
            <a:pPr>
              <a:defRPr/>
            </a:pPr>
            <a:endParaRPr lang="en-US"/>
          </a:p>
        </p:txBody>
      </p:sp>
      <p:sp>
        <p:nvSpPr>
          <p:cNvPr id="5" name="Footer Placeholder 4"/>
          <p:cNvSpPr>
            <a:spLocks noGrp="1"/>
          </p:cNvSpPr>
          <p:nvPr>
            <p:ph type="ftr" sz="quarter" idx="11"/>
          </p:nvPr>
        </p:nvSpPr>
        <p:spPr>
          <a:xfrm>
            <a:off x="2640597" y="6377459"/>
            <a:ext cx="3836404" cy="365125"/>
          </a:xfrm>
        </p:spPr>
        <p:txBody>
          <a:bodyPr/>
          <a:lstStyle/>
          <a:p>
            <a:pPr>
              <a:defRPr/>
            </a:pPr>
            <a:endParaRPr lang="en-US"/>
          </a:p>
        </p:txBody>
      </p:sp>
      <p:sp>
        <p:nvSpPr>
          <p:cNvPr id="6" name="Slide Number Placeholder 5"/>
          <p:cNvSpPr>
            <a:spLocks noGrp="1"/>
          </p:cNvSpPr>
          <p:nvPr>
            <p:ph type="sldNum" sz="quarter" idx="12"/>
          </p:nvPr>
        </p:nvSpPr>
        <p:spPr>
          <a:xfrm>
            <a:off x="8204396" y="6476999"/>
            <a:ext cx="733864" cy="274320"/>
          </a:xfrm>
          <a:prstGeom prst="rect">
            <a:avLst/>
          </a:prstGeom>
        </p:spPr>
        <p:txBody>
          <a:bodyPr/>
          <a:lstStyle/>
          <a:p>
            <a:pPr>
              <a:defRPr/>
            </a:pPr>
            <a:fld id="{28E049A2-8C36-40CD-9F48-1BC425F4EE32}"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a:t>Click to edit Master title style</a:t>
            </a:r>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pPr>
              <a:defRPr/>
            </a:pPr>
            <a:endParaRPr lang="en-US"/>
          </a:p>
        </p:txBody>
      </p:sp>
      <p:pic>
        <p:nvPicPr>
          <p:cNvPr id="9" name="Picture 8" descr="J:\Brians Documents\paladingrp\PaladinGroup-logo.png"/>
          <p:cNvPicPr>
            <a:picLocks noChangeAspect="1" noChangeArrowheads="1"/>
          </p:cNvPicPr>
          <p:nvPr userDrawn="1"/>
        </p:nvPicPr>
        <p:blipFill>
          <a:blip r:embed="rId13" cstate="print"/>
          <a:srcRect/>
          <a:stretch>
            <a:fillRect/>
          </a:stretch>
        </p:blipFill>
        <p:spPr bwMode="auto">
          <a:xfrm>
            <a:off x="7620000" y="6346018"/>
            <a:ext cx="1442080" cy="511982"/>
          </a:xfrm>
          <a:prstGeom prst="rect">
            <a:avLst/>
          </a:prstGeom>
          <a:noFill/>
          <a:ln w="9525">
            <a:noFill/>
            <a:miter lim="800000"/>
            <a:headEnd/>
            <a:tailEnd/>
          </a:ln>
        </p:spPr>
      </p:pic>
      <p:sp>
        <p:nvSpPr>
          <p:cNvPr id="12" name="Slide Number Placeholder 5"/>
          <p:cNvSpPr>
            <a:spLocks noGrp="1"/>
          </p:cNvSpPr>
          <p:nvPr>
            <p:ph type="sldNum" sz="quarter" idx="4"/>
          </p:nvPr>
        </p:nvSpPr>
        <p:spPr>
          <a:xfrm>
            <a:off x="0" y="6477000"/>
            <a:ext cx="381000"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51FDABF2-8568-4284-A42E-6743BE8BA1EC}"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hyperlink" Target="http://www.paladingrp.com/" TargetMode="Externa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hyperlink" Target="http://www.ebay.com/" TargetMode="Externa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4"/>
          <p:cNvSpPr>
            <a:spLocks noGrp="1" noChangeArrowheads="1"/>
          </p:cNvSpPr>
          <p:nvPr>
            <p:ph type="ctrTitle"/>
          </p:nvPr>
        </p:nvSpPr>
        <p:spPr>
          <a:xfrm>
            <a:off x="609600" y="2590800"/>
            <a:ext cx="8153400" cy="2438400"/>
          </a:xfrm>
        </p:spPr>
        <p:txBody>
          <a:bodyPr>
            <a:normAutofit fontScale="90000"/>
          </a:bodyPr>
          <a:lstStyle/>
          <a:p>
            <a:r>
              <a:rPr lang="en-US" dirty="0"/>
              <a:t>Telecommunications and Network Security</a:t>
            </a:r>
            <a:br>
              <a:rPr lang="en-US" dirty="0"/>
            </a:br>
            <a:r>
              <a:rPr lang="en-US"/>
              <a:t>Week5 </a:t>
            </a:r>
            <a:br>
              <a:rPr lang="en-US" dirty="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r>
              <a:rPr lang="en-US"/>
              <a:t>OSI Model</a:t>
            </a:r>
          </a:p>
        </p:txBody>
      </p:sp>
      <p:sp>
        <p:nvSpPr>
          <p:cNvPr id="4099" name="Rectangle 3"/>
          <p:cNvSpPr>
            <a:spLocks noGrp="1" noChangeArrowheads="1"/>
          </p:cNvSpPr>
          <p:nvPr>
            <p:ph type="subTitle" idx="1"/>
          </p:nvPr>
        </p:nvSpPr>
        <p:spPr/>
        <p:txBody>
          <a:bodyPr/>
          <a:lstStyle/>
          <a:p>
            <a:r>
              <a:rPr lang="en-US"/>
              <a:t>Oh no…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OSI</a:t>
            </a:r>
          </a:p>
        </p:txBody>
      </p:sp>
      <p:pic>
        <p:nvPicPr>
          <p:cNvPr id="5123" name="Picture 3" descr="osi"/>
          <p:cNvPicPr>
            <a:picLocks noChangeAspect="1" noChangeArrowheads="1"/>
          </p:cNvPicPr>
          <p:nvPr/>
        </p:nvPicPr>
        <p:blipFill>
          <a:blip r:embed="rId2" cstate="print"/>
          <a:srcRect t="83073"/>
          <a:stretch>
            <a:fillRect/>
          </a:stretch>
        </p:blipFill>
        <p:spPr bwMode="auto">
          <a:xfrm>
            <a:off x="3276600" y="5715000"/>
            <a:ext cx="2786063" cy="915988"/>
          </a:xfrm>
          <a:prstGeom prst="rect">
            <a:avLst/>
          </a:prstGeom>
          <a:noFill/>
          <a:ln w="9525">
            <a:noFill/>
            <a:miter lim="800000"/>
            <a:headEnd/>
            <a:tailEnd/>
          </a:ln>
        </p:spPr>
      </p:pic>
      <p:pic>
        <p:nvPicPr>
          <p:cNvPr id="4" name="Picture 3" descr="osi"/>
          <p:cNvPicPr>
            <a:picLocks noChangeAspect="1" noChangeArrowheads="1"/>
          </p:cNvPicPr>
          <p:nvPr/>
        </p:nvPicPr>
        <p:blipFill>
          <a:blip r:embed="rId2" cstate="print"/>
          <a:srcRect t="68994"/>
          <a:stretch>
            <a:fillRect/>
          </a:stretch>
        </p:blipFill>
        <p:spPr bwMode="auto">
          <a:xfrm>
            <a:off x="3276600" y="4953000"/>
            <a:ext cx="2786063" cy="1677988"/>
          </a:xfrm>
          <a:prstGeom prst="rect">
            <a:avLst/>
          </a:prstGeom>
          <a:noFill/>
          <a:ln w="9525">
            <a:noFill/>
            <a:miter lim="800000"/>
            <a:headEnd/>
            <a:tailEnd/>
          </a:ln>
        </p:spPr>
      </p:pic>
      <p:pic>
        <p:nvPicPr>
          <p:cNvPr id="5" name="Picture 3" descr="osi"/>
          <p:cNvPicPr>
            <a:picLocks noChangeAspect="1" noChangeArrowheads="1"/>
          </p:cNvPicPr>
          <p:nvPr/>
        </p:nvPicPr>
        <p:blipFill>
          <a:blip r:embed="rId2" cstate="print"/>
          <a:srcRect t="54913"/>
          <a:stretch>
            <a:fillRect/>
          </a:stretch>
        </p:blipFill>
        <p:spPr bwMode="auto">
          <a:xfrm>
            <a:off x="3276600" y="4191000"/>
            <a:ext cx="2786063" cy="2439988"/>
          </a:xfrm>
          <a:prstGeom prst="rect">
            <a:avLst/>
          </a:prstGeom>
          <a:noFill/>
          <a:ln w="9525">
            <a:noFill/>
            <a:miter lim="800000"/>
            <a:headEnd/>
            <a:tailEnd/>
          </a:ln>
        </p:spPr>
      </p:pic>
      <p:pic>
        <p:nvPicPr>
          <p:cNvPr id="6" name="Picture 3" descr="osi"/>
          <p:cNvPicPr>
            <a:picLocks noChangeAspect="1" noChangeArrowheads="1"/>
          </p:cNvPicPr>
          <p:nvPr/>
        </p:nvPicPr>
        <p:blipFill>
          <a:blip r:embed="rId2" cstate="print"/>
          <a:srcRect t="40833"/>
          <a:stretch>
            <a:fillRect/>
          </a:stretch>
        </p:blipFill>
        <p:spPr bwMode="auto">
          <a:xfrm>
            <a:off x="3276600" y="3429000"/>
            <a:ext cx="2786063" cy="3201988"/>
          </a:xfrm>
          <a:prstGeom prst="rect">
            <a:avLst/>
          </a:prstGeom>
          <a:noFill/>
          <a:ln w="9525">
            <a:noFill/>
            <a:miter lim="800000"/>
            <a:headEnd/>
            <a:tailEnd/>
          </a:ln>
        </p:spPr>
      </p:pic>
      <p:pic>
        <p:nvPicPr>
          <p:cNvPr id="7" name="Picture 3" descr="osi"/>
          <p:cNvPicPr>
            <a:picLocks noChangeAspect="1" noChangeArrowheads="1"/>
          </p:cNvPicPr>
          <p:nvPr/>
        </p:nvPicPr>
        <p:blipFill>
          <a:blip r:embed="rId2" cstate="print"/>
          <a:srcRect t="26753"/>
          <a:stretch>
            <a:fillRect/>
          </a:stretch>
        </p:blipFill>
        <p:spPr bwMode="auto">
          <a:xfrm>
            <a:off x="3276600" y="2667000"/>
            <a:ext cx="2786063" cy="3963988"/>
          </a:xfrm>
          <a:prstGeom prst="rect">
            <a:avLst/>
          </a:prstGeom>
          <a:noFill/>
          <a:ln w="9525">
            <a:noFill/>
            <a:miter lim="800000"/>
            <a:headEnd/>
            <a:tailEnd/>
          </a:ln>
        </p:spPr>
      </p:pic>
      <p:pic>
        <p:nvPicPr>
          <p:cNvPr id="8" name="Picture 3" descr="osi"/>
          <p:cNvPicPr>
            <a:picLocks noChangeAspect="1" noChangeArrowheads="1"/>
          </p:cNvPicPr>
          <p:nvPr/>
        </p:nvPicPr>
        <p:blipFill>
          <a:blip r:embed="rId2" cstate="print"/>
          <a:srcRect t="12672"/>
          <a:stretch>
            <a:fillRect/>
          </a:stretch>
        </p:blipFill>
        <p:spPr bwMode="auto">
          <a:xfrm>
            <a:off x="3276600" y="1905000"/>
            <a:ext cx="2786063" cy="4725988"/>
          </a:xfrm>
          <a:prstGeom prst="rect">
            <a:avLst/>
          </a:prstGeom>
          <a:noFill/>
          <a:ln w="9525">
            <a:noFill/>
            <a:miter lim="800000"/>
            <a:headEnd/>
            <a:tailEnd/>
          </a:ln>
        </p:spPr>
      </p:pic>
      <p:pic>
        <p:nvPicPr>
          <p:cNvPr id="9" name="Picture 3" descr="osi"/>
          <p:cNvPicPr>
            <a:picLocks noChangeAspect="1" noChangeArrowheads="1"/>
          </p:cNvPicPr>
          <p:nvPr/>
        </p:nvPicPr>
        <p:blipFill>
          <a:blip r:embed="rId2" cstate="print"/>
          <a:srcRect/>
          <a:stretch>
            <a:fillRect/>
          </a:stretch>
        </p:blipFill>
        <p:spPr bwMode="auto">
          <a:xfrm>
            <a:off x="3276600" y="1600200"/>
            <a:ext cx="2589919" cy="50307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OSI model 485</a:t>
            </a:r>
          </a:p>
        </p:txBody>
      </p:sp>
      <p:sp>
        <p:nvSpPr>
          <p:cNvPr id="6147" name="Rectangle 3"/>
          <p:cNvSpPr>
            <a:spLocks noGrp="1" noChangeArrowheads="1"/>
          </p:cNvSpPr>
          <p:nvPr>
            <p:ph idx="1"/>
          </p:nvPr>
        </p:nvSpPr>
        <p:spPr/>
        <p:txBody>
          <a:bodyPr>
            <a:normAutofit fontScale="92500" lnSpcReduction="10000"/>
          </a:bodyPr>
          <a:lstStyle/>
          <a:p>
            <a:r>
              <a:rPr lang="en-US"/>
              <a:t>7 layers</a:t>
            </a:r>
          </a:p>
          <a:p>
            <a:r>
              <a:rPr lang="en-US"/>
              <a:t>A P S T N D P… “All People Seem to Need Data Processing”… say that 10 times</a:t>
            </a:r>
          </a:p>
          <a:p>
            <a:pPr lvl="1"/>
            <a:r>
              <a:rPr lang="en-US"/>
              <a:t>Application</a:t>
            </a:r>
          </a:p>
          <a:p>
            <a:pPr lvl="1"/>
            <a:r>
              <a:rPr lang="en-US"/>
              <a:t>Presentation</a:t>
            </a:r>
          </a:p>
          <a:p>
            <a:pPr lvl="1"/>
            <a:r>
              <a:rPr lang="en-US"/>
              <a:t>Session</a:t>
            </a:r>
          </a:p>
          <a:p>
            <a:pPr lvl="1"/>
            <a:r>
              <a:rPr lang="en-US"/>
              <a:t>Transport</a:t>
            </a:r>
          </a:p>
          <a:p>
            <a:pPr lvl="1"/>
            <a:r>
              <a:rPr lang="en-US"/>
              <a:t>Network</a:t>
            </a:r>
          </a:p>
          <a:p>
            <a:pPr lvl="1"/>
            <a:r>
              <a:rPr lang="en-US"/>
              <a:t>Data link</a:t>
            </a:r>
          </a:p>
          <a:p>
            <a:pPr lvl="1"/>
            <a:r>
              <a:rPr lang="en-US"/>
              <a:t>Physical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OSI</a:t>
            </a:r>
          </a:p>
        </p:txBody>
      </p:sp>
      <p:sp>
        <p:nvSpPr>
          <p:cNvPr id="7171" name="Rectangle 3"/>
          <p:cNvSpPr>
            <a:spLocks noGrp="1" noChangeArrowheads="1"/>
          </p:cNvSpPr>
          <p:nvPr>
            <p:ph idx="1"/>
          </p:nvPr>
        </p:nvSpPr>
        <p:spPr/>
        <p:txBody>
          <a:bodyPr>
            <a:normAutofit fontScale="92500" lnSpcReduction="20000"/>
          </a:bodyPr>
          <a:lstStyle/>
          <a:p>
            <a:pPr>
              <a:buNone/>
            </a:pPr>
            <a:r>
              <a:rPr lang="en-US" dirty="0"/>
              <a:t>Before we talk about network equipment we need to discuss the OSI framework briefly.</a:t>
            </a:r>
          </a:p>
          <a:p>
            <a:endParaRPr lang="en-US" dirty="0"/>
          </a:p>
          <a:p>
            <a:r>
              <a:rPr lang="en-US" dirty="0"/>
              <a:t>The OSI is a model of how network communications </a:t>
            </a:r>
            <a:r>
              <a:rPr lang="en-US" b="1" dirty="0"/>
              <a:t>should be</a:t>
            </a:r>
            <a:r>
              <a:rPr lang="en-US" dirty="0"/>
              <a:t> broken down into functional tasks. Each layer performs one task. It provides services to the layer above it, and uses services from the layer below it.</a:t>
            </a:r>
          </a:p>
          <a:p>
            <a:endParaRPr lang="en-US" dirty="0"/>
          </a:p>
          <a:p>
            <a:r>
              <a:rPr lang="en-US" dirty="0"/>
              <a:t>We say devices talk to each other at the same layer.</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t>OSI</a:t>
            </a:r>
          </a:p>
        </p:txBody>
      </p:sp>
      <p:sp>
        <p:nvSpPr>
          <p:cNvPr id="6" name="Content Placeholder 5"/>
          <p:cNvSpPr>
            <a:spLocks noGrp="1"/>
          </p:cNvSpPr>
          <p:nvPr>
            <p:ph idx="1"/>
          </p:nvPr>
        </p:nvSpPr>
        <p:spPr/>
        <p:txBody>
          <a:bodyPr/>
          <a:lstStyle/>
          <a:p>
            <a:endParaRPr lang="en-US"/>
          </a:p>
        </p:txBody>
      </p:sp>
      <p:pic>
        <p:nvPicPr>
          <p:cNvPr id="8196" name="Picture 4" descr="osi2"/>
          <p:cNvPicPr>
            <a:picLocks noChangeAspect="1" noChangeArrowheads="1"/>
          </p:cNvPicPr>
          <p:nvPr/>
        </p:nvPicPr>
        <p:blipFill>
          <a:blip r:embed="rId2" cstate="print"/>
          <a:srcRect/>
          <a:stretch>
            <a:fillRect/>
          </a:stretch>
        </p:blipFill>
        <p:spPr bwMode="auto">
          <a:xfrm>
            <a:off x="152400" y="1555584"/>
            <a:ext cx="8534400" cy="5151603"/>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t>OSI</a:t>
            </a:r>
          </a:p>
        </p:txBody>
      </p:sp>
      <p:pic>
        <p:nvPicPr>
          <p:cNvPr id="9219" name="Picture 4" descr="osi3"/>
          <p:cNvPicPr>
            <a:picLocks noChangeAspect="1" noChangeArrowheads="1"/>
          </p:cNvPicPr>
          <p:nvPr/>
        </p:nvPicPr>
        <p:blipFill>
          <a:blip r:embed="rId2" cstate="print"/>
          <a:srcRect/>
          <a:stretch>
            <a:fillRect/>
          </a:stretch>
        </p:blipFill>
        <p:spPr bwMode="auto">
          <a:xfrm>
            <a:off x="152400" y="1571392"/>
            <a:ext cx="8153400" cy="5111982"/>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t>Quick OSI review</a:t>
            </a:r>
          </a:p>
        </p:txBody>
      </p:sp>
      <p:sp>
        <p:nvSpPr>
          <p:cNvPr id="22531" name="Rectangle 3"/>
          <p:cNvSpPr>
            <a:spLocks noGrp="1" noChangeArrowheads="1"/>
          </p:cNvSpPr>
          <p:nvPr>
            <p:ph idx="1"/>
          </p:nvPr>
        </p:nvSpPr>
        <p:spPr/>
        <p:txBody>
          <a:bodyPr>
            <a:normAutofit fontScale="77500" lnSpcReduction="20000"/>
          </a:bodyPr>
          <a:lstStyle/>
          <a:p>
            <a:r>
              <a:rPr lang="en-US"/>
              <a:t>What layer is creates a connection between 2 applications?</a:t>
            </a:r>
          </a:p>
          <a:p>
            <a:r>
              <a:rPr lang="en-US"/>
              <a:t>What layer turns the frames sent to it into the proper voltages and timings to send across a wire?</a:t>
            </a:r>
          </a:p>
          <a:p>
            <a:r>
              <a:rPr lang="en-US"/>
              <a:t>What layer is concerned with finding paths between different networks?</a:t>
            </a:r>
          </a:p>
          <a:p>
            <a:r>
              <a:rPr lang="en-US"/>
              <a:t>What layer is concerned with the formatting of the data?</a:t>
            </a:r>
          </a:p>
          <a:p>
            <a:r>
              <a:rPr lang="en-US"/>
              <a:t>What layer is concerned with communicating between two of the? same interface types on computers on the same LAN?</a:t>
            </a:r>
          </a:p>
          <a:p>
            <a:r>
              <a:rPr lang="en-US"/>
              <a:t>What layer creates a connection between two computers?</a:t>
            </a:r>
          </a:p>
          <a:p>
            <a:r>
              <a:rPr lang="en-US"/>
              <a:t>What layer is concerned with the data/protocol that the application you are using uses?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type="ctrTitle"/>
          </p:nvPr>
        </p:nvSpPr>
        <p:spPr/>
        <p:txBody>
          <a:bodyPr/>
          <a:lstStyle/>
          <a:p>
            <a:pPr eaLnBrk="1" hangingPunct="1"/>
            <a:r>
              <a:rPr lang="en-US"/>
              <a:t>TCP/IP model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t>TCP/IP Model (499)</a:t>
            </a:r>
          </a:p>
        </p:txBody>
      </p:sp>
      <p:sp>
        <p:nvSpPr>
          <p:cNvPr id="24579" name="Rectangle 3"/>
          <p:cNvSpPr>
            <a:spLocks noGrp="1" noChangeArrowheads="1"/>
          </p:cNvSpPr>
          <p:nvPr>
            <p:ph idx="1"/>
          </p:nvPr>
        </p:nvSpPr>
        <p:spPr/>
        <p:txBody>
          <a:bodyPr/>
          <a:lstStyle/>
          <a:p>
            <a:pPr>
              <a:buNone/>
            </a:pPr>
            <a:r>
              <a:rPr lang="en-US" dirty="0"/>
              <a:t>No real network protocol is broken down into 7 layers. </a:t>
            </a:r>
          </a:p>
          <a:p>
            <a:pPr lvl="1"/>
            <a:r>
              <a:rPr lang="en-US" dirty="0"/>
              <a:t>Too much overhead</a:t>
            </a:r>
          </a:p>
          <a:p>
            <a:pPr>
              <a:buNone/>
            </a:pPr>
            <a:endParaRPr lang="en-US" dirty="0"/>
          </a:p>
          <a:p>
            <a:pPr>
              <a:buNone/>
            </a:pPr>
            <a:r>
              <a:rPr lang="en-US" dirty="0"/>
              <a:t>Almost all network communication now uses TCP/IP so we use the TCP/IP Model</a:t>
            </a:r>
          </a:p>
          <a:p>
            <a:r>
              <a:rPr lang="en-US" dirty="0"/>
              <a:t>Based on </a:t>
            </a:r>
            <a:r>
              <a:rPr lang="en-US" dirty="0" err="1"/>
              <a:t>OSI</a:t>
            </a:r>
            <a:r>
              <a:rPr lang="en-US" dirty="0"/>
              <a:t> model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t>TCP/IP Model</a:t>
            </a:r>
          </a:p>
        </p:txBody>
      </p:sp>
      <p:pic>
        <p:nvPicPr>
          <p:cNvPr id="25603" name="Picture 4" descr="tcp-ip-model"/>
          <p:cNvPicPr>
            <a:picLocks noChangeAspect="1" noChangeArrowheads="1"/>
          </p:cNvPicPr>
          <p:nvPr/>
        </p:nvPicPr>
        <p:blipFill>
          <a:blip r:embed="rId2" cstate="print"/>
          <a:srcRect t="70895"/>
          <a:stretch>
            <a:fillRect/>
          </a:stretch>
        </p:blipFill>
        <p:spPr bwMode="auto">
          <a:xfrm>
            <a:off x="1219200" y="5105400"/>
            <a:ext cx="6858000" cy="1595438"/>
          </a:xfrm>
          <a:prstGeom prst="rect">
            <a:avLst/>
          </a:prstGeom>
          <a:noFill/>
          <a:ln w="9525">
            <a:noFill/>
            <a:miter lim="800000"/>
            <a:headEnd/>
            <a:tailEnd/>
          </a:ln>
        </p:spPr>
      </p:pic>
      <p:pic>
        <p:nvPicPr>
          <p:cNvPr id="25606" name="Picture 4" descr="tcp-ip-model"/>
          <p:cNvPicPr>
            <a:picLocks noChangeAspect="1" noChangeArrowheads="1"/>
          </p:cNvPicPr>
          <p:nvPr/>
        </p:nvPicPr>
        <p:blipFill>
          <a:blip r:embed="rId2" cstate="print"/>
          <a:srcRect t="48653"/>
          <a:stretch>
            <a:fillRect/>
          </a:stretch>
        </p:blipFill>
        <p:spPr bwMode="auto">
          <a:xfrm>
            <a:off x="1219200" y="3886200"/>
            <a:ext cx="6858000" cy="2814638"/>
          </a:xfrm>
          <a:prstGeom prst="rect">
            <a:avLst/>
          </a:prstGeom>
          <a:noFill/>
          <a:ln w="9525">
            <a:noFill/>
            <a:miter lim="800000"/>
            <a:headEnd/>
            <a:tailEnd/>
          </a:ln>
        </p:spPr>
      </p:pic>
      <p:pic>
        <p:nvPicPr>
          <p:cNvPr id="25607" name="Picture 4" descr="tcp-ip-model"/>
          <p:cNvPicPr>
            <a:picLocks noChangeAspect="1" noChangeArrowheads="1"/>
          </p:cNvPicPr>
          <p:nvPr/>
        </p:nvPicPr>
        <p:blipFill>
          <a:blip r:embed="rId2" cstate="print"/>
          <a:srcRect t="25021"/>
          <a:stretch>
            <a:fillRect/>
          </a:stretch>
        </p:blipFill>
        <p:spPr bwMode="auto">
          <a:xfrm>
            <a:off x="1219200" y="2590800"/>
            <a:ext cx="6858000" cy="4110038"/>
          </a:xfrm>
          <a:prstGeom prst="rect">
            <a:avLst/>
          </a:prstGeom>
          <a:noFill/>
          <a:ln w="9525">
            <a:noFill/>
            <a:miter lim="800000"/>
            <a:headEnd/>
            <a:tailEnd/>
          </a:ln>
        </p:spPr>
      </p:pic>
      <p:pic>
        <p:nvPicPr>
          <p:cNvPr id="25608" name="Picture 4" descr="tcp-ip-model"/>
          <p:cNvPicPr>
            <a:picLocks noChangeAspect="1" noChangeArrowheads="1"/>
          </p:cNvPicPr>
          <p:nvPr/>
        </p:nvPicPr>
        <p:blipFill>
          <a:blip r:embed="rId2" cstate="print"/>
          <a:srcRect/>
          <a:stretch>
            <a:fillRect/>
          </a:stretch>
        </p:blipFill>
        <p:spPr bwMode="auto">
          <a:xfrm>
            <a:off x="1219200" y="1219200"/>
            <a:ext cx="6858000" cy="54816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6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t>OSI vs. TCP/IP model</a:t>
            </a:r>
          </a:p>
        </p:txBody>
      </p:sp>
      <p:pic>
        <p:nvPicPr>
          <p:cNvPr id="27651" name="Picture 3" descr="osi-vs-internet"/>
          <p:cNvPicPr>
            <a:picLocks noChangeAspect="1" noChangeArrowheads="1"/>
          </p:cNvPicPr>
          <p:nvPr/>
        </p:nvPicPr>
        <p:blipFill>
          <a:blip r:embed="rId2" cstate="print"/>
          <a:srcRect/>
          <a:stretch>
            <a:fillRect/>
          </a:stretch>
        </p:blipFill>
        <p:spPr bwMode="auto">
          <a:xfrm>
            <a:off x="1676400" y="1524000"/>
            <a:ext cx="5562600" cy="476885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normAutofit fontScale="90000"/>
          </a:bodyPr>
          <a:lstStyle/>
          <a:p>
            <a:r>
              <a:rPr lang="en-US"/>
              <a:t>Some network equipment and what layers they generally work on</a:t>
            </a:r>
          </a:p>
        </p:txBody>
      </p:sp>
      <p:sp>
        <p:nvSpPr>
          <p:cNvPr id="29699" name="Rectangle 3"/>
          <p:cNvSpPr>
            <a:spLocks noGrp="1" noChangeArrowheads="1"/>
          </p:cNvSpPr>
          <p:nvPr>
            <p:ph idx="1"/>
          </p:nvPr>
        </p:nvSpPr>
        <p:spPr/>
        <p:txBody>
          <a:bodyPr/>
          <a:lstStyle/>
          <a:p>
            <a:pPr>
              <a:buNone/>
            </a:pPr>
            <a:r>
              <a:rPr lang="en-US" dirty="0"/>
              <a:t>We will talk about these later on.</a:t>
            </a:r>
          </a:p>
          <a:p>
            <a:r>
              <a:rPr lang="en-US" dirty="0"/>
              <a:t>Hub/repeater – physical</a:t>
            </a:r>
          </a:p>
          <a:p>
            <a:r>
              <a:rPr lang="en-US" dirty="0"/>
              <a:t>Switch – data link</a:t>
            </a:r>
          </a:p>
          <a:p>
            <a:r>
              <a:rPr lang="en-US" dirty="0"/>
              <a:t>Router – network</a:t>
            </a:r>
          </a:p>
          <a:p>
            <a:r>
              <a:rPr lang="en-US" dirty="0"/>
              <a:t>firewall – can be one of many levels above network</a:t>
            </a:r>
          </a:p>
          <a:p>
            <a:r>
              <a:rPr lang="en-US" dirty="0"/>
              <a:t>Application proxy firewall – application</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t>TCP/IP	 - 500</a:t>
            </a:r>
          </a:p>
        </p:txBody>
      </p:sp>
      <p:sp>
        <p:nvSpPr>
          <p:cNvPr id="46083" name="Rectangle 3"/>
          <p:cNvSpPr>
            <a:spLocks noGrp="1" noChangeArrowheads="1"/>
          </p:cNvSpPr>
          <p:nvPr>
            <p:ph idx="1"/>
          </p:nvPr>
        </p:nvSpPr>
        <p:spPr/>
        <p:txBody>
          <a:bodyPr/>
          <a:lstStyle/>
          <a:p>
            <a:r>
              <a:rPr lang="en-US" dirty="0"/>
              <a:t>We currently use IPv4 with has 2^32 addresses </a:t>
            </a:r>
          </a:p>
          <a:p>
            <a:pPr lvl="1"/>
            <a:r>
              <a:rPr lang="en-US" dirty="0"/>
              <a:t>about 4 billion IP addresses </a:t>
            </a:r>
          </a:p>
          <a:p>
            <a:r>
              <a:rPr lang="en-US" dirty="0"/>
              <a:t> IPv6 has 2^128 addresses (4 billion x 4 billion)</a:t>
            </a:r>
          </a:p>
          <a:p>
            <a:r>
              <a:rPr lang="en-US" dirty="0"/>
              <a:t>IPv6 also has </a:t>
            </a:r>
          </a:p>
          <a:p>
            <a:pPr lvl="1"/>
            <a:r>
              <a:rPr lang="en-US" dirty="0"/>
              <a:t>a simplified format</a:t>
            </a:r>
          </a:p>
          <a:p>
            <a:pPr lvl="1"/>
            <a:r>
              <a:rPr lang="en-US" dirty="0"/>
              <a:t>additional features such as IPSEC. (talk about IP SEC later)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t>TCP/UDP - 498</a:t>
            </a:r>
          </a:p>
        </p:txBody>
      </p:sp>
      <p:sp>
        <p:nvSpPr>
          <p:cNvPr id="47107" name="Rectangle 3"/>
          <p:cNvSpPr>
            <a:spLocks noGrp="1" noChangeArrowheads="1"/>
          </p:cNvSpPr>
          <p:nvPr>
            <p:ph idx="1"/>
          </p:nvPr>
        </p:nvSpPr>
        <p:spPr/>
        <p:txBody>
          <a:bodyPr>
            <a:normAutofit lnSpcReduction="10000"/>
          </a:bodyPr>
          <a:lstStyle/>
          <a:p>
            <a:pPr>
              <a:buNone/>
            </a:pPr>
            <a:r>
              <a:rPr lang="en-US" dirty="0"/>
              <a:t>TCP/UDP handle the transport and session layers. They setup a communications channel between two programs talking over the network</a:t>
            </a:r>
          </a:p>
          <a:p>
            <a:r>
              <a:rPr lang="en-US" dirty="0"/>
              <a:t>Programs talk via </a:t>
            </a:r>
            <a:r>
              <a:rPr lang="en-US" i="1" dirty="0"/>
              <a:t>ports</a:t>
            </a:r>
            <a:r>
              <a:rPr lang="en-US" dirty="0"/>
              <a:t> which are numbers that generally define what program/services you want to talk to (talk about this in a couple slides)</a:t>
            </a:r>
          </a:p>
          <a:p>
            <a:endParaRPr lang="en-US" dirty="0"/>
          </a:p>
          <a:p>
            <a:r>
              <a:rPr lang="en-US" dirty="0"/>
              <a:t>More on TCP/UDP in the next slides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t>TCP</a:t>
            </a:r>
          </a:p>
        </p:txBody>
      </p:sp>
      <p:sp>
        <p:nvSpPr>
          <p:cNvPr id="48131" name="Rectangle 3"/>
          <p:cNvSpPr>
            <a:spLocks noGrp="1" noChangeArrowheads="1"/>
          </p:cNvSpPr>
          <p:nvPr>
            <p:ph idx="1"/>
          </p:nvPr>
        </p:nvSpPr>
        <p:spPr/>
        <p:txBody>
          <a:bodyPr/>
          <a:lstStyle/>
          <a:p>
            <a:r>
              <a:rPr lang="en-US" dirty="0"/>
              <a:t>Connection oriented “guaranteed” delivery. </a:t>
            </a:r>
          </a:p>
          <a:p>
            <a:r>
              <a:rPr lang="en-US" dirty="0"/>
              <a:t>Advantages</a:t>
            </a:r>
          </a:p>
          <a:p>
            <a:pPr lvl="1"/>
            <a:r>
              <a:rPr lang="en-US" dirty="0"/>
              <a:t>Easier to program with</a:t>
            </a:r>
          </a:p>
          <a:p>
            <a:pPr lvl="1"/>
            <a:r>
              <a:rPr lang="en-US" dirty="0"/>
              <a:t>Truly implements a session</a:t>
            </a:r>
          </a:p>
          <a:p>
            <a:pPr lvl="1"/>
            <a:r>
              <a:rPr lang="en-US" dirty="0"/>
              <a:t>Adds security</a:t>
            </a:r>
          </a:p>
          <a:p>
            <a:r>
              <a:rPr lang="en-US" dirty="0"/>
              <a:t>Disadvantages</a:t>
            </a:r>
          </a:p>
          <a:p>
            <a:pPr lvl="1"/>
            <a:r>
              <a:rPr lang="en-US" dirty="0"/>
              <a:t>More overhead / slower</a:t>
            </a:r>
          </a:p>
          <a:p>
            <a:pPr lvl="1"/>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t>TCP - 504</a:t>
            </a:r>
          </a:p>
        </p:txBody>
      </p:sp>
      <p:sp>
        <p:nvSpPr>
          <p:cNvPr id="50179" name="Rectangle 3"/>
          <p:cNvSpPr>
            <a:spLocks noGrp="1" noChangeArrowheads="1"/>
          </p:cNvSpPr>
          <p:nvPr>
            <p:ph idx="1"/>
          </p:nvPr>
        </p:nvSpPr>
        <p:spPr/>
        <p:txBody>
          <a:bodyPr/>
          <a:lstStyle/>
          <a:p>
            <a:pPr eaLnBrk="1" hangingPunct="1"/>
            <a:r>
              <a:rPr lang="en-US" dirty="0"/>
              <a:t>Reliable connection-oriented protocol</a:t>
            </a:r>
          </a:p>
          <a:p>
            <a:pPr lvl="1" eaLnBrk="1" hangingPunct="1"/>
            <a:r>
              <a:rPr lang="en-US" dirty="0"/>
              <a:t>Has a true connection</a:t>
            </a:r>
          </a:p>
          <a:p>
            <a:pPr lvl="1" eaLnBrk="1" hangingPunct="1"/>
            <a:r>
              <a:rPr lang="en-US" dirty="0"/>
              <a:t>Starts with a 3-way handshake, (SYN, SYN-ACK, ACK)</a:t>
            </a:r>
          </a:p>
          <a:p>
            <a:pPr lvl="1" eaLnBrk="1" hangingPunct="1">
              <a:buFontTx/>
              <a:buNone/>
            </a:pPr>
            <a:endParaRPr lang="en-US" dirty="0"/>
          </a:p>
        </p:txBody>
      </p:sp>
      <p:pic>
        <p:nvPicPr>
          <p:cNvPr id="50180" name="Picture 4" descr="tcp_3way"/>
          <p:cNvPicPr>
            <a:picLocks noChangeAspect="1" noChangeArrowheads="1"/>
          </p:cNvPicPr>
          <p:nvPr/>
        </p:nvPicPr>
        <p:blipFill>
          <a:blip r:embed="rId2" cstate="print"/>
          <a:srcRect/>
          <a:stretch>
            <a:fillRect/>
          </a:stretch>
        </p:blipFill>
        <p:spPr bwMode="auto">
          <a:xfrm>
            <a:off x="838200" y="3733800"/>
            <a:ext cx="7162800" cy="296227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t>TCP - 504</a:t>
            </a:r>
          </a:p>
        </p:txBody>
      </p:sp>
      <p:sp>
        <p:nvSpPr>
          <p:cNvPr id="51203" name="Rectangle 3"/>
          <p:cNvSpPr>
            <a:spLocks noGrp="1" noChangeArrowheads="1"/>
          </p:cNvSpPr>
          <p:nvPr>
            <p:ph idx="1"/>
          </p:nvPr>
        </p:nvSpPr>
        <p:spPr/>
        <p:txBody>
          <a:bodyPr/>
          <a:lstStyle/>
          <a:p>
            <a:pPr lvl="1"/>
            <a:r>
              <a:rPr lang="en-US"/>
              <a:t>Keeps state, and will guarantee delivery of data to other side (or inform the application of the inability to send) does this with sequence and acknowledgement numbers, these numbers also provide ordering to packets</a:t>
            </a:r>
          </a:p>
          <a:p>
            <a:pPr lvl="1"/>
            <a:r>
              <a:rPr lang="en-US"/>
              <a:t>Has some security due to the state of the connection</a:t>
            </a:r>
          </a:p>
          <a:p>
            <a:pPr lvl="1"/>
            <a:r>
              <a:rPr lang="en-US"/>
              <a:t>Nice to program with, but slower/more overhead because of the work done to guarantee delivery.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t>UDP</a:t>
            </a:r>
          </a:p>
        </p:txBody>
      </p:sp>
      <p:sp>
        <p:nvSpPr>
          <p:cNvPr id="49155" name="Rectangle 3"/>
          <p:cNvSpPr>
            <a:spLocks noGrp="1" noChangeArrowheads="1"/>
          </p:cNvSpPr>
          <p:nvPr>
            <p:ph idx="1"/>
          </p:nvPr>
        </p:nvSpPr>
        <p:spPr/>
        <p:txBody>
          <a:bodyPr>
            <a:normAutofit fontScale="92500" lnSpcReduction="10000"/>
          </a:bodyPr>
          <a:lstStyle/>
          <a:p>
            <a:pPr>
              <a:buNone/>
            </a:pPr>
            <a:r>
              <a:rPr lang="en-US" dirty="0"/>
              <a:t>Connectionless, non-guaranteed delivery (best effort)</a:t>
            </a:r>
          </a:p>
          <a:p>
            <a:r>
              <a:rPr lang="en-US" dirty="0"/>
              <a:t>Advantages</a:t>
            </a:r>
          </a:p>
          <a:p>
            <a:pPr lvl="1"/>
            <a:r>
              <a:rPr lang="en-US" dirty="0"/>
              <a:t>Fast / low overhead</a:t>
            </a:r>
          </a:p>
          <a:p>
            <a:pPr lvl="1"/>
            <a:endParaRPr lang="en-US" dirty="0"/>
          </a:p>
          <a:p>
            <a:r>
              <a:rPr lang="en-US" dirty="0"/>
              <a:t>Disadvantages</a:t>
            </a:r>
          </a:p>
          <a:p>
            <a:pPr lvl="1"/>
            <a:r>
              <a:rPr lang="en-US" dirty="0"/>
              <a:t>Harder to program with</a:t>
            </a:r>
          </a:p>
          <a:p>
            <a:pPr lvl="1"/>
            <a:r>
              <a:rPr lang="en-US" dirty="0"/>
              <a:t>No true sessions</a:t>
            </a:r>
          </a:p>
          <a:p>
            <a:pPr lvl="1"/>
            <a:r>
              <a:rPr lang="en-US" dirty="0"/>
              <a:t>Less security</a:t>
            </a:r>
          </a:p>
          <a:p>
            <a:pPr lvl="1"/>
            <a:r>
              <a:rPr lang="en-US" dirty="0"/>
              <a:t>A pain to firewall (due to no connections)</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t>UDP - 500	</a:t>
            </a:r>
          </a:p>
        </p:txBody>
      </p:sp>
      <p:sp>
        <p:nvSpPr>
          <p:cNvPr id="53251" name="Rectangle 3"/>
          <p:cNvSpPr>
            <a:spLocks noGrp="1" noChangeArrowheads="1"/>
          </p:cNvSpPr>
          <p:nvPr>
            <p:ph idx="1"/>
          </p:nvPr>
        </p:nvSpPr>
        <p:spPr/>
        <p:txBody>
          <a:bodyPr/>
          <a:lstStyle/>
          <a:p>
            <a:r>
              <a:rPr lang="en-US"/>
              <a:t>Like a postcard, each packet is separate</a:t>
            </a:r>
          </a:p>
          <a:p>
            <a:r>
              <a:rPr lang="en-US"/>
              <a:t>No guarantee on delivery</a:t>
            </a:r>
          </a:p>
          <a:p>
            <a:r>
              <a:rPr lang="en-US"/>
              <a:t>Best effort</a:t>
            </a:r>
          </a:p>
          <a:p>
            <a:r>
              <a:rPr lang="en-US"/>
              <a:t>Fast, little overhead</a:t>
            </a:r>
          </a:p>
          <a:p>
            <a:r>
              <a:rPr lang="en-US"/>
              <a:t>No sequence numbers (ordering)</a:t>
            </a:r>
          </a:p>
          <a:p>
            <a:r>
              <a:rPr lang="en-US"/>
              <a:t>No acknowledgements</a:t>
            </a:r>
          </a:p>
          <a:p>
            <a:r>
              <a:rPr lang="en-US"/>
              <a:t>No connection</a:t>
            </a:r>
          </a:p>
          <a:p>
            <a:r>
              <a:rPr lang="en-US"/>
              <a:t>Security issues due to lack of a connection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t>Ports - 503</a:t>
            </a:r>
          </a:p>
        </p:txBody>
      </p:sp>
      <p:sp>
        <p:nvSpPr>
          <p:cNvPr id="55299" name="Rectangle 3"/>
          <p:cNvSpPr>
            <a:spLocks noGrp="1" noChangeArrowheads="1"/>
          </p:cNvSpPr>
          <p:nvPr>
            <p:ph idx="1"/>
          </p:nvPr>
        </p:nvSpPr>
        <p:spPr/>
        <p:txBody>
          <a:bodyPr vert="horz" lIns="54864" tIns="91440" rIns="91440" bIns="45720" rtlCol="0" anchor="t">
            <a:normAutofit fontScale="85000" lnSpcReduction="20000"/>
          </a:bodyPr>
          <a:lstStyle/>
          <a:p>
            <a:pPr marL="438785">
              <a:buNone/>
            </a:pPr>
            <a:r>
              <a:rPr lang="en-US" dirty="0"/>
              <a:t>Both TCP and UDP use</a:t>
            </a:r>
            <a:r>
              <a:rPr lang="en-US" i="1" dirty="0"/>
              <a:t> ports </a:t>
            </a:r>
            <a:r>
              <a:rPr lang="en-US" dirty="0"/>
              <a:t>as the end points of conversations. Ports for services that are defined, and static are called </a:t>
            </a:r>
            <a:r>
              <a:rPr lang="en-US" i="1" dirty="0"/>
              <a:t>well known ports </a:t>
            </a:r>
            <a:r>
              <a:rPr lang="en-US" dirty="0"/>
              <a:t>some well know ports are*</a:t>
            </a:r>
            <a:endParaRPr lang="en-US"/>
          </a:p>
          <a:p>
            <a:pPr lvl="1"/>
            <a:r>
              <a:rPr lang="en-US" dirty="0"/>
              <a:t>telnet TCP/23</a:t>
            </a:r>
          </a:p>
          <a:p>
            <a:pPr lvl="1"/>
            <a:r>
              <a:rPr lang="en-US" dirty="0"/>
              <a:t>Email (SMTP) TCP/25</a:t>
            </a:r>
          </a:p>
          <a:p>
            <a:pPr lvl="1"/>
            <a:r>
              <a:rPr lang="en-US" dirty="0"/>
              <a:t>Email (POP) TCP/110</a:t>
            </a:r>
          </a:p>
          <a:p>
            <a:pPr lvl="1"/>
            <a:r>
              <a:rPr lang="en-US" dirty="0"/>
              <a:t>Email (IMAP) TCP/143</a:t>
            </a:r>
          </a:p>
          <a:p>
            <a:pPr lvl="1"/>
            <a:r>
              <a:rPr lang="en-US" dirty="0"/>
              <a:t>Web (HTTP) TCP/80</a:t>
            </a:r>
          </a:p>
          <a:p>
            <a:pPr lvl="1"/>
            <a:r>
              <a:rPr lang="en-US" dirty="0"/>
              <a:t>Web (HTTPS) TCP/443</a:t>
            </a:r>
          </a:p>
          <a:p>
            <a:pPr lvl="1"/>
            <a:r>
              <a:rPr lang="en-US" dirty="0"/>
              <a:t>DNS TCP &amp; UDP 53</a:t>
            </a:r>
          </a:p>
          <a:p>
            <a:pPr lvl="1"/>
            <a:r>
              <a:rPr lang="en-US" dirty="0"/>
              <a:t>FTP TCP/21 &amp; 20</a:t>
            </a:r>
          </a:p>
          <a:p>
            <a:pPr lvl="1"/>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t>Random Networking Terms - 512</a:t>
            </a:r>
          </a:p>
        </p:txBody>
      </p:sp>
      <p:sp>
        <p:nvSpPr>
          <p:cNvPr id="56323" name="Rectangle 3"/>
          <p:cNvSpPr>
            <a:spLocks noGrp="1" noChangeArrowheads="1"/>
          </p:cNvSpPr>
          <p:nvPr>
            <p:ph idx="1"/>
          </p:nvPr>
        </p:nvSpPr>
        <p:spPr/>
        <p:txBody>
          <a:bodyPr>
            <a:normAutofit lnSpcReduction="10000"/>
          </a:bodyPr>
          <a:lstStyle/>
          <a:p>
            <a:r>
              <a:rPr lang="en-US"/>
              <a:t>Latency</a:t>
            </a:r>
          </a:p>
          <a:p>
            <a:r>
              <a:rPr lang="en-US"/>
              <a:t>Bandwidth</a:t>
            </a:r>
          </a:p>
          <a:p>
            <a:r>
              <a:rPr lang="en-US"/>
              <a:t>Synchronous – synchronized via a time source</a:t>
            </a:r>
          </a:p>
          <a:p>
            <a:r>
              <a:rPr lang="en-US"/>
              <a:t>Asynchronous – not timed</a:t>
            </a:r>
          </a:p>
          <a:p>
            <a:r>
              <a:rPr lang="en-US"/>
              <a:t>Baseband – use the entire medium for communication</a:t>
            </a:r>
          </a:p>
          <a:p>
            <a:r>
              <a:rPr lang="en-US"/>
              <a:t>Broadband – slide the medium into multiple channels for multiple simultaneous communications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t>Random Networking Terms</a:t>
            </a:r>
          </a:p>
        </p:txBody>
      </p:sp>
      <p:pic>
        <p:nvPicPr>
          <p:cNvPr id="57347" name="Picture 5" descr="unicast-multicast-broadcast"/>
          <p:cNvPicPr>
            <a:picLocks noChangeAspect="1" noChangeArrowheads="1"/>
          </p:cNvPicPr>
          <p:nvPr/>
        </p:nvPicPr>
        <p:blipFill>
          <a:blip r:embed="rId2" cstate="print"/>
          <a:srcRect b="83873"/>
          <a:stretch>
            <a:fillRect/>
          </a:stretch>
        </p:blipFill>
        <p:spPr bwMode="auto">
          <a:xfrm>
            <a:off x="1600200" y="1447800"/>
            <a:ext cx="5810250" cy="838200"/>
          </a:xfrm>
          <a:prstGeom prst="rect">
            <a:avLst/>
          </a:prstGeom>
          <a:noFill/>
          <a:ln w="9525">
            <a:noFill/>
            <a:miter lim="800000"/>
            <a:headEnd/>
            <a:tailEnd/>
          </a:ln>
        </p:spPr>
      </p:pic>
      <p:pic>
        <p:nvPicPr>
          <p:cNvPr id="57352" name="Picture 5" descr="unicast-multicast-broadcast"/>
          <p:cNvPicPr>
            <a:picLocks noChangeAspect="1" noChangeArrowheads="1"/>
          </p:cNvPicPr>
          <p:nvPr/>
        </p:nvPicPr>
        <p:blipFill>
          <a:blip r:embed="rId2" cstate="print"/>
          <a:srcRect b="39890"/>
          <a:stretch>
            <a:fillRect/>
          </a:stretch>
        </p:blipFill>
        <p:spPr bwMode="auto">
          <a:xfrm>
            <a:off x="1600200" y="1447800"/>
            <a:ext cx="5810250" cy="3124200"/>
          </a:xfrm>
          <a:prstGeom prst="rect">
            <a:avLst/>
          </a:prstGeom>
          <a:noFill/>
          <a:ln w="9525">
            <a:noFill/>
            <a:miter lim="800000"/>
            <a:headEnd/>
            <a:tailEnd/>
          </a:ln>
        </p:spPr>
      </p:pic>
      <p:pic>
        <p:nvPicPr>
          <p:cNvPr id="57353" name="Picture 5" descr="unicast-multicast-broadcast"/>
          <p:cNvPicPr>
            <a:picLocks noChangeAspect="1" noChangeArrowheads="1"/>
          </p:cNvPicPr>
          <p:nvPr/>
        </p:nvPicPr>
        <p:blipFill>
          <a:blip r:embed="rId2" cstate="print"/>
          <a:srcRect/>
          <a:stretch>
            <a:fillRect/>
          </a:stretch>
        </p:blipFill>
        <p:spPr bwMode="auto">
          <a:xfrm>
            <a:off x="1600200" y="1447800"/>
            <a:ext cx="5810250" cy="51974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3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a:spLocks noGrp="1" noChangeArrowheads="1"/>
          </p:cNvSpPr>
          <p:nvPr>
            <p:ph type="ctrTitle"/>
          </p:nvPr>
        </p:nvSpPr>
        <p:spPr/>
        <p:txBody>
          <a:bodyPr/>
          <a:lstStyle/>
          <a:p>
            <a:pPr eaLnBrk="1" hangingPunct="1"/>
            <a:r>
              <a:rPr lang="en-US"/>
              <a:t>Network Topologies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t>Bus (514)</a:t>
            </a:r>
          </a:p>
        </p:txBody>
      </p:sp>
      <p:sp>
        <p:nvSpPr>
          <p:cNvPr id="6" name="Content Placeholder 5"/>
          <p:cNvSpPr>
            <a:spLocks noGrp="1"/>
          </p:cNvSpPr>
          <p:nvPr>
            <p:ph idx="1"/>
          </p:nvPr>
        </p:nvSpPr>
        <p:spPr/>
        <p:txBody>
          <a:bodyPr/>
          <a:lstStyle/>
          <a:p>
            <a:endParaRPr lang="en-US" dirty="0"/>
          </a:p>
        </p:txBody>
      </p:sp>
      <p:pic>
        <p:nvPicPr>
          <p:cNvPr id="59395" name="Picture 4" descr="Bus-Network-Topology"/>
          <p:cNvPicPr>
            <a:picLocks noChangeAspect="1" noChangeArrowheads="1"/>
          </p:cNvPicPr>
          <p:nvPr/>
        </p:nvPicPr>
        <p:blipFill>
          <a:blip r:embed="rId2" cstate="print"/>
          <a:srcRect/>
          <a:stretch>
            <a:fillRect/>
          </a:stretch>
        </p:blipFill>
        <p:spPr bwMode="auto">
          <a:xfrm>
            <a:off x="152400" y="1494380"/>
            <a:ext cx="5943600" cy="5211220"/>
          </a:xfrm>
          <a:prstGeom prst="rect">
            <a:avLst/>
          </a:prstGeom>
          <a:noFill/>
          <a:ln w="9525">
            <a:noFill/>
            <a:miter lim="800000"/>
            <a:headEnd/>
            <a:tailEnd/>
          </a:ln>
        </p:spPr>
      </p:pic>
      <p:sp>
        <p:nvSpPr>
          <p:cNvPr id="59396" name="Text Box 5"/>
          <p:cNvSpPr txBox="1">
            <a:spLocks noChangeArrowheads="1"/>
          </p:cNvSpPr>
          <p:nvPr/>
        </p:nvSpPr>
        <p:spPr bwMode="auto">
          <a:xfrm>
            <a:off x="6324600" y="1524000"/>
            <a:ext cx="2667000" cy="1323439"/>
          </a:xfrm>
          <a:prstGeom prst="rect">
            <a:avLst/>
          </a:prstGeom>
          <a:noFill/>
          <a:ln w="9525">
            <a:noFill/>
            <a:miter lim="800000"/>
            <a:headEnd/>
            <a:tailEnd/>
          </a:ln>
        </p:spPr>
        <p:txBody>
          <a:bodyPr wrap="square">
            <a:spAutoFit/>
          </a:bodyPr>
          <a:lstStyle/>
          <a:p>
            <a:pPr algn="l">
              <a:spcBef>
                <a:spcPct val="50000"/>
              </a:spcBef>
            </a:pPr>
            <a:r>
              <a:rPr lang="en-US" sz="3200" dirty="0"/>
              <a:t>Advantages?</a:t>
            </a:r>
          </a:p>
          <a:p>
            <a:pPr algn="l">
              <a:spcBef>
                <a:spcPct val="50000"/>
              </a:spcBef>
            </a:pPr>
            <a:r>
              <a:rPr lang="en-US" sz="3200" dirty="0"/>
              <a:t>Problems?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t>Ring (514)</a:t>
            </a:r>
          </a:p>
        </p:txBody>
      </p:sp>
      <p:sp>
        <p:nvSpPr>
          <p:cNvPr id="6" name="Content Placeholder 5"/>
          <p:cNvSpPr>
            <a:spLocks noGrp="1"/>
          </p:cNvSpPr>
          <p:nvPr>
            <p:ph idx="1"/>
          </p:nvPr>
        </p:nvSpPr>
        <p:spPr/>
        <p:txBody>
          <a:bodyPr/>
          <a:lstStyle/>
          <a:p>
            <a:endParaRPr lang="en-US"/>
          </a:p>
        </p:txBody>
      </p:sp>
      <p:pic>
        <p:nvPicPr>
          <p:cNvPr id="60419" name="Picture 4" descr="ring-topology"/>
          <p:cNvPicPr>
            <a:picLocks noChangeAspect="1" noChangeArrowheads="1"/>
          </p:cNvPicPr>
          <p:nvPr/>
        </p:nvPicPr>
        <p:blipFill>
          <a:blip r:embed="rId2" cstate="print"/>
          <a:srcRect/>
          <a:stretch>
            <a:fillRect/>
          </a:stretch>
        </p:blipFill>
        <p:spPr bwMode="auto">
          <a:xfrm>
            <a:off x="152400" y="1561080"/>
            <a:ext cx="5867400" cy="5114357"/>
          </a:xfrm>
          <a:prstGeom prst="rect">
            <a:avLst/>
          </a:prstGeom>
          <a:noFill/>
          <a:ln w="9525">
            <a:noFill/>
            <a:miter lim="800000"/>
            <a:headEnd/>
            <a:tailEnd/>
          </a:ln>
        </p:spPr>
      </p:pic>
      <p:sp>
        <p:nvSpPr>
          <p:cNvPr id="60420" name="Text Box 5"/>
          <p:cNvSpPr txBox="1">
            <a:spLocks noChangeArrowheads="1"/>
          </p:cNvSpPr>
          <p:nvPr/>
        </p:nvSpPr>
        <p:spPr bwMode="auto">
          <a:xfrm>
            <a:off x="6400800" y="1600200"/>
            <a:ext cx="2590800" cy="1311275"/>
          </a:xfrm>
          <a:prstGeom prst="rect">
            <a:avLst/>
          </a:prstGeom>
          <a:noFill/>
          <a:ln w="9525">
            <a:noFill/>
            <a:miter lim="800000"/>
            <a:headEnd/>
            <a:tailEnd/>
          </a:ln>
        </p:spPr>
        <p:txBody>
          <a:bodyPr>
            <a:spAutoFit/>
          </a:bodyPr>
          <a:lstStyle/>
          <a:p>
            <a:pPr algn="l">
              <a:spcBef>
                <a:spcPct val="50000"/>
              </a:spcBef>
            </a:pPr>
            <a:r>
              <a:rPr lang="en-US" sz="3200" dirty="0"/>
              <a:t>Problems?</a:t>
            </a:r>
          </a:p>
          <a:p>
            <a:pPr algn="l">
              <a:spcBef>
                <a:spcPct val="50000"/>
              </a:spcBef>
            </a:pPr>
            <a:r>
              <a:rPr lang="en-US" sz="3200" dirty="0"/>
              <a:t>Advantages?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t>Star Topology (514)</a:t>
            </a:r>
          </a:p>
        </p:txBody>
      </p:sp>
      <p:sp>
        <p:nvSpPr>
          <p:cNvPr id="6" name="Content Placeholder 5"/>
          <p:cNvSpPr>
            <a:spLocks noGrp="1"/>
          </p:cNvSpPr>
          <p:nvPr>
            <p:ph idx="1"/>
          </p:nvPr>
        </p:nvSpPr>
        <p:spPr/>
        <p:txBody>
          <a:bodyPr/>
          <a:lstStyle/>
          <a:p>
            <a:endParaRPr lang="en-US"/>
          </a:p>
        </p:txBody>
      </p:sp>
      <p:pic>
        <p:nvPicPr>
          <p:cNvPr id="61443" name="Picture 4" descr="star"/>
          <p:cNvPicPr>
            <a:picLocks noChangeAspect="1" noChangeArrowheads="1"/>
          </p:cNvPicPr>
          <p:nvPr/>
        </p:nvPicPr>
        <p:blipFill>
          <a:blip r:embed="rId2" cstate="print"/>
          <a:srcRect/>
          <a:stretch>
            <a:fillRect/>
          </a:stretch>
        </p:blipFill>
        <p:spPr bwMode="auto">
          <a:xfrm>
            <a:off x="152400" y="1600200"/>
            <a:ext cx="5486400" cy="4727575"/>
          </a:xfrm>
          <a:prstGeom prst="rect">
            <a:avLst/>
          </a:prstGeom>
          <a:noFill/>
          <a:ln w="9525">
            <a:noFill/>
            <a:miter lim="800000"/>
            <a:headEnd/>
            <a:tailEnd/>
          </a:ln>
        </p:spPr>
      </p:pic>
      <p:sp>
        <p:nvSpPr>
          <p:cNvPr id="61444" name="Text Box 6"/>
          <p:cNvSpPr txBox="1">
            <a:spLocks noChangeArrowheads="1"/>
          </p:cNvSpPr>
          <p:nvPr/>
        </p:nvSpPr>
        <p:spPr bwMode="auto">
          <a:xfrm>
            <a:off x="6248400" y="1752600"/>
            <a:ext cx="2743200" cy="1311275"/>
          </a:xfrm>
          <a:prstGeom prst="rect">
            <a:avLst/>
          </a:prstGeom>
          <a:noFill/>
          <a:ln w="9525">
            <a:noFill/>
            <a:miter lim="800000"/>
            <a:headEnd/>
            <a:tailEnd/>
          </a:ln>
        </p:spPr>
        <p:txBody>
          <a:bodyPr>
            <a:spAutoFit/>
          </a:bodyPr>
          <a:lstStyle/>
          <a:p>
            <a:pPr algn="l">
              <a:spcBef>
                <a:spcPct val="50000"/>
              </a:spcBef>
            </a:pPr>
            <a:r>
              <a:rPr lang="en-US" sz="3200" dirty="0"/>
              <a:t>Advantages?</a:t>
            </a:r>
          </a:p>
          <a:p>
            <a:pPr algn="l">
              <a:spcBef>
                <a:spcPct val="50000"/>
              </a:spcBef>
            </a:pPr>
            <a:r>
              <a:rPr lang="en-US" sz="3200" dirty="0"/>
              <a:t>Problems?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7" name="Picture 4" descr="fullmesh"/>
          <p:cNvPicPr>
            <a:picLocks noChangeAspect="1" noChangeArrowheads="1"/>
          </p:cNvPicPr>
          <p:nvPr/>
        </p:nvPicPr>
        <p:blipFill>
          <a:blip r:embed="rId2" cstate="print"/>
          <a:srcRect/>
          <a:stretch>
            <a:fillRect/>
          </a:stretch>
        </p:blipFill>
        <p:spPr bwMode="auto">
          <a:xfrm>
            <a:off x="152400" y="1066800"/>
            <a:ext cx="5786438" cy="5599113"/>
          </a:xfrm>
          <a:prstGeom prst="rect">
            <a:avLst/>
          </a:prstGeom>
          <a:noFill/>
          <a:ln w="9525">
            <a:noFill/>
            <a:miter lim="800000"/>
            <a:headEnd/>
            <a:tailEnd/>
          </a:ln>
        </p:spPr>
      </p:pic>
      <p:sp>
        <p:nvSpPr>
          <p:cNvPr id="62466" name="Rectangle 2"/>
          <p:cNvSpPr>
            <a:spLocks noGrp="1" noChangeArrowheads="1"/>
          </p:cNvSpPr>
          <p:nvPr>
            <p:ph type="title"/>
          </p:nvPr>
        </p:nvSpPr>
        <p:spPr/>
        <p:txBody>
          <a:bodyPr/>
          <a:lstStyle/>
          <a:p>
            <a:r>
              <a:rPr lang="en-US"/>
              <a:t>Mesh (515)</a:t>
            </a:r>
          </a:p>
        </p:txBody>
      </p:sp>
      <p:sp>
        <p:nvSpPr>
          <p:cNvPr id="6" name="Content Placeholder 5"/>
          <p:cNvSpPr>
            <a:spLocks noGrp="1"/>
          </p:cNvSpPr>
          <p:nvPr>
            <p:ph idx="1"/>
          </p:nvPr>
        </p:nvSpPr>
        <p:spPr/>
        <p:txBody>
          <a:bodyPr/>
          <a:lstStyle/>
          <a:p>
            <a:endParaRPr lang="en-US"/>
          </a:p>
        </p:txBody>
      </p:sp>
      <p:sp>
        <p:nvSpPr>
          <p:cNvPr id="62468" name="Text Box 5"/>
          <p:cNvSpPr txBox="1">
            <a:spLocks noChangeArrowheads="1"/>
          </p:cNvSpPr>
          <p:nvPr/>
        </p:nvSpPr>
        <p:spPr bwMode="auto">
          <a:xfrm>
            <a:off x="6096000" y="1219200"/>
            <a:ext cx="2895600" cy="4238625"/>
          </a:xfrm>
          <a:prstGeom prst="rect">
            <a:avLst/>
          </a:prstGeom>
          <a:noFill/>
          <a:ln w="9525">
            <a:noFill/>
            <a:miter lim="800000"/>
            <a:headEnd/>
            <a:tailEnd/>
          </a:ln>
        </p:spPr>
        <p:txBody>
          <a:bodyPr>
            <a:spAutoFit/>
          </a:bodyPr>
          <a:lstStyle/>
          <a:p>
            <a:pPr algn="l">
              <a:spcBef>
                <a:spcPct val="50000"/>
              </a:spcBef>
            </a:pPr>
            <a:endParaRPr lang="en-US" sz="3200" dirty="0"/>
          </a:p>
          <a:p>
            <a:pPr algn="l">
              <a:spcBef>
                <a:spcPct val="50000"/>
              </a:spcBef>
            </a:pPr>
            <a:r>
              <a:rPr lang="en-US" sz="3200" dirty="0"/>
              <a:t>Advantages</a:t>
            </a:r>
          </a:p>
          <a:p>
            <a:pPr algn="l">
              <a:spcBef>
                <a:spcPct val="50000"/>
              </a:spcBef>
            </a:pPr>
            <a:r>
              <a:rPr lang="en-US" sz="3200" dirty="0"/>
              <a:t>Problems</a:t>
            </a:r>
          </a:p>
          <a:p>
            <a:pPr algn="l">
              <a:spcBef>
                <a:spcPct val="50000"/>
              </a:spcBef>
            </a:pPr>
            <a:endParaRPr lang="en-US" sz="3200" dirty="0"/>
          </a:p>
          <a:p>
            <a:pPr algn="l">
              <a:spcBef>
                <a:spcPct val="50000"/>
              </a:spcBef>
            </a:pPr>
            <a:r>
              <a:rPr lang="en-US" sz="3200" dirty="0"/>
              <a:t>Full Mesh = </a:t>
            </a:r>
          </a:p>
          <a:p>
            <a:pPr algn="l">
              <a:spcBef>
                <a:spcPct val="50000"/>
              </a:spcBef>
            </a:pPr>
            <a:r>
              <a:rPr lang="en-US" sz="3200" dirty="0"/>
              <a:t>(n(n-1))/2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4"/>
          <p:cNvSpPr>
            <a:spLocks noGrp="1" noChangeArrowheads="1"/>
          </p:cNvSpPr>
          <p:nvPr>
            <p:ph type="ctrTitle"/>
          </p:nvPr>
        </p:nvSpPr>
        <p:spPr/>
        <p:txBody>
          <a:bodyPr/>
          <a:lstStyle/>
          <a:p>
            <a:pPr eaLnBrk="1" hangingPunct="1"/>
            <a:r>
              <a:rPr lang="en-US"/>
              <a:t>Network Types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a:t>Ethernet - 517</a:t>
            </a:r>
          </a:p>
        </p:txBody>
      </p:sp>
      <p:sp>
        <p:nvSpPr>
          <p:cNvPr id="65539" name="Rectangle 3"/>
          <p:cNvSpPr>
            <a:spLocks noGrp="1" noChangeArrowheads="1"/>
          </p:cNvSpPr>
          <p:nvPr>
            <p:ph idx="1"/>
          </p:nvPr>
        </p:nvSpPr>
        <p:spPr/>
        <p:txBody>
          <a:bodyPr/>
          <a:lstStyle/>
          <a:p>
            <a:r>
              <a:rPr lang="en-US" dirty="0"/>
              <a:t>Most common form of LAN networking, has the following characteristics</a:t>
            </a:r>
          </a:p>
          <a:p>
            <a:pPr lvl="1"/>
            <a:r>
              <a:rPr lang="en-US" dirty="0"/>
              <a:t>Shares media</a:t>
            </a:r>
          </a:p>
          <a:p>
            <a:pPr lvl="1"/>
            <a:r>
              <a:rPr lang="en-US" dirty="0"/>
              <a:t>Broadcast and collision domains (see next slides)</a:t>
            </a:r>
          </a:p>
          <a:p>
            <a:pPr lvl="1"/>
            <a:r>
              <a:rPr lang="en-US" dirty="0"/>
              <a:t>CSMA/CD</a:t>
            </a:r>
          </a:p>
          <a:p>
            <a:pPr lvl="1"/>
            <a:r>
              <a:rPr lang="en-US" dirty="0"/>
              <a:t>Supports full duplex with a switch</a:t>
            </a:r>
          </a:p>
          <a:p>
            <a:pPr lvl="1"/>
            <a:r>
              <a:rPr lang="en-US" dirty="0"/>
              <a:t>Defined by IEEE 802.3</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t>Collision Domain</a:t>
            </a:r>
          </a:p>
        </p:txBody>
      </p:sp>
      <p:pic>
        <p:nvPicPr>
          <p:cNvPr id="66563" name="Picture 4" descr="collision-domain"/>
          <p:cNvPicPr>
            <a:picLocks noChangeAspect="1" noChangeArrowheads="1"/>
          </p:cNvPicPr>
          <p:nvPr/>
        </p:nvPicPr>
        <p:blipFill>
          <a:blip r:embed="rId2" cstate="print"/>
          <a:srcRect/>
          <a:stretch>
            <a:fillRect/>
          </a:stretch>
        </p:blipFill>
        <p:spPr bwMode="auto">
          <a:xfrm>
            <a:off x="1828800" y="1601236"/>
            <a:ext cx="4876800" cy="4951963"/>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a:t>Broadcast Domain</a:t>
            </a:r>
          </a:p>
        </p:txBody>
      </p:sp>
      <p:pic>
        <p:nvPicPr>
          <p:cNvPr id="67587" name="Picture 4" descr="broadcast-domain"/>
          <p:cNvPicPr>
            <a:picLocks noChangeAspect="1" noChangeArrowheads="1"/>
          </p:cNvPicPr>
          <p:nvPr/>
        </p:nvPicPr>
        <p:blipFill>
          <a:blip r:embed="rId2" cstate="print"/>
          <a:srcRect/>
          <a:stretch>
            <a:fillRect/>
          </a:stretch>
        </p:blipFill>
        <p:spPr bwMode="auto">
          <a:xfrm>
            <a:off x="152400" y="1564235"/>
            <a:ext cx="8382000" cy="492864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t>Media Access Technologies (526)</a:t>
            </a:r>
          </a:p>
        </p:txBody>
      </p:sp>
      <p:sp>
        <p:nvSpPr>
          <p:cNvPr id="81923" name="Rectangle 3"/>
          <p:cNvSpPr>
            <a:spLocks noGrp="1" noChangeArrowheads="1"/>
          </p:cNvSpPr>
          <p:nvPr>
            <p:ph idx="1"/>
          </p:nvPr>
        </p:nvSpPr>
        <p:spPr/>
        <p:txBody>
          <a:bodyPr>
            <a:normAutofit/>
          </a:bodyPr>
          <a:lstStyle/>
          <a:p>
            <a:r>
              <a:rPr lang="en-US" dirty="0"/>
              <a:t>Token Passing</a:t>
            </a:r>
          </a:p>
          <a:p>
            <a:r>
              <a:rPr lang="en-US" dirty="0"/>
              <a:t>CSMA/CD – waits for clear, then starts talking, detect collisions</a:t>
            </a:r>
          </a:p>
          <a:p>
            <a:r>
              <a:rPr lang="en-US" dirty="0"/>
              <a:t>CSMA/CA – signals intent to talk</a:t>
            </a:r>
          </a:p>
          <a:p>
            <a:endParaRPr lang="en-US" dirty="0"/>
          </a:p>
          <a:p>
            <a:r>
              <a:rPr lang="en-US" dirty="0"/>
              <a:t>Collision Domain – where collisions can occur. (i.e. two people try to talk at the same time)</a:t>
            </a:r>
          </a:p>
          <a:p>
            <a:r>
              <a:rPr lang="en-US" dirty="0"/>
              <a:t>What is a security impact of collision domains? sniffing, </a:t>
            </a:r>
            <a:r>
              <a:rPr lang="en-US" dirty="0" err="1"/>
              <a:t>DoS</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a:t>LAN Protocols - 529</a:t>
            </a:r>
          </a:p>
        </p:txBody>
      </p:sp>
      <p:sp>
        <p:nvSpPr>
          <p:cNvPr id="82947" name="Rectangle 3"/>
          <p:cNvSpPr>
            <a:spLocks noGrp="1" noChangeArrowheads="1"/>
          </p:cNvSpPr>
          <p:nvPr>
            <p:ph idx="1"/>
          </p:nvPr>
        </p:nvSpPr>
        <p:spPr/>
        <p:txBody>
          <a:bodyPr/>
          <a:lstStyle/>
          <a:p>
            <a:r>
              <a:rPr lang="en-US" dirty="0"/>
              <a:t>ARP – Network Adapters have 2 addresses, and IP address, and a MAC address. (what is each used for? How do they relate? which “layer” does each exist on?)</a:t>
            </a:r>
          </a:p>
          <a:p>
            <a:pPr lvl="1"/>
            <a:r>
              <a:rPr lang="en-US" dirty="0"/>
              <a:t>ARP is the glue for relating the IP and the MAC addresses</a:t>
            </a:r>
          </a:p>
          <a:p>
            <a:r>
              <a:rPr lang="en-US" dirty="0"/>
              <a:t>Attacks</a:t>
            </a:r>
          </a:p>
          <a:p>
            <a:pPr lvl="1"/>
            <a:r>
              <a:rPr lang="en-US" dirty="0"/>
              <a:t>ARP table poisoning – what is this how does it happen, what would it do?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en-US"/>
              <a:t>ARP (533)</a:t>
            </a:r>
          </a:p>
        </p:txBody>
      </p:sp>
      <p:sp>
        <p:nvSpPr>
          <p:cNvPr id="5" name="Content Placeholder 4"/>
          <p:cNvSpPr>
            <a:spLocks noGrp="1"/>
          </p:cNvSpPr>
          <p:nvPr>
            <p:ph idx="1"/>
          </p:nvPr>
        </p:nvSpPr>
        <p:spPr/>
        <p:txBody>
          <a:bodyPr/>
          <a:lstStyle/>
          <a:p>
            <a:endParaRPr lang="en-US"/>
          </a:p>
        </p:txBody>
      </p:sp>
      <p:pic>
        <p:nvPicPr>
          <p:cNvPr id="83971" name="Picture 4" descr="arp1"/>
          <p:cNvPicPr>
            <a:picLocks noChangeAspect="1" noChangeArrowheads="1"/>
          </p:cNvPicPr>
          <p:nvPr/>
        </p:nvPicPr>
        <p:blipFill>
          <a:blip r:embed="rId2" cstate="print"/>
          <a:srcRect/>
          <a:stretch>
            <a:fillRect/>
          </a:stretch>
        </p:blipFill>
        <p:spPr bwMode="auto">
          <a:xfrm>
            <a:off x="152400" y="1549717"/>
            <a:ext cx="6705600" cy="5113020"/>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en-US"/>
              <a:t>ARP (533)</a:t>
            </a:r>
          </a:p>
        </p:txBody>
      </p:sp>
      <p:pic>
        <p:nvPicPr>
          <p:cNvPr id="84995" name="Picture 4" descr="arp2"/>
          <p:cNvPicPr>
            <a:picLocks noChangeAspect="1" noChangeArrowheads="1"/>
          </p:cNvPicPr>
          <p:nvPr/>
        </p:nvPicPr>
        <p:blipFill>
          <a:blip r:embed="rId2" cstate="print"/>
          <a:srcRect/>
          <a:stretch>
            <a:fillRect/>
          </a:stretch>
        </p:blipFill>
        <p:spPr bwMode="auto">
          <a:xfrm>
            <a:off x="152400" y="1573530"/>
            <a:ext cx="6705600" cy="511302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t>DHCP - 534</a:t>
            </a:r>
          </a:p>
        </p:txBody>
      </p:sp>
      <p:sp>
        <p:nvSpPr>
          <p:cNvPr id="86019" name="Rectangle 3"/>
          <p:cNvSpPr>
            <a:spLocks noGrp="1" noChangeArrowheads="1"/>
          </p:cNvSpPr>
          <p:nvPr>
            <p:ph idx="1"/>
          </p:nvPr>
        </p:nvSpPr>
        <p:spPr/>
        <p:txBody>
          <a:bodyPr/>
          <a:lstStyle/>
          <a:p>
            <a:r>
              <a:rPr lang="en-US"/>
              <a:t>DHCP – what is it what is it used for?</a:t>
            </a:r>
          </a:p>
          <a:p>
            <a:pPr lvl="1"/>
            <a:r>
              <a:rPr lang="en-US"/>
              <a:t>Precursors</a:t>
            </a:r>
          </a:p>
          <a:p>
            <a:pPr lvl="2"/>
            <a:r>
              <a:rPr lang="en-US"/>
              <a:t>RARP – what did it do?</a:t>
            </a:r>
          </a:p>
          <a:p>
            <a:pPr lvl="2"/>
            <a:r>
              <a:rPr lang="en-US"/>
              <a:t>BOOTP – what did it do?</a:t>
            </a:r>
          </a:p>
          <a:p>
            <a:endParaRPr lang="en-US"/>
          </a:p>
          <a:p>
            <a:endParaRPr lang="en-US"/>
          </a:p>
          <a:p>
            <a:endParaRPr lang="en-US"/>
          </a:p>
          <a:p>
            <a:endParaRPr lang="en-US"/>
          </a:p>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t>Basic Networking Devices (541)</a:t>
            </a:r>
          </a:p>
        </p:txBody>
      </p:sp>
      <p:sp>
        <p:nvSpPr>
          <p:cNvPr id="88067" name="Rectangle 3"/>
          <p:cNvSpPr>
            <a:spLocks noGrp="1" noChangeArrowheads="1"/>
          </p:cNvSpPr>
          <p:nvPr>
            <p:ph idx="1"/>
          </p:nvPr>
        </p:nvSpPr>
        <p:spPr/>
        <p:txBody>
          <a:bodyPr/>
          <a:lstStyle/>
          <a:p>
            <a:pPr>
              <a:buNone/>
            </a:pPr>
            <a:r>
              <a:rPr lang="en-US" dirty="0"/>
              <a:t>There are different types of networking devices that exist we will look at</a:t>
            </a:r>
          </a:p>
          <a:p>
            <a:r>
              <a:rPr lang="en-US" dirty="0"/>
              <a:t>Repeaters</a:t>
            </a:r>
          </a:p>
          <a:p>
            <a:r>
              <a:rPr lang="en-US" dirty="0"/>
              <a:t>Hubs</a:t>
            </a:r>
          </a:p>
          <a:p>
            <a:r>
              <a:rPr lang="en-US" dirty="0"/>
              <a:t>Bridges</a:t>
            </a:r>
          </a:p>
          <a:p>
            <a:r>
              <a:rPr lang="en-US" dirty="0"/>
              <a:t>Switches</a:t>
            </a:r>
          </a:p>
          <a:p>
            <a:r>
              <a:rPr lang="en-US" dirty="0"/>
              <a:t>Routers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en-US"/>
              <a:t>Router (544)</a:t>
            </a:r>
          </a:p>
        </p:txBody>
      </p:sp>
      <p:sp>
        <p:nvSpPr>
          <p:cNvPr id="108547" name="Rectangle 3"/>
          <p:cNvSpPr>
            <a:spLocks noGrp="1" noChangeArrowheads="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r>
              <a:rPr lang="en-US" sz="2800" dirty="0"/>
              <a:t>Routers create separate LAN networks. These networks will have different IP ranges</a:t>
            </a:r>
          </a:p>
        </p:txBody>
      </p:sp>
      <p:pic>
        <p:nvPicPr>
          <p:cNvPr id="108548" name="Picture 4" descr="network"/>
          <p:cNvPicPr>
            <a:picLocks noChangeAspect="1" noChangeArrowheads="1"/>
          </p:cNvPicPr>
          <p:nvPr/>
        </p:nvPicPr>
        <p:blipFill>
          <a:blip r:embed="rId2" cstate="print"/>
          <a:srcRect/>
          <a:stretch>
            <a:fillRect/>
          </a:stretch>
        </p:blipFill>
        <p:spPr bwMode="auto">
          <a:xfrm>
            <a:off x="1371600" y="1752600"/>
            <a:ext cx="6248400" cy="3520149"/>
          </a:xfrm>
          <a:prstGeom prst="rect">
            <a:avLst/>
          </a:prstGeom>
          <a:noFill/>
          <a:ln w="9525">
            <a:noFill/>
            <a:miter lim="800000"/>
            <a:headEnd/>
            <a:tailEnd/>
          </a:ln>
        </p:spPr>
      </p:pic>
      <p:sp>
        <p:nvSpPr>
          <p:cNvPr id="108549" name="Text Box 5"/>
          <p:cNvSpPr txBox="1">
            <a:spLocks noChangeArrowheads="1"/>
          </p:cNvSpPr>
          <p:nvPr/>
        </p:nvSpPr>
        <p:spPr bwMode="auto">
          <a:xfrm>
            <a:off x="914400" y="1447800"/>
            <a:ext cx="7162800" cy="396875"/>
          </a:xfrm>
          <a:prstGeom prst="rect">
            <a:avLst/>
          </a:prstGeom>
          <a:noFill/>
          <a:ln w="9525">
            <a:noFill/>
            <a:miter lim="800000"/>
            <a:headEnd/>
            <a:tailEnd/>
          </a:ln>
        </p:spPr>
        <p:txBody>
          <a:bodyPr>
            <a:spAutoFit/>
          </a:bodyPr>
          <a:lstStyle/>
          <a:p>
            <a:pPr algn="l">
              <a:spcBef>
                <a:spcPct val="50000"/>
              </a:spcBef>
            </a:pPr>
            <a:r>
              <a:rPr lang="en-US" sz="2000" dirty="0"/>
              <a:t>192.168.1.0 / 255.255.255.0      10.1.2.0 / 255.255.255.0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r>
              <a:rPr lang="en-US"/>
              <a:t>Routers vs. Switches - 546</a:t>
            </a:r>
          </a:p>
        </p:txBody>
      </p:sp>
      <p:sp>
        <p:nvSpPr>
          <p:cNvPr id="110595" name="Rectangle 3"/>
          <p:cNvSpPr>
            <a:spLocks noGrp="1" noChangeArrowheads="1"/>
          </p:cNvSpPr>
          <p:nvPr>
            <p:ph idx="1"/>
          </p:nvPr>
        </p:nvSpPr>
        <p:spPr/>
        <p:txBody>
          <a:bodyPr/>
          <a:lstStyle/>
          <a:p>
            <a:r>
              <a:rPr lang="en-US" dirty="0"/>
              <a:t>You should understand the different between a router and a switch.</a:t>
            </a:r>
          </a:p>
          <a:p>
            <a:r>
              <a:rPr lang="en-US" dirty="0"/>
              <a:t>You should also know when you need a router and when you need a switch.</a:t>
            </a:r>
          </a:p>
          <a:p>
            <a:r>
              <a:rPr lang="en-US" dirty="0"/>
              <a:t> Also memorize the table at the top of 546</a:t>
            </a:r>
          </a:p>
          <a:p>
            <a:pPr>
              <a:buNone/>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r>
              <a:rPr lang="en-US"/>
              <a:t>Advanced Networking Devices</a:t>
            </a:r>
          </a:p>
        </p:txBody>
      </p:sp>
      <p:sp>
        <p:nvSpPr>
          <p:cNvPr id="111619" name="Rectangle 3"/>
          <p:cNvSpPr>
            <a:spLocks noGrp="1" noChangeArrowheads="1"/>
          </p:cNvSpPr>
          <p:nvPr>
            <p:ph idx="1"/>
          </p:nvPr>
        </p:nvSpPr>
        <p:spPr/>
        <p:txBody>
          <a:bodyPr/>
          <a:lstStyle/>
          <a:p>
            <a:pPr eaLnBrk="1" hangingPunct="1"/>
            <a:r>
              <a:rPr lang="en-US" dirty="0"/>
              <a:t>These are devices that are beyond the basic fundamental networking devices, they generally provide some specific advanced functionality.</a:t>
            </a:r>
          </a:p>
          <a:p>
            <a:pPr eaLnBrk="1" hangingPunct="1"/>
            <a:endParaRPr lang="en-US" dirty="0"/>
          </a:p>
          <a:p>
            <a:pPr lvl="1"/>
            <a:r>
              <a:rPr lang="en-US" dirty="0"/>
              <a:t>Gateway</a:t>
            </a:r>
          </a:p>
          <a:p>
            <a:pPr lvl="1"/>
            <a:r>
              <a:rPr lang="en-US" dirty="0"/>
              <a:t>PBX</a:t>
            </a:r>
          </a:p>
          <a:p>
            <a:pPr lvl="1"/>
            <a:r>
              <a:rPr lang="en-US" dirty="0"/>
              <a:t>Firewall* (multiple types)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en-US"/>
              <a:t>Gateway - 550</a:t>
            </a:r>
          </a:p>
        </p:txBody>
      </p:sp>
      <p:sp>
        <p:nvSpPr>
          <p:cNvPr id="112643" name="Rectangle 3"/>
          <p:cNvSpPr>
            <a:spLocks noGrp="1" noChangeArrowheads="1"/>
          </p:cNvSpPr>
          <p:nvPr>
            <p:ph idx="1"/>
          </p:nvPr>
        </p:nvSpPr>
        <p:spPr/>
        <p:txBody>
          <a:bodyPr>
            <a:normAutofit/>
          </a:bodyPr>
          <a:lstStyle/>
          <a:p>
            <a:pPr>
              <a:buNone/>
            </a:pPr>
            <a:r>
              <a:rPr lang="en-US" dirty="0"/>
              <a:t>Generic Term for something that connects two separate things together (can be any level). </a:t>
            </a:r>
          </a:p>
          <a:p>
            <a:pPr lvl="1"/>
            <a:r>
              <a:rPr lang="en-US" dirty="0"/>
              <a:t>Default gateway = router to get you off your network</a:t>
            </a:r>
          </a:p>
          <a:p>
            <a:pPr lvl="1"/>
            <a:r>
              <a:rPr lang="en-US" dirty="0"/>
              <a:t>Application gateways – work at the application level and help translate between two different applications (NFS &lt;-&gt; SMB).  </a:t>
            </a:r>
          </a:p>
          <a:p>
            <a:pPr lvl="1"/>
            <a:r>
              <a:rPr lang="en-US" dirty="0"/>
              <a:t>Email Gateway – translate between different email types. (Exchange and SMTP)</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r>
              <a:rPr lang="en-US"/>
              <a:t>PBX 552</a:t>
            </a:r>
          </a:p>
        </p:txBody>
      </p:sp>
      <p:sp>
        <p:nvSpPr>
          <p:cNvPr id="113667" name="Rectangle 3"/>
          <p:cNvSpPr>
            <a:spLocks noGrp="1" noChangeArrowheads="1"/>
          </p:cNvSpPr>
          <p:nvPr>
            <p:ph idx="1"/>
          </p:nvPr>
        </p:nvSpPr>
        <p:spPr/>
        <p:txBody>
          <a:bodyPr>
            <a:normAutofit lnSpcReduction="10000"/>
          </a:bodyPr>
          <a:lstStyle/>
          <a:p>
            <a:r>
              <a:rPr lang="en-US"/>
              <a:t>Private Branch Exchange – phone system</a:t>
            </a:r>
          </a:p>
          <a:p>
            <a:pPr lvl="1"/>
            <a:r>
              <a:rPr lang="en-US"/>
              <a:t>Old systems analog*</a:t>
            </a:r>
          </a:p>
          <a:p>
            <a:pPr lvl="1"/>
            <a:r>
              <a:rPr lang="en-US"/>
              <a:t>New systems digital and VoIP</a:t>
            </a:r>
          </a:p>
          <a:p>
            <a:endParaRPr lang="en-US"/>
          </a:p>
          <a:p>
            <a:r>
              <a:rPr lang="en-US"/>
              <a:t>Crackers that hack phone systems used to be call phreakers*</a:t>
            </a:r>
          </a:p>
          <a:p>
            <a:pPr lvl="1"/>
            <a:r>
              <a:rPr lang="en-US"/>
              <a:t>Free calls (long distance)</a:t>
            </a:r>
          </a:p>
          <a:p>
            <a:pPr lvl="1"/>
            <a:r>
              <a:rPr lang="en-US"/>
              <a:t>Masquerade as other people/hide calls</a:t>
            </a:r>
          </a:p>
          <a:p>
            <a:pPr lvl="1"/>
            <a:r>
              <a:rPr lang="en-US"/>
              <a:t>Often this goes un-noticed as companies often do not audit their phone bills closely</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en-US"/>
              <a:t>Firewall 553</a:t>
            </a:r>
          </a:p>
        </p:txBody>
      </p:sp>
      <p:sp>
        <p:nvSpPr>
          <p:cNvPr id="5" name="Content Placeholder 4"/>
          <p:cNvSpPr>
            <a:spLocks noGrp="1"/>
          </p:cNvSpPr>
          <p:nvPr>
            <p:ph idx="1"/>
          </p:nvPr>
        </p:nvSpPr>
        <p:spPr/>
        <p:txBody>
          <a:bodyPr/>
          <a:lstStyle/>
          <a:p>
            <a:endParaRPr lang="en-US"/>
          </a:p>
        </p:txBody>
      </p:sp>
      <p:pic>
        <p:nvPicPr>
          <p:cNvPr id="114691" name="Picture 3" descr="firewall"/>
          <p:cNvPicPr>
            <a:picLocks noChangeAspect="1" noChangeArrowheads="1"/>
          </p:cNvPicPr>
          <p:nvPr/>
        </p:nvPicPr>
        <p:blipFill>
          <a:blip r:embed="rId2" cstate="print"/>
          <a:srcRect/>
          <a:stretch>
            <a:fillRect/>
          </a:stretch>
        </p:blipFill>
        <p:spPr bwMode="auto">
          <a:xfrm>
            <a:off x="533400" y="1558926"/>
            <a:ext cx="7467600" cy="5089524"/>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a:t>Firewalls - 553</a:t>
            </a:r>
          </a:p>
        </p:txBody>
      </p:sp>
      <p:sp>
        <p:nvSpPr>
          <p:cNvPr id="115715" name="Rectangle 3"/>
          <p:cNvSpPr>
            <a:spLocks noGrp="1" noChangeArrowheads="1"/>
          </p:cNvSpPr>
          <p:nvPr>
            <p:ph idx="1"/>
          </p:nvPr>
        </p:nvSpPr>
        <p:spPr/>
        <p:txBody>
          <a:bodyPr>
            <a:normAutofit fontScale="85000" lnSpcReduction="20000"/>
          </a:bodyPr>
          <a:lstStyle/>
          <a:p>
            <a:r>
              <a:rPr lang="en-US" dirty="0"/>
              <a:t>Enforce network policy.</a:t>
            </a:r>
          </a:p>
          <a:p>
            <a:r>
              <a:rPr lang="en-US" dirty="0"/>
              <a:t>Usually firewalls are put on the perimeter of a network and allow or deny traffic based on company or network policy.</a:t>
            </a:r>
          </a:p>
          <a:p>
            <a:r>
              <a:rPr lang="en-US" dirty="0"/>
              <a:t>MUST have IP forwarding turned off*</a:t>
            </a:r>
          </a:p>
          <a:p>
            <a:r>
              <a:rPr lang="en-US" dirty="0"/>
              <a:t>Firewalls are often used to create a DMZ. </a:t>
            </a:r>
          </a:p>
          <a:p>
            <a:r>
              <a:rPr lang="en-US" dirty="0"/>
              <a:t>Generally are </a:t>
            </a:r>
            <a:r>
              <a:rPr lang="en-US" i="1" dirty="0"/>
              <a:t>dual/multi homed</a:t>
            </a:r>
            <a:r>
              <a:rPr lang="en-US" dirty="0"/>
              <a:t>*</a:t>
            </a:r>
          </a:p>
          <a:p>
            <a:r>
              <a:rPr lang="en-US" dirty="0"/>
              <a:t>Types of firewalls</a:t>
            </a:r>
          </a:p>
          <a:p>
            <a:pPr lvl="1"/>
            <a:r>
              <a:rPr lang="en-US" dirty="0"/>
              <a:t>Packet filtering</a:t>
            </a:r>
          </a:p>
          <a:p>
            <a:pPr lvl="1"/>
            <a:r>
              <a:rPr lang="en-US" dirty="0"/>
              <a:t>State full</a:t>
            </a:r>
          </a:p>
          <a:p>
            <a:pPr lvl="1"/>
            <a:r>
              <a:rPr lang="en-US" dirty="0"/>
              <a:t>Proxy</a:t>
            </a:r>
          </a:p>
          <a:p>
            <a:pPr lvl="1"/>
            <a:r>
              <a:rPr lang="en-US" dirty="0"/>
              <a:t>Dynamic packet filtering</a:t>
            </a:r>
          </a:p>
          <a:p>
            <a:pPr lvl="1"/>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en-US"/>
              <a:t>Packet filter - 555</a:t>
            </a:r>
          </a:p>
        </p:txBody>
      </p:sp>
      <p:sp>
        <p:nvSpPr>
          <p:cNvPr id="116739" name="Rectangle 3"/>
          <p:cNvSpPr>
            <a:spLocks noGrp="1" noChangeArrowheads="1"/>
          </p:cNvSpPr>
          <p:nvPr>
            <p:ph idx="1"/>
          </p:nvPr>
        </p:nvSpPr>
        <p:spPr/>
        <p:txBody>
          <a:bodyPr>
            <a:normAutofit lnSpcReduction="10000"/>
          </a:bodyPr>
          <a:lstStyle/>
          <a:p>
            <a:r>
              <a:rPr lang="en-US" dirty="0"/>
              <a:t>Uses Access control lists (ACLs), which are rules that a firewall applies to each packet it receives.</a:t>
            </a:r>
          </a:p>
          <a:p>
            <a:r>
              <a:rPr lang="en-US" dirty="0"/>
              <a:t>Not state full, just looks at the network and transport layer packets (IP addresses, ports, and “flags”)</a:t>
            </a:r>
          </a:p>
          <a:p>
            <a:pPr lvl="1"/>
            <a:r>
              <a:rPr lang="en-US" dirty="0"/>
              <a:t>Do not look into the application, cannot block </a:t>
            </a:r>
            <a:r>
              <a:rPr lang="en-US" dirty="0" err="1"/>
              <a:t>viri</a:t>
            </a:r>
            <a:r>
              <a:rPr lang="en-US" dirty="0"/>
              <a:t> etc.</a:t>
            </a:r>
          </a:p>
          <a:p>
            <a:pPr lvl="1"/>
            <a:r>
              <a:rPr lang="en-US" dirty="0"/>
              <a:t>Generally do not support anything advanced or custom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Packet Filter</a:t>
            </a:r>
          </a:p>
        </p:txBody>
      </p:sp>
      <p:sp>
        <p:nvSpPr>
          <p:cNvPr id="3" name="Content Placeholder 2"/>
          <p:cNvSpPr>
            <a:spLocks noGrp="1"/>
          </p:cNvSpPr>
          <p:nvPr>
            <p:ph idx="1"/>
          </p:nvPr>
        </p:nvSpPr>
        <p:spPr/>
        <p:txBody>
          <a:bodyPr>
            <a:normAutofit lnSpcReduction="10000"/>
          </a:bodyPr>
          <a:lstStyle/>
          <a:p>
            <a:r>
              <a:rPr lang="en-US" dirty="0"/>
              <a:t>Packet filters keep no </a:t>
            </a:r>
            <a:r>
              <a:rPr lang="en-US" i="1" dirty="0"/>
              <a:t>state</a:t>
            </a:r>
            <a:r>
              <a:rPr lang="en-US" dirty="0"/>
              <a:t>*</a:t>
            </a:r>
          </a:p>
          <a:p>
            <a:pPr lvl="1"/>
            <a:r>
              <a:rPr lang="en-US" dirty="0"/>
              <a:t>Each packet is evaluated own it’s own without regard to previous traffic</a:t>
            </a:r>
          </a:p>
          <a:p>
            <a:pPr lvl="1"/>
            <a:r>
              <a:rPr lang="en-US" dirty="0"/>
              <a:t>Advantages</a:t>
            </a:r>
          </a:p>
          <a:p>
            <a:pPr lvl="1"/>
            <a:r>
              <a:rPr lang="en-US" dirty="0"/>
              <a:t>Disadvantages</a:t>
            </a:r>
          </a:p>
          <a:p>
            <a:pPr lvl="2"/>
            <a:r>
              <a:rPr lang="en-US" dirty="0"/>
              <a:t>fragments</a:t>
            </a:r>
          </a:p>
          <a:p>
            <a:r>
              <a:rPr lang="en-US" dirty="0"/>
              <a:t>Rule based access control</a:t>
            </a:r>
          </a:p>
          <a:p>
            <a:r>
              <a:rPr lang="en-US" dirty="0"/>
              <a:t>Packet filters are still used on the edge of the network before a </a:t>
            </a:r>
            <a:r>
              <a:rPr lang="en-US" dirty="0" err="1"/>
              <a:t>statefull</a:t>
            </a:r>
            <a:r>
              <a:rPr lang="en-US" dirty="0"/>
              <a:t> firewall for performance reasons.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r>
              <a:rPr lang="en-US"/>
              <a:t>State full firewall - 556</a:t>
            </a:r>
          </a:p>
        </p:txBody>
      </p:sp>
      <p:sp>
        <p:nvSpPr>
          <p:cNvPr id="117763" name="Rectangle 3"/>
          <p:cNvSpPr>
            <a:spLocks noGrp="1" noChangeArrowheads="1"/>
          </p:cNvSpPr>
          <p:nvPr>
            <p:ph idx="1"/>
          </p:nvPr>
        </p:nvSpPr>
        <p:spPr/>
        <p:txBody>
          <a:bodyPr>
            <a:normAutofit fontScale="92500" lnSpcReduction="20000"/>
          </a:bodyPr>
          <a:lstStyle/>
          <a:p>
            <a:r>
              <a:rPr lang="en-US" dirty="0"/>
              <a:t>router keeps track of a connections in a table. It knows which conversations are active, who is involved etc.</a:t>
            </a:r>
          </a:p>
          <a:p>
            <a:r>
              <a:rPr lang="en-US" dirty="0"/>
              <a:t>It allows return traffic to come back where a packet filter would have to have a specific rule to define returned traffic</a:t>
            </a:r>
          </a:p>
          <a:p>
            <a:r>
              <a:rPr lang="en-US" dirty="0"/>
              <a:t>More complex, and can launch </a:t>
            </a:r>
            <a:r>
              <a:rPr lang="en-US" dirty="0" err="1"/>
              <a:t>DoS</a:t>
            </a:r>
            <a:r>
              <a:rPr lang="en-US" dirty="0"/>
              <a:t> against by trying to fill up all the entries in the state tables/use up memory.</a:t>
            </a:r>
          </a:p>
          <a:p>
            <a:r>
              <a:rPr lang="en-US" dirty="0"/>
              <a:t>If rebooted can disrupt conversation that had been occurring.</a:t>
            </a:r>
          </a:p>
          <a:p>
            <a:r>
              <a:rPr lang="en-US" i="1" dirty="0"/>
              <a:t>Context dependant access control*</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r>
              <a:rPr lang="en-US"/>
              <a:t>Proxy firewalls - 557</a:t>
            </a:r>
          </a:p>
        </p:txBody>
      </p:sp>
      <p:sp>
        <p:nvSpPr>
          <p:cNvPr id="119811" name="Rectangle 3"/>
          <p:cNvSpPr>
            <a:spLocks noGrp="1" noChangeArrowheads="1"/>
          </p:cNvSpPr>
          <p:nvPr>
            <p:ph idx="1"/>
          </p:nvPr>
        </p:nvSpPr>
        <p:spPr/>
        <p:txBody>
          <a:bodyPr/>
          <a:lstStyle/>
          <a:p>
            <a:r>
              <a:rPr lang="en-US" dirty="0"/>
              <a:t>Two types of proxies</a:t>
            </a:r>
          </a:p>
          <a:p>
            <a:pPr lvl="1"/>
            <a:r>
              <a:rPr lang="en-US" dirty="0"/>
              <a:t>Circuit level*</a:t>
            </a:r>
          </a:p>
          <a:p>
            <a:pPr lvl="1"/>
            <a:r>
              <a:rPr lang="en-US" dirty="0"/>
              <a:t>Application*</a:t>
            </a:r>
          </a:p>
          <a:p>
            <a:pPr lvl="1"/>
            <a:endParaRPr lang="en-US" dirty="0"/>
          </a:p>
          <a:p>
            <a:r>
              <a:rPr lang="en-US" dirty="0"/>
              <a:t>Both types of Proxies hide the internal hosts/addressing from the outside world.</a:t>
            </a:r>
          </a:p>
          <a:p>
            <a:endParaRPr lang="en-US" dirty="0"/>
          </a:p>
          <a:p>
            <a:r>
              <a:rPr lang="en-US" dirty="0"/>
              <a:t>Talk about each of these on next slides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t>Circuit Level Proxy - 559</a:t>
            </a:r>
          </a:p>
        </p:txBody>
      </p:sp>
      <p:sp>
        <p:nvSpPr>
          <p:cNvPr id="120835" name="Rectangle 3"/>
          <p:cNvSpPr>
            <a:spLocks noGrp="1" noChangeArrowheads="1"/>
          </p:cNvSpPr>
          <p:nvPr>
            <p:ph idx="1"/>
          </p:nvPr>
        </p:nvSpPr>
        <p:spPr/>
        <p:txBody>
          <a:bodyPr/>
          <a:lstStyle/>
          <a:p>
            <a:r>
              <a:rPr lang="en-US" dirty="0"/>
              <a:t>A middleman.</a:t>
            </a:r>
          </a:p>
          <a:p>
            <a:r>
              <a:rPr lang="en-US" dirty="0"/>
              <a:t>A proxy  takes client information and sends it to a remote server,  it also receives a response and sends it back to the client.</a:t>
            </a:r>
          </a:p>
        </p:txBody>
      </p:sp>
      <p:pic>
        <p:nvPicPr>
          <p:cNvPr id="120836" name="Picture 4" descr="proxy-server"/>
          <p:cNvPicPr>
            <a:picLocks noChangeAspect="1" noChangeArrowheads="1"/>
          </p:cNvPicPr>
          <p:nvPr/>
        </p:nvPicPr>
        <p:blipFill>
          <a:blip r:embed="rId2" cstate="print"/>
          <a:srcRect/>
          <a:stretch>
            <a:fillRect/>
          </a:stretch>
        </p:blipFill>
        <p:spPr bwMode="auto">
          <a:xfrm>
            <a:off x="381000" y="3886200"/>
            <a:ext cx="7696200" cy="2824638"/>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en-US"/>
              <a:t>Circuit Level Proxies - 559</a:t>
            </a:r>
          </a:p>
        </p:txBody>
      </p:sp>
      <p:sp>
        <p:nvSpPr>
          <p:cNvPr id="121859" name="Rectangle 3"/>
          <p:cNvSpPr>
            <a:spLocks noGrp="1" noChangeArrowheads="1"/>
          </p:cNvSpPr>
          <p:nvPr>
            <p:ph idx="1"/>
          </p:nvPr>
        </p:nvSpPr>
        <p:spPr/>
        <p:txBody>
          <a:bodyPr>
            <a:normAutofit fontScale="70000" lnSpcReduction="20000"/>
          </a:bodyPr>
          <a:lstStyle/>
          <a:p>
            <a:pPr>
              <a:buNone/>
            </a:pPr>
            <a:r>
              <a:rPr lang="en-US" dirty="0"/>
              <a:t>Main purpose is to hide internal network and stop direct communications between external machines and internal machines.</a:t>
            </a:r>
          </a:p>
          <a:p>
            <a:pPr>
              <a:buNone/>
            </a:pPr>
            <a:endParaRPr lang="en-US" dirty="0"/>
          </a:p>
          <a:p>
            <a:pPr>
              <a:buNone/>
            </a:pPr>
            <a:r>
              <a:rPr lang="en-US" dirty="0"/>
              <a:t>Advantages</a:t>
            </a:r>
          </a:p>
          <a:p>
            <a:r>
              <a:rPr lang="en-US" dirty="0"/>
              <a:t>Fairly simple</a:t>
            </a:r>
          </a:p>
          <a:p>
            <a:r>
              <a:rPr lang="en-US" dirty="0"/>
              <a:t>Works with all network protocols</a:t>
            </a:r>
          </a:p>
          <a:p>
            <a:r>
              <a:rPr lang="en-US" dirty="0"/>
              <a:t>Hides internal network addresses</a:t>
            </a:r>
          </a:p>
          <a:p>
            <a:r>
              <a:rPr lang="en-US" dirty="0"/>
              <a:t>When used with a firewall, stops people from directly starting conversations with internal hosts, while still allowing internal hosts to communicate with the Internet</a:t>
            </a:r>
          </a:p>
          <a:p>
            <a:pPr>
              <a:buNone/>
            </a:pPr>
            <a:r>
              <a:rPr lang="en-US" dirty="0"/>
              <a:t>Disadvantages</a:t>
            </a:r>
          </a:p>
          <a:p>
            <a:r>
              <a:rPr lang="en-US" dirty="0"/>
              <a:t>A single point of failure and performance issues</a:t>
            </a:r>
          </a:p>
          <a:p>
            <a:r>
              <a:rPr lang="en-US" dirty="0"/>
              <a:t>Does not  analyze data does not protect from dangerous data</a:t>
            </a:r>
          </a:p>
          <a:p>
            <a:r>
              <a:rPr lang="en-US" dirty="0"/>
              <a:t>Cannot protect against, violations in the protocol or bad data being passed around, </a:t>
            </a:r>
          </a:p>
          <a:p>
            <a:endParaRPr lang="en-US" dirty="0"/>
          </a:p>
          <a:p>
            <a:endParaRPr lang="en-US" dirty="0"/>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en-US"/>
              <a:t>Application Proxies - 559</a:t>
            </a:r>
          </a:p>
        </p:txBody>
      </p:sp>
      <p:sp>
        <p:nvSpPr>
          <p:cNvPr id="122883" name="Rectangle 3"/>
          <p:cNvSpPr>
            <a:spLocks noGrp="1" noChangeArrowheads="1"/>
          </p:cNvSpPr>
          <p:nvPr>
            <p:ph idx="1"/>
          </p:nvPr>
        </p:nvSpPr>
        <p:spPr>
          <a:xfrm>
            <a:off x="457200" y="4572000"/>
            <a:ext cx="8229600" cy="1828800"/>
          </a:xfrm>
        </p:spPr>
        <p:txBody>
          <a:bodyPr>
            <a:normAutofit fontScale="85000" lnSpcReduction="10000"/>
          </a:bodyPr>
          <a:lstStyle/>
          <a:p>
            <a:r>
              <a:rPr lang="en-US" dirty="0"/>
              <a:t>Like circuit layer proxies, but actually understand the application/protocol they are </a:t>
            </a:r>
            <a:r>
              <a:rPr lang="en-US" dirty="0" err="1"/>
              <a:t>proxing</a:t>
            </a:r>
            <a:r>
              <a:rPr lang="en-US" dirty="0"/>
              <a:t>.</a:t>
            </a:r>
          </a:p>
          <a:p>
            <a:r>
              <a:rPr lang="en-US" dirty="0"/>
              <a:t>This allows for additional security as they can inspect the data for protocol violations or content.</a:t>
            </a:r>
          </a:p>
        </p:txBody>
      </p:sp>
      <p:pic>
        <p:nvPicPr>
          <p:cNvPr id="122884" name="Picture 4" descr="proxy-server"/>
          <p:cNvPicPr>
            <a:picLocks noChangeAspect="1" noChangeArrowheads="1"/>
          </p:cNvPicPr>
          <p:nvPr/>
        </p:nvPicPr>
        <p:blipFill>
          <a:blip r:embed="rId2" cstate="print"/>
          <a:srcRect/>
          <a:stretch>
            <a:fillRect/>
          </a:stretch>
        </p:blipFill>
        <p:spPr bwMode="auto">
          <a:xfrm>
            <a:off x="381000" y="1524000"/>
            <a:ext cx="8420100" cy="3089275"/>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a:t>Application Proxies - 559</a:t>
            </a:r>
          </a:p>
        </p:txBody>
      </p:sp>
      <p:sp>
        <p:nvSpPr>
          <p:cNvPr id="124931" name="Rectangle 3"/>
          <p:cNvSpPr>
            <a:spLocks noGrp="1" noChangeArrowheads="1"/>
          </p:cNvSpPr>
          <p:nvPr>
            <p:ph idx="1"/>
          </p:nvPr>
        </p:nvSpPr>
        <p:spPr/>
        <p:txBody>
          <a:bodyPr>
            <a:normAutofit fontScale="85000" lnSpcReduction="20000"/>
          </a:bodyPr>
          <a:lstStyle/>
          <a:p>
            <a:pPr>
              <a:buNone/>
            </a:pPr>
            <a:r>
              <a:rPr lang="en-US" dirty="0"/>
              <a:t>Advantages</a:t>
            </a:r>
          </a:p>
          <a:p>
            <a:pPr lvl="1"/>
            <a:r>
              <a:rPr lang="en-US" dirty="0"/>
              <a:t>Application proxies understand the protocol, so they can add extra security</a:t>
            </a:r>
          </a:p>
          <a:p>
            <a:pPr lvl="1"/>
            <a:r>
              <a:rPr lang="en-US" dirty="0"/>
              <a:t>Can have advanced logging/auditing and access control features</a:t>
            </a:r>
          </a:p>
          <a:p>
            <a:pPr lvl="2"/>
            <a:r>
              <a:rPr lang="en-US" dirty="0"/>
              <a:t>Ex. Restrict users to only allowed websites</a:t>
            </a:r>
          </a:p>
          <a:p>
            <a:pPr lvl="2"/>
            <a:r>
              <a:rPr lang="en-US" dirty="0"/>
              <a:t>Ex. Inspect data for protocol violations</a:t>
            </a:r>
          </a:p>
          <a:p>
            <a:pPr lvl="2"/>
            <a:r>
              <a:rPr lang="en-US" dirty="0"/>
              <a:t>Ex. Inspect data for malware (</a:t>
            </a:r>
            <a:r>
              <a:rPr lang="en-US" dirty="0" err="1"/>
              <a:t>viri</a:t>
            </a:r>
            <a:r>
              <a:rPr lang="en-US" dirty="0"/>
              <a:t> etc)</a:t>
            </a:r>
          </a:p>
          <a:p>
            <a:pPr>
              <a:buNone/>
            </a:pPr>
            <a:r>
              <a:rPr lang="en-US" dirty="0"/>
              <a:t>Disadvantages</a:t>
            </a:r>
          </a:p>
          <a:p>
            <a:pPr lvl="1"/>
            <a:r>
              <a:rPr lang="en-US" dirty="0"/>
              <a:t>Extra processing requires extra CPU (slower)</a:t>
            </a:r>
          </a:p>
          <a:p>
            <a:pPr lvl="1"/>
            <a:r>
              <a:rPr lang="en-US" dirty="0"/>
              <a:t>Proxies ONLY understand the protocols they were written to understand. So you generally have a separate application proxy for EACH protocol you want to proxy</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US"/>
              <a:t>Application Proxies - 559</a:t>
            </a:r>
          </a:p>
        </p:txBody>
      </p:sp>
      <p:sp>
        <p:nvSpPr>
          <p:cNvPr id="123907" name="Rectangle 3"/>
          <p:cNvSpPr>
            <a:spLocks noGrp="1" noChangeArrowheads="1"/>
          </p:cNvSpPr>
          <p:nvPr>
            <p:ph idx="1"/>
          </p:nvPr>
        </p:nvSpPr>
        <p:spPr/>
        <p:txBody>
          <a:bodyPr/>
          <a:lstStyle/>
          <a:p>
            <a:pPr>
              <a:buNone/>
            </a:pPr>
            <a:r>
              <a:rPr lang="en-US" dirty="0"/>
              <a:t>Examples: </a:t>
            </a:r>
          </a:p>
          <a:p>
            <a:pPr lvl="1"/>
            <a:r>
              <a:rPr lang="en-US" dirty="0"/>
              <a:t>Squid web proxy server</a:t>
            </a:r>
          </a:p>
          <a:p>
            <a:pPr lvl="1"/>
            <a:r>
              <a:rPr lang="en-US" dirty="0"/>
              <a:t>Internet Security and Acceleration Server (MS web proxy)</a:t>
            </a:r>
          </a:p>
          <a:p>
            <a:pPr lvl="1"/>
            <a:r>
              <a:rPr lang="en-US" dirty="0"/>
              <a:t>SMTP proxies</a:t>
            </a:r>
          </a:p>
          <a:p>
            <a:pPr lvl="1"/>
            <a:r>
              <a:rPr lang="en-US" dirty="0"/>
              <a:t>FTP proxies</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r>
              <a:rPr lang="en-US"/>
              <a:t>NAT/PNAT</a:t>
            </a:r>
          </a:p>
        </p:txBody>
      </p:sp>
      <p:sp>
        <p:nvSpPr>
          <p:cNvPr id="125955" name="Rectangle 3"/>
          <p:cNvSpPr>
            <a:spLocks noGrp="1" noChangeArrowheads="1"/>
          </p:cNvSpPr>
          <p:nvPr>
            <p:ph idx="1"/>
          </p:nvPr>
        </p:nvSpPr>
        <p:spPr/>
        <p:txBody>
          <a:bodyPr>
            <a:normAutofit/>
          </a:bodyPr>
          <a:lstStyle/>
          <a:p>
            <a:pPr>
              <a:buNone/>
            </a:pPr>
            <a:r>
              <a:rPr lang="en-US" dirty="0"/>
              <a:t>A proxy that works without special software and is transparent to the end users.</a:t>
            </a:r>
          </a:p>
          <a:p>
            <a:r>
              <a:rPr lang="en-US" dirty="0"/>
              <a:t>Remaps IP addresses, allowing you to use </a:t>
            </a:r>
            <a:r>
              <a:rPr lang="en-US" i="1" dirty="0"/>
              <a:t>private addresses </a:t>
            </a:r>
            <a:r>
              <a:rPr lang="en-US" dirty="0"/>
              <a:t>internally and map them to </a:t>
            </a:r>
            <a:r>
              <a:rPr lang="en-US" i="1" dirty="0"/>
              <a:t>public IP addresses</a:t>
            </a:r>
          </a:p>
          <a:p>
            <a:r>
              <a:rPr lang="en-US" dirty="0"/>
              <a:t>NAT allows a one-to-one mapping of IP addresses</a:t>
            </a:r>
          </a:p>
          <a:p>
            <a:r>
              <a:rPr lang="en-US" dirty="0"/>
              <a:t>PAT allows multiple </a:t>
            </a:r>
            <a:r>
              <a:rPr lang="en-US" i="1" dirty="0"/>
              <a:t>private address</a:t>
            </a:r>
            <a:r>
              <a:rPr lang="en-US" dirty="0"/>
              <a:t> to share one </a:t>
            </a:r>
            <a:r>
              <a:rPr lang="en-US" i="1" dirty="0"/>
              <a:t>public address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idx="4294967295"/>
          </p:nvPr>
        </p:nvSpPr>
        <p:spPr>
          <a:xfrm>
            <a:off x="0" y="155575"/>
            <a:ext cx="8229600" cy="1252538"/>
          </a:xfrm>
        </p:spPr>
        <p:txBody>
          <a:bodyPr/>
          <a:lstStyle/>
          <a:p>
            <a:r>
              <a:rPr lang="en-US"/>
              <a:t>NAT</a:t>
            </a:r>
          </a:p>
        </p:txBody>
      </p:sp>
      <p:pic>
        <p:nvPicPr>
          <p:cNvPr id="126979" name="Picture 3" descr="nat"/>
          <p:cNvPicPr>
            <a:picLocks noChangeAspect="1" noChangeArrowheads="1"/>
          </p:cNvPicPr>
          <p:nvPr/>
        </p:nvPicPr>
        <p:blipFill>
          <a:blip r:embed="rId2" cstate="print"/>
          <a:srcRect b="47604"/>
          <a:stretch>
            <a:fillRect/>
          </a:stretch>
        </p:blipFill>
        <p:spPr bwMode="auto">
          <a:xfrm>
            <a:off x="228600" y="1285875"/>
            <a:ext cx="8686800" cy="2828925"/>
          </a:xfrm>
          <a:prstGeom prst="rect">
            <a:avLst/>
          </a:prstGeom>
          <a:noFill/>
          <a:ln w="9525">
            <a:noFill/>
            <a:miter lim="800000"/>
            <a:headEnd/>
            <a:tailEnd/>
          </a:ln>
        </p:spPr>
      </p:pic>
      <p:pic>
        <p:nvPicPr>
          <p:cNvPr id="126982" name="Picture 3" descr="nat"/>
          <p:cNvPicPr>
            <a:picLocks noChangeAspect="1" noChangeArrowheads="1"/>
          </p:cNvPicPr>
          <p:nvPr/>
        </p:nvPicPr>
        <p:blipFill>
          <a:blip r:embed="rId2" cstate="print"/>
          <a:srcRect b="26433"/>
          <a:stretch>
            <a:fillRect/>
          </a:stretch>
        </p:blipFill>
        <p:spPr bwMode="auto">
          <a:xfrm>
            <a:off x="228600" y="1285875"/>
            <a:ext cx="8686800" cy="3971925"/>
          </a:xfrm>
          <a:prstGeom prst="rect">
            <a:avLst/>
          </a:prstGeom>
          <a:noFill/>
          <a:ln w="9525">
            <a:noFill/>
            <a:miter lim="800000"/>
            <a:headEnd/>
            <a:tailEnd/>
          </a:ln>
        </p:spPr>
      </p:pic>
      <p:pic>
        <p:nvPicPr>
          <p:cNvPr id="126983" name="Picture 3" descr="nat"/>
          <p:cNvPicPr>
            <a:picLocks noChangeAspect="1" noChangeArrowheads="1"/>
          </p:cNvPicPr>
          <p:nvPr/>
        </p:nvPicPr>
        <p:blipFill>
          <a:blip r:embed="rId2" cstate="print"/>
          <a:srcRect/>
          <a:stretch>
            <a:fillRect/>
          </a:stretch>
        </p:blipFill>
        <p:spPr bwMode="auto">
          <a:xfrm>
            <a:off x="228600" y="1285875"/>
            <a:ext cx="8686800" cy="53990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69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69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69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idx="4294967295"/>
          </p:nvPr>
        </p:nvSpPr>
        <p:spPr>
          <a:xfrm>
            <a:off x="0" y="152400"/>
            <a:ext cx="8229600" cy="1143000"/>
          </a:xfrm>
        </p:spPr>
        <p:txBody>
          <a:bodyPr/>
          <a:lstStyle/>
          <a:p>
            <a:pPr eaLnBrk="1" hangingPunct="1"/>
            <a:r>
              <a:rPr lang="en-US"/>
              <a:t>PNAT</a:t>
            </a:r>
          </a:p>
        </p:txBody>
      </p:sp>
      <p:pic>
        <p:nvPicPr>
          <p:cNvPr id="129027" name="Picture 3" descr="PNAT"/>
          <p:cNvPicPr>
            <a:picLocks noChangeAspect="1" noChangeArrowheads="1"/>
          </p:cNvPicPr>
          <p:nvPr/>
        </p:nvPicPr>
        <p:blipFill>
          <a:blip r:embed="rId2" cstate="print"/>
          <a:srcRect b="50978"/>
          <a:stretch>
            <a:fillRect/>
          </a:stretch>
        </p:blipFill>
        <p:spPr bwMode="auto">
          <a:xfrm>
            <a:off x="304800" y="1066800"/>
            <a:ext cx="8589963" cy="2743200"/>
          </a:xfrm>
          <a:prstGeom prst="rect">
            <a:avLst/>
          </a:prstGeom>
          <a:noFill/>
          <a:ln w="9525">
            <a:noFill/>
            <a:miter lim="800000"/>
            <a:headEnd/>
            <a:tailEnd/>
          </a:ln>
        </p:spPr>
      </p:pic>
      <p:pic>
        <p:nvPicPr>
          <p:cNvPr id="129030" name="Picture 3" descr="PNAT"/>
          <p:cNvPicPr>
            <a:picLocks noChangeAspect="1" noChangeArrowheads="1"/>
          </p:cNvPicPr>
          <p:nvPr/>
        </p:nvPicPr>
        <p:blipFill>
          <a:blip r:embed="rId2" cstate="print"/>
          <a:srcRect b="23744"/>
          <a:stretch>
            <a:fillRect/>
          </a:stretch>
        </p:blipFill>
        <p:spPr bwMode="auto">
          <a:xfrm>
            <a:off x="304800" y="1066800"/>
            <a:ext cx="8589963" cy="4267200"/>
          </a:xfrm>
          <a:prstGeom prst="rect">
            <a:avLst/>
          </a:prstGeom>
          <a:noFill/>
          <a:ln w="9525">
            <a:noFill/>
            <a:miter lim="800000"/>
            <a:headEnd/>
            <a:tailEnd/>
          </a:ln>
        </p:spPr>
      </p:pic>
      <p:pic>
        <p:nvPicPr>
          <p:cNvPr id="129031" name="Picture 3" descr="PNAT"/>
          <p:cNvPicPr>
            <a:picLocks noChangeAspect="1" noChangeArrowheads="1"/>
          </p:cNvPicPr>
          <p:nvPr/>
        </p:nvPicPr>
        <p:blipFill>
          <a:blip r:embed="rId2" cstate="print"/>
          <a:srcRect/>
          <a:stretch>
            <a:fillRect/>
          </a:stretch>
        </p:blipFill>
        <p:spPr bwMode="auto">
          <a:xfrm>
            <a:off x="304800" y="1066800"/>
            <a:ext cx="8589963" cy="559593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90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90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90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en-US" dirty="0"/>
              <a:t>NAT/PAT difference</a:t>
            </a:r>
          </a:p>
        </p:txBody>
      </p:sp>
      <p:sp>
        <p:nvSpPr>
          <p:cNvPr id="131075" name="Rectangle 3"/>
          <p:cNvSpPr>
            <a:spLocks noGrp="1" noChangeArrowheads="1"/>
          </p:cNvSpPr>
          <p:nvPr>
            <p:ph idx="1"/>
          </p:nvPr>
        </p:nvSpPr>
        <p:spPr/>
        <p:txBody>
          <a:bodyPr>
            <a:normAutofit fontScale="92500" lnSpcReduction="20000"/>
          </a:bodyPr>
          <a:lstStyle/>
          <a:p>
            <a:r>
              <a:rPr lang="en-US" dirty="0"/>
              <a:t>NAT ONLY looks and rewrite the IP addresses*.</a:t>
            </a:r>
          </a:p>
          <a:p>
            <a:r>
              <a:rPr lang="en-US" dirty="0"/>
              <a:t>NAT requires 1 public IP for each computer that wants to access the Internet simultaneously. If you have 100 computer and you expect 20 of them to access the Internet at any time, 20 public IP addresses are required.</a:t>
            </a:r>
          </a:p>
          <a:p>
            <a:r>
              <a:rPr lang="en-US" dirty="0"/>
              <a:t>PAT looks at the IP and transport layer </a:t>
            </a:r>
            <a:r>
              <a:rPr lang="en-US" i="1" dirty="0"/>
              <a:t>port number</a:t>
            </a:r>
            <a:r>
              <a:rPr lang="en-US" dirty="0"/>
              <a:t> and rewrites both*</a:t>
            </a:r>
          </a:p>
          <a:p>
            <a:r>
              <a:rPr lang="en-US" dirty="0"/>
              <a:t>PAT only requires 1 public IP address and can support about 65,000 simultaneous connections for each IP public IP address.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a:lstStyle/>
          <a:p>
            <a:r>
              <a:rPr lang="en-US"/>
              <a:t>NAT / PNAT</a:t>
            </a:r>
          </a:p>
        </p:txBody>
      </p:sp>
      <p:sp>
        <p:nvSpPr>
          <p:cNvPr id="132099" name="Rectangle 3"/>
          <p:cNvSpPr>
            <a:spLocks noGrp="1" noChangeArrowheads="1"/>
          </p:cNvSpPr>
          <p:nvPr>
            <p:ph idx="1"/>
          </p:nvPr>
        </p:nvSpPr>
        <p:spPr/>
        <p:txBody>
          <a:bodyPr>
            <a:normAutofit fontScale="92500" lnSpcReduction="20000"/>
          </a:bodyPr>
          <a:lstStyle/>
          <a:p>
            <a:r>
              <a:rPr lang="en-US" dirty="0"/>
              <a:t>Advantages</a:t>
            </a:r>
          </a:p>
          <a:p>
            <a:pPr lvl="1"/>
            <a:r>
              <a:rPr lang="en-US" dirty="0"/>
              <a:t>Allows you to use private addresses Internally, you don’t need to get real public IP addresses for each computer</a:t>
            </a:r>
          </a:p>
          <a:p>
            <a:pPr lvl="1"/>
            <a:r>
              <a:rPr lang="en-US" dirty="0"/>
              <a:t>Protects the network by stopping external entities from starting conversations to internal machines</a:t>
            </a:r>
          </a:p>
          <a:p>
            <a:pPr lvl="1"/>
            <a:r>
              <a:rPr lang="en-US" dirty="0"/>
              <a:t>Hides internal network structure</a:t>
            </a:r>
          </a:p>
          <a:p>
            <a:pPr lvl="1"/>
            <a:r>
              <a:rPr lang="en-US" dirty="0"/>
              <a:t>Transparent, doesn’t require special software</a:t>
            </a:r>
          </a:p>
          <a:p>
            <a:r>
              <a:rPr lang="en-US" dirty="0"/>
              <a:t>Disadvantages</a:t>
            </a:r>
          </a:p>
          <a:p>
            <a:pPr lvl="1"/>
            <a:r>
              <a:rPr lang="en-US" dirty="0"/>
              <a:t>Single Point of Failure / Performance Bottleneck</a:t>
            </a:r>
          </a:p>
          <a:p>
            <a:pPr lvl="1"/>
            <a:r>
              <a:rPr lang="en-US" dirty="0"/>
              <a:t>Doesn’t protect from bad content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normAutofit fontScale="90000"/>
          </a:bodyPr>
          <a:lstStyle/>
          <a:p>
            <a:r>
              <a:rPr lang="en-US"/>
              <a:t>Overall Firewall best practices (563)</a:t>
            </a:r>
          </a:p>
        </p:txBody>
      </p:sp>
      <p:sp>
        <p:nvSpPr>
          <p:cNvPr id="521219" name="Rectangle 3"/>
          <p:cNvSpPr>
            <a:spLocks noGrp="1" noChangeArrowheads="1"/>
          </p:cNvSpPr>
          <p:nvPr>
            <p:ph idx="1"/>
          </p:nvPr>
        </p:nvSpPr>
        <p:spPr/>
        <p:txBody>
          <a:bodyPr>
            <a:normAutofit fontScale="92500" lnSpcReduction="10000"/>
          </a:bodyPr>
          <a:lstStyle/>
          <a:p>
            <a:r>
              <a:rPr lang="en-US" dirty="0"/>
              <a:t>Block un-necessary ICMP packets types. </a:t>
            </a:r>
          </a:p>
          <a:p>
            <a:pPr lvl="1"/>
            <a:r>
              <a:rPr lang="en-US" dirty="0"/>
              <a:t>(Be careful though, know your environment)</a:t>
            </a:r>
          </a:p>
          <a:p>
            <a:r>
              <a:rPr lang="en-US" dirty="0"/>
              <a:t>Keep ACLS simple</a:t>
            </a:r>
          </a:p>
          <a:p>
            <a:r>
              <a:rPr lang="en-US" dirty="0"/>
              <a:t>Use </a:t>
            </a:r>
            <a:r>
              <a:rPr lang="en-US" i="1" dirty="0"/>
              <a:t>Implicit deny</a:t>
            </a:r>
            <a:r>
              <a:rPr lang="en-US" dirty="0"/>
              <a:t>*</a:t>
            </a:r>
          </a:p>
          <a:p>
            <a:r>
              <a:rPr lang="en-US" dirty="0"/>
              <a:t>Disallow </a:t>
            </a:r>
            <a:r>
              <a:rPr lang="en-US" i="1" dirty="0"/>
              <a:t>source routed packets</a:t>
            </a:r>
            <a:r>
              <a:rPr lang="en-US" dirty="0"/>
              <a:t>*</a:t>
            </a:r>
          </a:p>
          <a:p>
            <a:r>
              <a:rPr lang="en-US" dirty="0"/>
              <a:t>Use </a:t>
            </a:r>
            <a:r>
              <a:rPr lang="en-US" i="1" dirty="0"/>
              <a:t>least privilege*</a:t>
            </a:r>
          </a:p>
          <a:p>
            <a:r>
              <a:rPr lang="en-US" dirty="0"/>
              <a:t>Block </a:t>
            </a:r>
            <a:r>
              <a:rPr lang="en-US" i="1" dirty="0"/>
              <a:t>directed IP</a:t>
            </a:r>
            <a:r>
              <a:rPr lang="en-US" dirty="0"/>
              <a:t> broadcasts</a:t>
            </a:r>
          </a:p>
          <a:p>
            <a:r>
              <a:rPr lang="en-US" dirty="0"/>
              <a:t>Perform </a:t>
            </a:r>
            <a:r>
              <a:rPr lang="en-US" i="1" dirty="0"/>
              <a:t>ingress and egress filtering</a:t>
            </a:r>
            <a:r>
              <a:rPr lang="en-US" dirty="0"/>
              <a:t>*</a:t>
            </a:r>
          </a:p>
          <a:p>
            <a:r>
              <a:rPr lang="en-US" dirty="0"/>
              <a:t>Enable logging</a:t>
            </a:r>
          </a:p>
          <a:p>
            <a:r>
              <a:rPr lang="en-US" dirty="0"/>
              <a:t>Drop fragments or re-assemble fragments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en-US"/>
              <a:t> Overall Firewall issues</a:t>
            </a:r>
          </a:p>
        </p:txBody>
      </p:sp>
      <p:sp>
        <p:nvSpPr>
          <p:cNvPr id="134147" name="Rectangle 3"/>
          <p:cNvSpPr>
            <a:spLocks noGrp="1" noChangeArrowheads="1"/>
          </p:cNvSpPr>
          <p:nvPr>
            <p:ph idx="1"/>
          </p:nvPr>
        </p:nvSpPr>
        <p:spPr/>
        <p:txBody>
          <a:bodyPr/>
          <a:lstStyle/>
          <a:p>
            <a:r>
              <a:rPr lang="en-US" dirty="0"/>
              <a:t>Potential bottleneck</a:t>
            </a:r>
          </a:p>
          <a:p>
            <a:r>
              <a:rPr lang="en-US" dirty="0"/>
              <a:t>Can restrict valid access</a:t>
            </a:r>
          </a:p>
          <a:p>
            <a:r>
              <a:rPr lang="en-US" dirty="0"/>
              <a:t>Often </a:t>
            </a:r>
            <a:r>
              <a:rPr lang="en-US" dirty="0" err="1"/>
              <a:t>mis</a:t>
            </a:r>
            <a:r>
              <a:rPr lang="en-US" dirty="0"/>
              <a:t>-configured</a:t>
            </a:r>
          </a:p>
          <a:p>
            <a:r>
              <a:rPr lang="en-US" dirty="0"/>
              <a:t>Except for application proxies firewalls generally do not filter out malware or improper content.</a:t>
            </a:r>
          </a:p>
          <a:p>
            <a:r>
              <a:rPr lang="en-US" dirty="0"/>
              <a:t>Don’t protect against internal attacks!*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4"/>
          <p:cNvSpPr>
            <a:spLocks noGrp="1" noChangeArrowheads="1"/>
          </p:cNvSpPr>
          <p:nvPr>
            <p:ph type="ctrTitle"/>
          </p:nvPr>
        </p:nvSpPr>
        <p:spPr/>
        <p:txBody>
          <a:bodyPr/>
          <a:lstStyle/>
          <a:p>
            <a:pPr eaLnBrk="1" hangingPunct="1"/>
            <a:r>
              <a:rPr lang="en-US"/>
              <a:t>Firewall Architecture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r>
              <a:rPr lang="en-US"/>
              <a:t>Security Zones</a:t>
            </a:r>
          </a:p>
        </p:txBody>
      </p:sp>
      <p:sp>
        <p:nvSpPr>
          <p:cNvPr id="136195" name="Rectangle 3"/>
          <p:cNvSpPr>
            <a:spLocks noGrp="1" noChangeArrowheads="1"/>
          </p:cNvSpPr>
          <p:nvPr>
            <p:ph idx="1"/>
          </p:nvPr>
        </p:nvSpPr>
        <p:spPr/>
        <p:txBody>
          <a:bodyPr>
            <a:normAutofit lnSpcReduction="10000"/>
          </a:bodyPr>
          <a:lstStyle/>
          <a:p>
            <a:pPr>
              <a:buNone/>
            </a:pPr>
            <a:r>
              <a:rPr lang="en-US" dirty="0"/>
              <a:t>It is common practice in network and physical security to group different security levels into different areas or zones. Each zone is either more or less trusted then the other zones. Interfaces between zones have some type of access control to restrict movement between zones (like biometric and guard stations) or firewalls.) In Network security there is often a median zone between the Internet and internal network called a DMZ.</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en-US"/>
              <a:t>DMZ </a:t>
            </a:r>
          </a:p>
        </p:txBody>
      </p:sp>
      <p:sp>
        <p:nvSpPr>
          <p:cNvPr id="137219" name="Rectangle 3"/>
          <p:cNvSpPr>
            <a:spLocks noGrp="1" noChangeArrowheads="1"/>
          </p:cNvSpPr>
          <p:nvPr>
            <p:ph idx="1"/>
          </p:nvPr>
        </p:nvSpPr>
        <p:spPr/>
        <p:txBody>
          <a:bodyPr>
            <a:normAutofit/>
          </a:bodyPr>
          <a:lstStyle/>
          <a:p>
            <a:pPr>
              <a:buNone/>
            </a:pPr>
            <a:r>
              <a:rPr lang="en-US" dirty="0"/>
              <a:t>A buffer zone between an unprotected network and a protected network that allows for the monitoring and regulation of traffic between the two.</a:t>
            </a:r>
          </a:p>
          <a:p>
            <a:pPr lvl="1"/>
            <a:r>
              <a:rPr lang="en-US" dirty="0"/>
              <a:t>Internet accessible servers (</a:t>
            </a:r>
            <a:r>
              <a:rPr lang="en-US" i="1" dirty="0"/>
              <a:t>bastion hosts</a:t>
            </a:r>
            <a:r>
              <a:rPr lang="en-US" dirty="0"/>
              <a:t>) are placed in a DMZ between the Internet and Internal network</a:t>
            </a:r>
          </a:p>
          <a:p>
            <a:pPr lvl="1">
              <a:buNone/>
            </a:pP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a:xfrm>
            <a:off x="457200" y="304800"/>
            <a:ext cx="8229600" cy="1143000"/>
          </a:xfrm>
        </p:spPr>
        <p:txBody>
          <a:bodyPr/>
          <a:lstStyle/>
          <a:p>
            <a:pPr eaLnBrk="1" hangingPunct="1"/>
            <a:r>
              <a:rPr lang="en-US"/>
              <a:t>DMZ</a:t>
            </a:r>
          </a:p>
        </p:txBody>
      </p:sp>
      <p:pic>
        <p:nvPicPr>
          <p:cNvPr id="139267" name="Picture 5" descr="DMZ"/>
          <p:cNvPicPr>
            <a:picLocks noChangeAspect="1" noChangeArrowheads="1"/>
          </p:cNvPicPr>
          <p:nvPr/>
        </p:nvPicPr>
        <p:blipFill>
          <a:blip r:embed="rId2" cstate="print"/>
          <a:srcRect/>
          <a:stretch>
            <a:fillRect/>
          </a:stretch>
        </p:blipFill>
        <p:spPr bwMode="auto">
          <a:xfrm>
            <a:off x="838200" y="1525620"/>
            <a:ext cx="7162800" cy="4589430"/>
          </a:xfrm>
          <a:prstGeom prst="rect">
            <a:avLst/>
          </a:prstGeom>
          <a:noFill/>
          <a:ln w="9525">
            <a:no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DMZ architectures</a:t>
            </a:r>
          </a:p>
        </p:txBody>
      </p:sp>
      <p:sp>
        <p:nvSpPr>
          <p:cNvPr id="3" name="Content Placeholder 2"/>
          <p:cNvSpPr>
            <a:spLocks noGrp="1"/>
          </p:cNvSpPr>
          <p:nvPr>
            <p:ph idx="1"/>
          </p:nvPr>
        </p:nvSpPr>
        <p:spPr/>
        <p:txBody>
          <a:bodyPr/>
          <a:lstStyle/>
          <a:p>
            <a:r>
              <a:rPr lang="en-US" dirty="0"/>
              <a:t>Multi-homed Firewall</a:t>
            </a:r>
          </a:p>
          <a:p>
            <a:r>
              <a:rPr lang="en-US" dirty="0"/>
              <a:t>Screened Subnet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en-US" dirty="0"/>
              <a:t>Multi Homed Firewall - 565</a:t>
            </a:r>
          </a:p>
        </p:txBody>
      </p:sp>
      <p:sp>
        <p:nvSpPr>
          <p:cNvPr id="140291" name="Rectangle 3"/>
          <p:cNvSpPr>
            <a:spLocks noGrp="1" noChangeArrowheads="1"/>
          </p:cNvSpPr>
          <p:nvPr>
            <p:ph idx="1"/>
          </p:nvPr>
        </p:nvSpPr>
        <p:spPr/>
        <p:txBody>
          <a:bodyPr/>
          <a:lstStyle/>
          <a:p>
            <a:r>
              <a:rPr lang="en-US" dirty="0"/>
              <a:t>Multi-homed firewalls may be used to setup a DMZ with a single firewall. (see next slide)</a:t>
            </a:r>
          </a:p>
          <a:p>
            <a:r>
              <a:rPr lang="en-US" dirty="0"/>
              <a:t>On any multi-homed machine, </a:t>
            </a:r>
            <a:r>
              <a:rPr lang="en-US" i="1" dirty="0"/>
              <a:t>IP</a:t>
            </a:r>
            <a:r>
              <a:rPr lang="en-US" dirty="0"/>
              <a:t> </a:t>
            </a:r>
            <a:r>
              <a:rPr lang="en-US" i="1" dirty="0"/>
              <a:t>forwarding</a:t>
            </a:r>
            <a:r>
              <a:rPr lang="en-US" dirty="0"/>
              <a:t> should be disabled.*</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eaLnBrk="1" hangingPunct="1"/>
            <a:r>
              <a:rPr lang="en-US"/>
              <a:t>Multi-homed firewall</a:t>
            </a:r>
          </a:p>
        </p:txBody>
      </p:sp>
      <p:pic>
        <p:nvPicPr>
          <p:cNvPr id="141315" name="Picture 4" descr="multhome"/>
          <p:cNvPicPr>
            <a:picLocks noChangeAspect="1" noChangeArrowheads="1"/>
          </p:cNvPicPr>
          <p:nvPr/>
        </p:nvPicPr>
        <p:blipFill>
          <a:blip r:embed="rId2" cstate="print"/>
          <a:srcRect/>
          <a:stretch>
            <a:fillRect/>
          </a:stretch>
        </p:blipFill>
        <p:spPr bwMode="auto">
          <a:xfrm>
            <a:off x="609600" y="1420813"/>
            <a:ext cx="7924800" cy="5083175"/>
          </a:xfrm>
          <a:prstGeom prst="rect">
            <a:avLst/>
          </a:prstGeom>
          <a:noFill/>
          <a:ln w="9525">
            <a:noFill/>
            <a:miter lim="800000"/>
            <a:headEnd/>
            <a:tailEnd/>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US"/>
              <a:t>Screened Subnet - 566</a:t>
            </a:r>
          </a:p>
        </p:txBody>
      </p:sp>
      <p:sp>
        <p:nvSpPr>
          <p:cNvPr id="142339" name="Rectangle 3"/>
          <p:cNvSpPr>
            <a:spLocks noGrp="1" noChangeArrowheads="1"/>
          </p:cNvSpPr>
          <p:nvPr>
            <p:ph idx="1"/>
          </p:nvPr>
        </p:nvSpPr>
        <p:spPr/>
        <p:txBody>
          <a:bodyPr/>
          <a:lstStyle/>
          <a:p>
            <a:pPr>
              <a:buNone/>
            </a:pPr>
            <a:r>
              <a:rPr lang="en-US" dirty="0"/>
              <a:t>In a screen subnet, there is a separate firewall on both sides of the DMZ.</a:t>
            </a:r>
          </a:p>
          <a:p>
            <a:pPr>
              <a:buNone/>
            </a:pPr>
            <a:endParaRPr lang="en-US" dirty="0"/>
          </a:p>
          <a:p>
            <a:pPr>
              <a:buNone/>
            </a:pPr>
            <a:r>
              <a:rPr lang="en-US" dirty="0"/>
              <a:t>When using this model it is recommended that each firewall be a different vendor/product.</a:t>
            </a:r>
          </a:p>
          <a:p>
            <a:pPr lvl="1"/>
            <a:r>
              <a:rPr lang="en-US" i="1" dirty="0"/>
              <a:t>Diversity of defense*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en-US"/>
              <a:t>Screened Subnet</a:t>
            </a:r>
            <a:endParaRPr lang="en-US" dirty="0"/>
          </a:p>
        </p:txBody>
      </p:sp>
      <p:sp>
        <p:nvSpPr>
          <p:cNvPr id="5" name="Content Placeholder 4"/>
          <p:cNvSpPr>
            <a:spLocks noGrp="1"/>
          </p:cNvSpPr>
          <p:nvPr>
            <p:ph idx="1"/>
          </p:nvPr>
        </p:nvSpPr>
        <p:spPr/>
        <p:txBody>
          <a:bodyPr/>
          <a:lstStyle/>
          <a:p>
            <a:endParaRPr lang="en-US"/>
          </a:p>
        </p:txBody>
      </p:sp>
      <p:pic>
        <p:nvPicPr>
          <p:cNvPr id="143363" name="Picture 4" descr="DMZ"/>
          <p:cNvPicPr>
            <a:picLocks noChangeAspect="1" noChangeArrowheads="1"/>
          </p:cNvPicPr>
          <p:nvPr/>
        </p:nvPicPr>
        <p:blipFill>
          <a:blip r:embed="rId2" cstate="print"/>
          <a:srcRect/>
          <a:stretch>
            <a:fillRect/>
          </a:stretch>
        </p:blipFill>
        <p:spPr bwMode="auto">
          <a:xfrm>
            <a:off x="685800" y="1447800"/>
            <a:ext cx="7696200" cy="4937125"/>
          </a:xfrm>
          <a:prstGeom prst="rect">
            <a:avLst/>
          </a:prstGeom>
          <a:noFill/>
          <a:ln w="9525">
            <a:noFill/>
            <a:miter lim="800000"/>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US"/>
              <a:t>Multiple interface firewalls - 560 </a:t>
            </a:r>
          </a:p>
        </p:txBody>
      </p:sp>
      <p:sp>
        <p:nvSpPr>
          <p:cNvPr id="144387" name="Rectangle 3"/>
          <p:cNvSpPr>
            <a:spLocks noGrp="1" noChangeArrowheads="1"/>
          </p:cNvSpPr>
          <p:nvPr>
            <p:ph idx="1"/>
          </p:nvPr>
        </p:nvSpPr>
        <p:spPr/>
        <p:txBody>
          <a:bodyPr/>
          <a:lstStyle/>
          <a:p>
            <a:r>
              <a:rPr lang="en-US" dirty="0"/>
              <a:t>A firewall can be placed internally to protect internal networks from each other!</a:t>
            </a:r>
          </a:p>
          <a:p>
            <a:endParaRPr lang="en-US" dirty="0"/>
          </a:p>
        </p:txBody>
      </p:sp>
      <p:pic>
        <p:nvPicPr>
          <p:cNvPr id="144388" name="Picture 4" descr="multhome"/>
          <p:cNvPicPr>
            <a:picLocks noChangeAspect="1" noChangeArrowheads="1"/>
          </p:cNvPicPr>
          <p:nvPr/>
        </p:nvPicPr>
        <p:blipFill>
          <a:blip r:embed="rId2" cstate="print"/>
          <a:srcRect/>
          <a:stretch>
            <a:fillRect/>
          </a:stretch>
        </p:blipFill>
        <p:spPr bwMode="auto">
          <a:xfrm>
            <a:off x="1600200" y="2862477"/>
            <a:ext cx="5334000" cy="3420848"/>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4"/>
          <p:cNvSpPr>
            <a:spLocks noGrp="1" noChangeArrowheads="1"/>
          </p:cNvSpPr>
          <p:nvPr>
            <p:ph type="ctrTitle"/>
          </p:nvPr>
        </p:nvSpPr>
        <p:spPr/>
        <p:txBody>
          <a:bodyPr/>
          <a:lstStyle/>
          <a:p>
            <a:r>
              <a:rPr lang="en-US" dirty="0"/>
              <a:t>Other Random Network Terms</a:t>
            </a:r>
          </a:p>
        </p:txBody>
      </p:sp>
      <p:sp>
        <p:nvSpPr>
          <p:cNvPr id="4" name="Subtitle 3"/>
          <p:cNvSpPr>
            <a:spLocks noGrp="1"/>
          </p:cNvSpPr>
          <p:nvPr>
            <p:ph type="subTitle" idx="1"/>
          </p:nvPr>
        </p:nvSpPr>
        <p:spPr/>
        <p:txBody>
          <a:bodyPr/>
          <a:lstStyle/>
          <a:p>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normAutofit fontScale="90000"/>
          </a:bodyPr>
          <a:lstStyle/>
          <a:p>
            <a:r>
              <a:rPr lang="en-US"/>
              <a:t>Other Technological security concepts (572)</a:t>
            </a:r>
          </a:p>
        </p:txBody>
      </p:sp>
      <p:sp>
        <p:nvSpPr>
          <p:cNvPr id="146435" name="Rectangle 3"/>
          <p:cNvSpPr>
            <a:spLocks noGrp="1" noChangeArrowheads="1"/>
          </p:cNvSpPr>
          <p:nvPr>
            <p:ph idx="1"/>
          </p:nvPr>
        </p:nvSpPr>
        <p:spPr/>
        <p:txBody>
          <a:bodyPr/>
          <a:lstStyle/>
          <a:p>
            <a:r>
              <a:rPr lang="en-US" dirty="0"/>
              <a:t>Honey pot – a machine left open for attackers to attack.</a:t>
            </a:r>
          </a:p>
          <a:p>
            <a:r>
              <a:rPr lang="en-US" dirty="0"/>
              <a:t>Honey net – an entire network left open for attackers to attack.</a:t>
            </a:r>
          </a:p>
          <a:p>
            <a:pPr>
              <a:buNone/>
            </a:pPr>
            <a:endParaRPr lang="en-US" dirty="0"/>
          </a:p>
          <a:p>
            <a:r>
              <a:rPr lang="en-US" dirty="0"/>
              <a:t>Know the difference between entrapment and enticement?*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en-US"/>
              <a:t>NOS (568)</a:t>
            </a:r>
          </a:p>
        </p:txBody>
      </p:sp>
      <p:sp>
        <p:nvSpPr>
          <p:cNvPr id="147459" name="Rectangle 3"/>
          <p:cNvSpPr>
            <a:spLocks noGrp="1" noChangeArrowheads="1"/>
          </p:cNvSpPr>
          <p:nvPr>
            <p:ph idx="1"/>
          </p:nvPr>
        </p:nvSpPr>
        <p:spPr/>
        <p:txBody>
          <a:bodyPr/>
          <a:lstStyle/>
          <a:p>
            <a:r>
              <a:rPr lang="en-US" dirty="0"/>
              <a:t>NOS - Network Operating System. All modern </a:t>
            </a:r>
            <a:r>
              <a:rPr lang="en-US" dirty="0" err="1"/>
              <a:t>OSes</a:t>
            </a:r>
            <a:r>
              <a:rPr lang="en-US" dirty="0"/>
              <a:t> are NOS. </a:t>
            </a:r>
          </a:p>
          <a:p>
            <a:endParaRPr lang="en-US" dirty="0"/>
          </a:p>
          <a:p>
            <a:pPr lvl="1"/>
            <a:r>
              <a:rPr lang="en-US" dirty="0"/>
              <a:t>This just means they manage more than just the local computer, they usually provide or use network services in a client server architecture.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r>
              <a:rPr lang="en-US"/>
              <a:t>DNS - 574</a:t>
            </a:r>
          </a:p>
        </p:txBody>
      </p:sp>
      <p:sp>
        <p:nvSpPr>
          <p:cNvPr id="148483" name="Rectangle 3"/>
          <p:cNvSpPr>
            <a:spLocks noGrp="1" noChangeArrowheads="1"/>
          </p:cNvSpPr>
          <p:nvPr>
            <p:ph idx="1"/>
          </p:nvPr>
        </p:nvSpPr>
        <p:spPr/>
        <p:txBody>
          <a:bodyPr/>
          <a:lstStyle/>
          <a:p>
            <a:pPr>
              <a:buNone/>
            </a:pPr>
            <a:r>
              <a:rPr lang="en-US" dirty="0"/>
              <a:t>Network software uses IP addresses, however these are difficult for users to remember (especially in IPv6). So DNS is used to help map names that we use such as </a:t>
            </a:r>
            <a:r>
              <a:rPr lang="en-US" dirty="0">
                <a:hlinkClick r:id="rId2"/>
              </a:rPr>
              <a:t>www.paladingrp.com</a:t>
            </a:r>
            <a:r>
              <a:rPr lang="en-US" dirty="0"/>
              <a:t> to addresses that computers use like 63.251.179.13</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p:txBody>
          <a:bodyPr/>
          <a:lstStyle/>
          <a:p>
            <a:r>
              <a:rPr lang="en-US"/>
              <a:t>DNS</a:t>
            </a:r>
          </a:p>
        </p:txBody>
      </p:sp>
      <p:sp>
        <p:nvSpPr>
          <p:cNvPr id="151555" name="Rectangle 3"/>
          <p:cNvSpPr>
            <a:spLocks noGrp="1" noChangeArrowheads="1"/>
          </p:cNvSpPr>
          <p:nvPr>
            <p:ph idx="1"/>
          </p:nvPr>
        </p:nvSpPr>
        <p:spPr/>
        <p:txBody>
          <a:bodyPr/>
          <a:lstStyle/>
          <a:p>
            <a:r>
              <a:rPr lang="en-US"/>
              <a:t>Common top level domains are</a:t>
            </a:r>
          </a:p>
          <a:p>
            <a:pPr lvl="1"/>
            <a:r>
              <a:rPr lang="en-US"/>
              <a:t>.COM</a:t>
            </a:r>
          </a:p>
          <a:p>
            <a:pPr lvl="1"/>
            <a:r>
              <a:rPr lang="en-US"/>
              <a:t>.EDU</a:t>
            </a:r>
          </a:p>
          <a:p>
            <a:pPr lvl="1"/>
            <a:r>
              <a:rPr lang="en-US"/>
              <a:t>.MIL</a:t>
            </a:r>
          </a:p>
          <a:p>
            <a:pPr lvl="1"/>
            <a:r>
              <a:rPr lang="en-US"/>
              <a:t>.GOV</a:t>
            </a:r>
          </a:p>
          <a:p>
            <a:pPr lvl="1"/>
            <a:r>
              <a:rPr lang="en-US"/>
              <a:t>.ORG</a:t>
            </a:r>
          </a:p>
          <a:p>
            <a:pPr lvl="1"/>
            <a:r>
              <a:rPr lang="en-US"/>
              <a:t>.NET</a:t>
            </a:r>
          </a:p>
          <a:p>
            <a:r>
              <a:rPr lang="en-US"/>
              <a:t>You should be aware of these above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r>
              <a:rPr lang="en-US"/>
              <a:t>DNS cache poisoning - 577</a:t>
            </a:r>
          </a:p>
        </p:txBody>
      </p:sp>
      <p:sp>
        <p:nvSpPr>
          <p:cNvPr id="152579" name="Rectangle 3"/>
          <p:cNvSpPr>
            <a:spLocks noGrp="1" noChangeArrowheads="1"/>
          </p:cNvSpPr>
          <p:nvPr>
            <p:ph idx="1"/>
          </p:nvPr>
        </p:nvSpPr>
        <p:spPr/>
        <p:txBody>
          <a:bodyPr/>
          <a:lstStyle/>
          <a:p>
            <a:r>
              <a:rPr lang="en-US" dirty="0"/>
              <a:t>Besides authoritative name servers organizations also have </a:t>
            </a:r>
            <a:r>
              <a:rPr lang="en-US" i="1" dirty="0"/>
              <a:t>caching name servers </a:t>
            </a:r>
            <a:r>
              <a:rPr lang="en-US" dirty="0"/>
              <a:t>that simply do DNS resolution on behalf of clients.</a:t>
            </a:r>
          </a:p>
          <a:p>
            <a:r>
              <a:rPr lang="en-US" dirty="0"/>
              <a:t>One common attack is </a:t>
            </a:r>
            <a:r>
              <a:rPr lang="en-US" i="1" dirty="0"/>
              <a:t>DNS cache poisoning</a:t>
            </a:r>
            <a:r>
              <a:rPr lang="en-US" dirty="0"/>
              <a:t>*</a:t>
            </a:r>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r>
              <a:rPr lang="en-US"/>
              <a:t>DNS SEC</a:t>
            </a:r>
          </a:p>
        </p:txBody>
      </p:sp>
      <p:sp>
        <p:nvSpPr>
          <p:cNvPr id="153603" name="Rectangle 3"/>
          <p:cNvSpPr>
            <a:spLocks noGrp="1" noChangeArrowheads="1"/>
          </p:cNvSpPr>
          <p:nvPr>
            <p:ph idx="1"/>
          </p:nvPr>
        </p:nvSpPr>
        <p:spPr/>
        <p:txBody>
          <a:bodyPr/>
          <a:lstStyle/>
          <a:p>
            <a:r>
              <a:rPr lang="en-US" dirty="0"/>
              <a:t>DNS sec tries to ensure integrity of DNS queries by digitally signing responses.* This attempts to  defeat cache poisoning.</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r>
              <a:rPr lang="en-US"/>
              <a:t>Intranet, Extranet - 582</a:t>
            </a:r>
          </a:p>
        </p:txBody>
      </p:sp>
      <p:sp>
        <p:nvSpPr>
          <p:cNvPr id="154627" name="Rectangle 3"/>
          <p:cNvSpPr>
            <a:spLocks noGrp="1" noChangeArrowheads="1"/>
          </p:cNvSpPr>
          <p:nvPr>
            <p:ph idx="1"/>
          </p:nvPr>
        </p:nvSpPr>
        <p:spPr/>
        <p:txBody>
          <a:bodyPr/>
          <a:lstStyle/>
          <a:p>
            <a:r>
              <a:rPr lang="en-US" dirty="0"/>
              <a:t>Intranet – internal IP network, though often used to define a set of resources made available through a web interface for INTERNAL use</a:t>
            </a:r>
          </a:p>
          <a:p>
            <a:r>
              <a:rPr lang="en-US" dirty="0"/>
              <a:t>Extranet – a set of network resources (usually web based) for two companies to collaborate or share resources, may or may not make use of VPNs</a:t>
            </a:r>
          </a:p>
          <a:p>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r>
              <a:rPr lang="en-US"/>
              <a:t>LAN, WAN, MAN - 581</a:t>
            </a:r>
          </a:p>
        </p:txBody>
      </p:sp>
      <p:sp>
        <p:nvSpPr>
          <p:cNvPr id="155651" name="Rectangle 3"/>
          <p:cNvSpPr>
            <a:spLocks noGrp="1" noChangeArrowheads="1"/>
          </p:cNvSpPr>
          <p:nvPr>
            <p:ph idx="1"/>
          </p:nvPr>
        </p:nvSpPr>
        <p:spPr/>
        <p:txBody>
          <a:bodyPr/>
          <a:lstStyle/>
          <a:p>
            <a:r>
              <a:rPr lang="en-US"/>
              <a:t>LAN – local area network</a:t>
            </a:r>
          </a:p>
          <a:p>
            <a:pPr lvl="1"/>
            <a:r>
              <a:rPr lang="en-US"/>
              <a:t>High speed</a:t>
            </a:r>
          </a:p>
          <a:p>
            <a:pPr lvl="1"/>
            <a:r>
              <a:rPr lang="en-US"/>
              <a:t>Small physical area</a:t>
            </a:r>
          </a:p>
          <a:p>
            <a:r>
              <a:rPr lang="en-US"/>
              <a:t>WAN – wide area network</a:t>
            </a:r>
          </a:p>
          <a:p>
            <a:pPr lvl="1"/>
            <a:r>
              <a:rPr lang="en-US"/>
              <a:t>Used to connect LANS</a:t>
            </a:r>
          </a:p>
          <a:p>
            <a:pPr lvl="1"/>
            <a:r>
              <a:rPr lang="en-US"/>
              <a:t>Generally slow, using serial links</a:t>
            </a:r>
          </a:p>
          <a:p>
            <a:r>
              <a:rPr lang="en-US"/>
              <a:t>MAN – metropolitan area network</a:t>
            </a:r>
          </a:p>
          <a:p>
            <a:pPr lvl="1"/>
            <a:r>
              <a:rPr lang="en-US"/>
              <a:t>Connect sites together within a medium range area (like a city)</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normAutofit fontScale="90000"/>
          </a:bodyPr>
          <a:lstStyle/>
          <a:p>
            <a:r>
              <a:rPr lang="en-US"/>
              <a:t>Types of links for WANs and MANS</a:t>
            </a:r>
          </a:p>
        </p:txBody>
      </p:sp>
      <p:sp>
        <p:nvSpPr>
          <p:cNvPr id="156675" name="Rectangle 3"/>
          <p:cNvSpPr>
            <a:spLocks noGrp="1" noChangeArrowheads="1"/>
          </p:cNvSpPr>
          <p:nvPr>
            <p:ph idx="1"/>
          </p:nvPr>
        </p:nvSpPr>
        <p:spPr/>
        <p:txBody>
          <a:bodyPr>
            <a:normAutofit fontScale="92500" lnSpcReduction="20000"/>
          </a:bodyPr>
          <a:lstStyle/>
          <a:p>
            <a:r>
              <a:rPr lang="en-US" dirty="0"/>
              <a:t>Dedicated/leased/point to point – a link that is pre-established and used ONLY for communications between 2 locations, it is DEDICATED (see next slide) to their use</a:t>
            </a:r>
          </a:p>
          <a:p>
            <a:pPr lvl="1"/>
            <a:r>
              <a:rPr lang="en-US" dirty="0"/>
              <a:t>Expensive, cost per distance</a:t>
            </a:r>
          </a:p>
          <a:p>
            <a:pPr lvl="1"/>
            <a:r>
              <a:rPr lang="en-US" dirty="0"/>
              <a:t>Types</a:t>
            </a:r>
          </a:p>
          <a:p>
            <a:pPr lvl="2"/>
            <a:r>
              <a:rPr lang="en-US" dirty="0"/>
              <a:t>T1 - about 1.5Mbs</a:t>
            </a:r>
          </a:p>
          <a:p>
            <a:pPr lvl="2"/>
            <a:r>
              <a:rPr lang="en-US" dirty="0"/>
              <a:t>T3 - about 45 </a:t>
            </a:r>
            <a:r>
              <a:rPr lang="en-US" dirty="0" err="1"/>
              <a:t>Mbs</a:t>
            </a:r>
            <a:endParaRPr lang="en-US" dirty="0"/>
          </a:p>
          <a:p>
            <a:pPr lvl="2"/>
            <a:r>
              <a:rPr lang="en-US" dirty="0"/>
              <a:t>Fractional T – some fraction of a T1/T3</a:t>
            </a:r>
          </a:p>
          <a:p>
            <a:pPr lvl="2"/>
            <a:r>
              <a:rPr lang="en-US" dirty="0"/>
              <a:t>T1s are time division multiplexed*</a:t>
            </a:r>
          </a:p>
          <a:p>
            <a:pPr lvl="2"/>
            <a:r>
              <a:rPr lang="en-US" dirty="0"/>
              <a:t>T1s are annoying, because the local loop often fails </a:t>
            </a:r>
          </a:p>
          <a:p>
            <a:pPr lvl="2"/>
            <a:r>
              <a:rPr lang="en-US" dirty="0"/>
              <a:t>T1/T3 can also be used in shared/frame relay</a:t>
            </a:r>
          </a:p>
          <a:p>
            <a:pPr lvl="1"/>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pPr eaLnBrk="1" hangingPunct="1"/>
            <a:r>
              <a:rPr lang="en-US"/>
              <a:t>Dedicated (589)</a:t>
            </a:r>
          </a:p>
        </p:txBody>
      </p:sp>
      <p:pic>
        <p:nvPicPr>
          <p:cNvPr id="157699" name="Picture 4" descr="dedicated"/>
          <p:cNvPicPr>
            <a:picLocks noChangeAspect="1" noChangeArrowheads="1"/>
          </p:cNvPicPr>
          <p:nvPr/>
        </p:nvPicPr>
        <p:blipFill>
          <a:blip r:embed="rId2" cstate="print"/>
          <a:srcRect/>
          <a:stretch>
            <a:fillRect/>
          </a:stretch>
        </p:blipFill>
        <p:spPr bwMode="auto">
          <a:xfrm>
            <a:off x="228601" y="1536762"/>
            <a:ext cx="8077200" cy="5021201"/>
          </a:xfrm>
          <a:prstGeom prst="rect">
            <a:avLst/>
          </a:prstGeom>
          <a:noFill/>
          <a:ln w="9525">
            <a:noFill/>
            <a:miter lim="800000"/>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r>
              <a:rPr lang="en-US"/>
              <a:t>Frame Relay - 595</a:t>
            </a:r>
          </a:p>
        </p:txBody>
      </p:sp>
      <p:sp>
        <p:nvSpPr>
          <p:cNvPr id="158723" name="Rectangle 3"/>
          <p:cNvSpPr>
            <a:spLocks noGrp="1" noChangeArrowheads="1"/>
          </p:cNvSpPr>
          <p:nvPr>
            <p:ph idx="1"/>
          </p:nvPr>
        </p:nvSpPr>
        <p:spPr/>
        <p:txBody>
          <a:bodyPr/>
          <a:lstStyle/>
          <a:p>
            <a:r>
              <a:rPr lang="en-US" dirty="0"/>
              <a:t>Data link protocol (layer 2)</a:t>
            </a:r>
          </a:p>
          <a:p>
            <a:r>
              <a:rPr lang="en-US" dirty="0"/>
              <a:t>Not a point to point connection, but a connection into a cloud</a:t>
            </a:r>
          </a:p>
          <a:p>
            <a:r>
              <a:rPr lang="en-US" dirty="0"/>
              <a:t>CIR*</a:t>
            </a:r>
          </a:p>
          <a:p>
            <a:r>
              <a:rPr lang="en-US" dirty="0"/>
              <a:t>Uses virtual circuits (PVC)</a:t>
            </a:r>
          </a:p>
          <a:p>
            <a:r>
              <a:rPr lang="en-US" dirty="0"/>
              <a:t>Uses DLCIs*</a:t>
            </a:r>
          </a:p>
          <a:p>
            <a:r>
              <a:rPr lang="en-US" dirty="0"/>
              <a:t>Still uses T1/T3 but rather than going all the way, they just go to the carriers </a:t>
            </a:r>
            <a:r>
              <a:rPr lang="en-US" i="1" dirty="0"/>
              <a:t>Point of Presence*.</a:t>
            </a:r>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p:txBody>
          <a:bodyPr/>
          <a:lstStyle/>
          <a:p>
            <a:r>
              <a:rPr lang="en-US"/>
              <a:t>Frame relay / cloud</a:t>
            </a:r>
          </a:p>
        </p:txBody>
      </p:sp>
      <p:sp>
        <p:nvSpPr>
          <p:cNvPr id="5" name="Content Placeholder 4"/>
          <p:cNvSpPr>
            <a:spLocks noGrp="1"/>
          </p:cNvSpPr>
          <p:nvPr>
            <p:ph idx="1"/>
          </p:nvPr>
        </p:nvSpPr>
        <p:spPr/>
        <p:txBody>
          <a:bodyPr/>
          <a:lstStyle/>
          <a:p>
            <a:endParaRPr lang="en-US"/>
          </a:p>
        </p:txBody>
      </p:sp>
      <p:pic>
        <p:nvPicPr>
          <p:cNvPr id="159747" name="Picture 4" descr="cloud"/>
          <p:cNvPicPr>
            <a:picLocks noChangeAspect="1" noChangeArrowheads="1"/>
          </p:cNvPicPr>
          <p:nvPr/>
        </p:nvPicPr>
        <p:blipFill>
          <a:blip r:embed="rId2" cstate="print"/>
          <a:srcRect/>
          <a:stretch>
            <a:fillRect/>
          </a:stretch>
        </p:blipFill>
        <p:spPr bwMode="auto">
          <a:xfrm>
            <a:off x="304800" y="1905000"/>
            <a:ext cx="8534400" cy="4568825"/>
          </a:xfrm>
          <a:prstGeom prst="rect">
            <a:avLst/>
          </a:prstGeom>
          <a:noFill/>
          <a:ln w="9525">
            <a:noFill/>
            <a:miter lim="800000"/>
            <a:headEnd/>
            <a:tailEnd/>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4"/>
          <p:cNvSpPr>
            <a:spLocks noGrp="1" noChangeArrowheads="1"/>
          </p:cNvSpPr>
          <p:nvPr>
            <p:ph type="ctrTitle"/>
          </p:nvPr>
        </p:nvSpPr>
        <p:spPr/>
        <p:txBody>
          <a:bodyPr/>
          <a:lstStyle/>
          <a:p>
            <a:r>
              <a:rPr lang="en-US"/>
              <a:t>WAN terms</a:t>
            </a:r>
          </a:p>
        </p:txBody>
      </p:sp>
      <p:sp>
        <p:nvSpPr>
          <p:cNvPr id="4" name="Subtitle 3"/>
          <p:cNvSpPr>
            <a:spLocks noGrp="1"/>
          </p:cNvSpPr>
          <p:nvPr>
            <p:ph type="subTitle" idx="1"/>
          </p:nvPr>
        </p:nvSpPr>
        <p:spPr/>
        <p:txBody>
          <a:bodyPr/>
          <a:lstStyle/>
          <a:p>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p:txBody>
          <a:bodyPr/>
          <a:lstStyle/>
          <a:p>
            <a:r>
              <a:rPr lang="en-US"/>
              <a:t>Multiplexing - 591</a:t>
            </a:r>
          </a:p>
        </p:txBody>
      </p:sp>
      <p:sp>
        <p:nvSpPr>
          <p:cNvPr id="161795" name="Rectangle 3"/>
          <p:cNvSpPr>
            <a:spLocks noGrp="1" noChangeArrowheads="1"/>
          </p:cNvSpPr>
          <p:nvPr>
            <p:ph idx="1"/>
          </p:nvPr>
        </p:nvSpPr>
        <p:spPr/>
        <p:txBody>
          <a:bodyPr/>
          <a:lstStyle/>
          <a:p>
            <a:r>
              <a:rPr lang="en-US" dirty="0"/>
              <a:t>Time Division</a:t>
            </a:r>
          </a:p>
          <a:p>
            <a:r>
              <a:rPr lang="en-US" dirty="0"/>
              <a:t>Frequency Division</a:t>
            </a:r>
          </a:p>
          <a:p>
            <a:r>
              <a:rPr lang="en-US" dirty="0"/>
              <a:t>Wavelength Division</a:t>
            </a:r>
          </a:p>
          <a:p>
            <a:r>
              <a:rPr lang="en-US" dirty="0"/>
              <a:t>CDMA – speak multiple “languages” /mathematic multiplexing</a:t>
            </a:r>
          </a:p>
          <a:p>
            <a:pPr lvl="1">
              <a:buNone/>
            </a:pPr>
            <a:r>
              <a:rPr lang="en-US" dirty="0"/>
              <a:t>* this is technically incorrect, but easy to understand the analogy</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r>
              <a:rPr lang="en-US" dirty="0"/>
              <a:t>CSU/DSU - 592</a:t>
            </a:r>
          </a:p>
        </p:txBody>
      </p:sp>
      <p:sp>
        <p:nvSpPr>
          <p:cNvPr id="162819" name="Rectangle 3"/>
          <p:cNvSpPr>
            <a:spLocks noGrp="1" noChangeArrowheads="1"/>
          </p:cNvSpPr>
          <p:nvPr>
            <p:ph idx="1"/>
          </p:nvPr>
        </p:nvSpPr>
        <p:spPr/>
        <p:txBody>
          <a:bodyPr/>
          <a:lstStyle/>
          <a:p>
            <a:r>
              <a:rPr lang="en-US" dirty="0"/>
              <a:t>Channel Service Unit / Data service Unit – effectively the </a:t>
            </a:r>
            <a:r>
              <a:rPr lang="en-US" i="1" dirty="0">
                <a:solidFill>
                  <a:srgbClr val="00B0F0"/>
                </a:solidFill>
              </a:rPr>
              <a:t>mo</a:t>
            </a:r>
            <a:r>
              <a:rPr lang="en-US" i="1" dirty="0"/>
              <a:t>dulator/ </a:t>
            </a:r>
            <a:r>
              <a:rPr lang="en-US" i="1" dirty="0" err="1">
                <a:solidFill>
                  <a:srgbClr val="00B0F0"/>
                </a:solidFill>
              </a:rPr>
              <a:t>mem</a:t>
            </a:r>
            <a:r>
              <a:rPr lang="en-US" i="1" dirty="0" err="1"/>
              <a:t>odulator</a:t>
            </a:r>
            <a:r>
              <a:rPr lang="en-US" i="1" dirty="0"/>
              <a:t> (</a:t>
            </a:r>
            <a:r>
              <a:rPr lang="en-US" i="1" dirty="0">
                <a:solidFill>
                  <a:srgbClr val="00B0F0"/>
                </a:solidFill>
              </a:rPr>
              <a:t>modem</a:t>
            </a:r>
            <a:r>
              <a:rPr lang="en-US" i="1" dirty="0"/>
              <a:t>)</a:t>
            </a:r>
            <a:r>
              <a:rPr lang="en-US" dirty="0"/>
              <a:t> for serial lines.*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normAutofit fontScale="90000"/>
          </a:bodyPr>
          <a:lstStyle/>
          <a:p>
            <a:r>
              <a:rPr lang="en-US"/>
              <a:t>Circuit vs. Packet Switching - 594</a:t>
            </a:r>
          </a:p>
        </p:txBody>
      </p:sp>
      <p:sp>
        <p:nvSpPr>
          <p:cNvPr id="163843" name="Rectangle 3"/>
          <p:cNvSpPr>
            <a:spLocks noGrp="1" noChangeArrowheads="1"/>
          </p:cNvSpPr>
          <p:nvPr>
            <p:ph idx="1"/>
          </p:nvPr>
        </p:nvSpPr>
        <p:spPr/>
        <p:txBody>
          <a:bodyPr>
            <a:normAutofit fontScale="85000" lnSpcReduction="20000"/>
          </a:bodyPr>
          <a:lstStyle/>
          <a:p>
            <a:r>
              <a:rPr lang="en-US" dirty="0"/>
              <a:t>Packet-based networking vs. circuit based</a:t>
            </a:r>
          </a:p>
          <a:p>
            <a:pPr lvl="1"/>
            <a:r>
              <a:rPr lang="en-US" dirty="0"/>
              <a:t>Packets are small, quick to send</a:t>
            </a:r>
          </a:p>
          <a:p>
            <a:pPr lvl="1"/>
            <a:r>
              <a:rPr lang="en-US" dirty="0"/>
              <a:t>Routes vary</a:t>
            </a:r>
          </a:p>
          <a:p>
            <a:pPr lvl="1"/>
            <a:r>
              <a:rPr lang="en-US" dirty="0"/>
              <a:t>Route determined after computer begins to send the packet</a:t>
            </a:r>
          </a:p>
          <a:p>
            <a:pPr lvl="1"/>
            <a:r>
              <a:rPr lang="en-US" dirty="0"/>
              <a:t>Can arrive from different routes in different order than sent.</a:t>
            </a:r>
          </a:p>
          <a:p>
            <a:pPr lvl="1"/>
            <a:r>
              <a:rPr lang="en-US" dirty="0"/>
              <a:t>Can introduce delays as packets traverse network, where as with circuit switching the delays is before data is sent (circuit/setup)*</a:t>
            </a:r>
          </a:p>
          <a:p>
            <a:pPr lvl="1"/>
            <a:r>
              <a:rPr lang="en-US" dirty="0"/>
              <a:t>Circuit switching – connection oriented/dedicated resources and circuit</a:t>
            </a:r>
          </a:p>
          <a:p>
            <a:pPr lvl="1"/>
            <a:r>
              <a:rPr lang="en-US" dirty="0"/>
              <a:t>Circuit switching has fixed delays.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normAutofit fontScale="90000"/>
          </a:bodyPr>
          <a:lstStyle/>
          <a:p>
            <a:pPr eaLnBrk="1" hangingPunct="1"/>
            <a:r>
              <a:rPr lang="en-US" sz="4000"/>
              <a:t>Packet Switching (this should be automated)</a:t>
            </a:r>
          </a:p>
        </p:txBody>
      </p:sp>
      <p:pic>
        <p:nvPicPr>
          <p:cNvPr id="164867" name="Picture 4" descr="packet"/>
          <p:cNvPicPr>
            <a:picLocks noChangeAspect="1" noChangeArrowheads="1" noCrop="1"/>
          </p:cNvPicPr>
          <p:nvPr/>
        </p:nvPicPr>
        <p:blipFill>
          <a:blip r:embed="rId2" cstate="print"/>
          <a:srcRect/>
          <a:stretch>
            <a:fillRect/>
          </a:stretch>
        </p:blipFill>
        <p:spPr bwMode="auto">
          <a:xfrm>
            <a:off x="152400" y="2820988"/>
            <a:ext cx="8839200" cy="3875087"/>
          </a:xfrm>
          <a:prstGeom prst="rect">
            <a:avLst/>
          </a:prstGeom>
          <a:noFill/>
          <a:ln w="9525">
            <a:noFill/>
            <a:miter lim="800000"/>
            <a:headEnd/>
            <a:tailEnd/>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r>
              <a:rPr lang="en-US"/>
              <a:t>ATM - 598</a:t>
            </a:r>
          </a:p>
        </p:txBody>
      </p:sp>
      <p:sp>
        <p:nvSpPr>
          <p:cNvPr id="165891" name="Rectangle 3"/>
          <p:cNvSpPr>
            <a:spLocks noGrp="1" noChangeArrowheads="1"/>
          </p:cNvSpPr>
          <p:nvPr>
            <p:ph idx="1"/>
          </p:nvPr>
        </p:nvSpPr>
        <p:spPr/>
        <p:txBody>
          <a:bodyPr/>
          <a:lstStyle/>
          <a:p>
            <a:r>
              <a:rPr lang="en-US" dirty="0"/>
              <a:t>A type of packet based switching used to emulate circuit switching</a:t>
            </a:r>
          </a:p>
          <a:p>
            <a:pPr lvl="1"/>
            <a:r>
              <a:rPr lang="en-US" dirty="0"/>
              <a:t>Used by </a:t>
            </a:r>
            <a:r>
              <a:rPr lang="en-US" dirty="0" err="1"/>
              <a:t>telcos</a:t>
            </a:r>
            <a:endParaRPr lang="en-US" dirty="0"/>
          </a:p>
          <a:p>
            <a:pPr lvl="1"/>
            <a:r>
              <a:rPr lang="en-US" dirty="0"/>
              <a:t>53 byte </a:t>
            </a:r>
            <a:r>
              <a:rPr lang="en-US" i="1" dirty="0"/>
              <a:t>cells </a:t>
            </a:r>
            <a:r>
              <a:rPr lang="en-US" dirty="0"/>
              <a:t>*</a:t>
            </a:r>
          </a:p>
          <a:p>
            <a:pPr lvl="2"/>
            <a:r>
              <a:rPr lang="en-US" dirty="0"/>
              <a:t>48 bytes data</a:t>
            </a:r>
          </a:p>
          <a:p>
            <a:pPr lvl="2"/>
            <a:r>
              <a:rPr lang="en-US" dirty="0"/>
              <a:t>5 bytes header</a:t>
            </a:r>
          </a:p>
          <a:p>
            <a:pPr lvl="1"/>
            <a:r>
              <a:rPr lang="en-US" dirty="0"/>
              <a:t>Sets up a virtual circuit</a:t>
            </a:r>
          </a:p>
          <a:p>
            <a:pPr lvl="1"/>
            <a:r>
              <a:rPr lang="en-US" dirty="0"/>
              <a:t>Guarantees resources once a circuit is setup*</a:t>
            </a:r>
          </a:p>
          <a:p>
            <a:pPr lvl="1"/>
            <a:r>
              <a:rPr lang="en-US" dirty="0"/>
              <a:t>Guarantees </a:t>
            </a:r>
            <a:r>
              <a:rPr lang="en-US" dirty="0" err="1"/>
              <a:t>QoS</a:t>
            </a:r>
            <a:r>
              <a:rPr lang="en-US" dirty="0"/>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lstStyle/>
          <a:p>
            <a:r>
              <a:rPr lang="en-US"/>
              <a:t>QoS - 598</a:t>
            </a:r>
          </a:p>
        </p:txBody>
      </p:sp>
      <p:sp>
        <p:nvSpPr>
          <p:cNvPr id="166915" name="Rectangle 3"/>
          <p:cNvSpPr>
            <a:spLocks noGrp="1" noChangeArrowheads="1"/>
          </p:cNvSpPr>
          <p:nvPr>
            <p:ph idx="1"/>
          </p:nvPr>
        </p:nvSpPr>
        <p:spPr/>
        <p:txBody>
          <a:bodyPr/>
          <a:lstStyle/>
          <a:p>
            <a:r>
              <a:rPr lang="en-US" dirty="0" err="1"/>
              <a:t>QoS</a:t>
            </a:r>
            <a:endParaRPr lang="en-US" dirty="0"/>
          </a:p>
          <a:p>
            <a:pPr lvl="1"/>
            <a:r>
              <a:rPr lang="en-US" dirty="0"/>
              <a:t>What is it</a:t>
            </a:r>
          </a:p>
          <a:p>
            <a:pPr lvl="1"/>
            <a:r>
              <a:rPr lang="en-US" dirty="0"/>
              <a:t>Why is it needed</a:t>
            </a:r>
          </a:p>
          <a:p>
            <a:pPr lvl="1"/>
            <a:r>
              <a:rPr lang="en-US" i="1" dirty="0"/>
              <a:t>Network convergence</a:t>
            </a:r>
          </a:p>
          <a:p>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a:lstStyle/>
          <a:p>
            <a:r>
              <a:rPr lang="en-US"/>
              <a:t>VoIP - 602</a:t>
            </a:r>
          </a:p>
        </p:txBody>
      </p:sp>
      <p:sp>
        <p:nvSpPr>
          <p:cNvPr id="167939" name="Rectangle 3"/>
          <p:cNvSpPr>
            <a:spLocks noGrp="1" noChangeArrowheads="1"/>
          </p:cNvSpPr>
          <p:nvPr>
            <p:ph idx="1"/>
          </p:nvPr>
        </p:nvSpPr>
        <p:spPr/>
        <p:txBody>
          <a:bodyPr>
            <a:normAutofit fontScale="92500" lnSpcReduction="10000"/>
          </a:bodyPr>
          <a:lstStyle/>
          <a:p>
            <a:r>
              <a:rPr lang="en-US" dirty="0"/>
              <a:t>VoIP</a:t>
            </a:r>
          </a:p>
          <a:p>
            <a:r>
              <a:rPr lang="en-US" dirty="0"/>
              <a:t>What are some concerns with VoIP </a:t>
            </a:r>
          </a:p>
          <a:p>
            <a:pPr lvl="1"/>
            <a:r>
              <a:rPr lang="en-US" dirty="0"/>
              <a:t>Technical</a:t>
            </a:r>
          </a:p>
          <a:p>
            <a:pPr lvl="2"/>
            <a:r>
              <a:rPr lang="en-US" dirty="0"/>
              <a:t>Latency, Jitter, dropped packets </a:t>
            </a:r>
            <a:r>
              <a:rPr lang="en-US" dirty="0" err="1"/>
              <a:t>QoS</a:t>
            </a:r>
            <a:endParaRPr lang="en-US" dirty="0"/>
          </a:p>
          <a:p>
            <a:pPr lvl="1"/>
            <a:r>
              <a:rPr lang="en-US" dirty="0"/>
              <a:t>Security</a:t>
            </a:r>
          </a:p>
          <a:p>
            <a:pPr lvl="2"/>
            <a:r>
              <a:rPr lang="en-US" dirty="0"/>
              <a:t>Eavesdropping</a:t>
            </a:r>
          </a:p>
          <a:p>
            <a:pPr lvl="2"/>
            <a:r>
              <a:rPr lang="en-US" dirty="0"/>
              <a:t>Caller id Spoofing and </a:t>
            </a:r>
            <a:r>
              <a:rPr lang="en-US" dirty="0" err="1"/>
              <a:t>vishing</a:t>
            </a:r>
            <a:endParaRPr lang="en-US" dirty="0"/>
          </a:p>
          <a:p>
            <a:pPr lvl="2"/>
            <a:r>
              <a:rPr lang="en-US" dirty="0"/>
              <a:t>Long Distance calls</a:t>
            </a:r>
          </a:p>
          <a:p>
            <a:r>
              <a:rPr lang="en-US" dirty="0">
                <a:solidFill>
                  <a:srgbClr val="00B0F0"/>
                </a:solidFill>
              </a:rPr>
              <a:t> SIP</a:t>
            </a:r>
            <a:r>
              <a:rPr lang="en-US" dirty="0"/>
              <a:t> – </a:t>
            </a:r>
            <a:r>
              <a:rPr lang="en-US" dirty="0">
                <a:solidFill>
                  <a:srgbClr val="00B0F0"/>
                </a:solidFill>
              </a:rPr>
              <a:t>S</a:t>
            </a:r>
            <a:r>
              <a:rPr lang="en-US" dirty="0"/>
              <a:t>ession </a:t>
            </a:r>
            <a:r>
              <a:rPr lang="en-US" dirty="0">
                <a:solidFill>
                  <a:srgbClr val="00B0F0"/>
                </a:solidFill>
              </a:rPr>
              <a:t>I</a:t>
            </a:r>
            <a:r>
              <a:rPr lang="en-US" dirty="0"/>
              <a:t>nitialization </a:t>
            </a:r>
            <a:r>
              <a:rPr lang="en-US" dirty="0">
                <a:solidFill>
                  <a:srgbClr val="00B0F0"/>
                </a:solidFill>
              </a:rPr>
              <a:t>P</a:t>
            </a:r>
            <a:r>
              <a:rPr lang="en-US" dirty="0"/>
              <a:t>rotocol</a:t>
            </a:r>
          </a:p>
          <a:p>
            <a:r>
              <a:rPr lang="en-US" dirty="0"/>
              <a:t>Call processor</a:t>
            </a:r>
          </a:p>
          <a:p>
            <a:pPr lvl="1"/>
            <a:r>
              <a:rPr lang="en-US" dirty="0"/>
              <a:t>Sets up calls, terminates calls.</a:t>
            </a:r>
          </a:p>
          <a:p>
            <a:pPr>
              <a:buNone/>
            </a:pPr>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4"/>
          <p:cNvSpPr>
            <a:spLocks noGrp="1" noChangeArrowheads="1"/>
          </p:cNvSpPr>
          <p:nvPr>
            <p:ph type="ctrTitle"/>
          </p:nvPr>
        </p:nvSpPr>
        <p:spPr/>
        <p:txBody>
          <a:bodyPr/>
          <a:lstStyle/>
          <a:p>
            <a:pPr eaLnBrk="1" hangingPunct="1"/>
            <a:r>
              <a:rPr lang="en-US"/>
              <a:t>Remote Access</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p:txBody>
          <a:bodyPr/>
          <a:lstStyle/>
          <a:p>
            <a:r>
              <a:rPr lang="en-US"/>
              <a:t>Remote Access - 610</a:t>
            </a:r>
          </a:p>
        </p:txBody>
      </p:sp>
      <p:sp>
        <p:nvSpPr>
          <p:cNvPr id="169987" name="Rectangle 3"/>
          <p:cNvSpPr>
            <a:spLocks noGrp="1" noChangeArrowheads="1"/>
          </p:cNvSpPr>
          <p:nvPr>
            <p:ph idx="1"/>
          </p:nvPr>
        </p:nvSpPr>
        <p:spPr/>
        <p:txBody>
          <a:bodyPr/>
          <a:lstStyle/>
          <a:p>
            <a:pPr>
              <a:buNone/>
            </a:pPr>
            <a:r>
              <a:rPr lang="en-US" dirty="0"/>
              <a:t>Home users/remote users need a way to access work</a:t>
            </a:r>
          </a:p>
          <a:p>
            <a:pPr lvl="1"/>
            <a:r>
              <a:rPr lang="en-US" dirty="0"/>
              <a:t>Dial Up</a:t>
            </a:r>
          </a:p>
          <a:p>
            <a:pPr lvl="1"/>
            <a:r>
              <a:rPr lang="en-US" dirty="0"/>
              <a:t>ISDN</a:t>
            </a:r>
          </a:p>
          <a:p>
            <a:pPr lvl="1"/>
            <a:r>
              <a:rPr lang="en-US" dirty="0"/>
              <a:t>DSL</a:t>
            </a:r>
          </a:p>
          <a:p>
            <a:pPr lvl="1"/>
            <a:r>
              <a:rPr lang="en-US" dirty="0"/>
              <a:t>Cable Modems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lstStyle/>
          <a:p>
            <a:pPr eaLnBrk="1" hangingPunct="1"/>
            <a:r>
              <a:rPr lang="en-US"/>
              <a:t>Dial up - 610</a:t>
            </a:r>
          </a:p>
        </p:txBody>
      </p:sp>
      <p:sp>
        <p:nvSpPr>
          <p:cNvPr id="171011" name="Rectangle 3"/>
          <p:cNvSpPr>
            <a:spLocks noGrp="1" noChangeArrowheads="1"/>
          </p:cNvSpPr>
          <p:nvPr>
            <p:ph idx="1"/>
          </p:nvPr>
        </p:nvSpPr>
        <p:spPr>
          <a:xfrm>
            <a:off x="228600" y="1600200"/>
            <a:ext cx="8686800" cy="5029200"/>
          </a:xfrm>
        </p:spPr>
        <p:txBody>
          <a:bodyPr/>
          <a:lstStyle/>
          <a:p>
            <a:pPr eaLnBrk="1" hangingPunct="1"/>
            <a:r>
              <a:rPr lang="en-US"/>
              <a:t>Advantages</a:t>
            </a:r>
          </a:p>
          <a:p>
            <a:pPr lvl="1" eaLnBrk="1" hangingPunct="1"/>
            <a:r>
              <a:rPr lang="en-US"/>
              <a:t>Reduce networking costs (use internet) as opposed to dedicated connections</a:t>
            </a:r>
          </a:p>
          <a:p>
            <a:pPr lvl="1" eaLnBrk="1" hangingPunct="1"/>
            <a:r>
              <a:rPr lang="en-US"/>
              <a:t>Allows work from home</a:t>
            </a:r>
          </a:p>
          <a:p>
            <a:pPr lvl="1" eaLnBrk="1" hangingPunct="1"/>
            <a:r>
              <a:rPr lang="en-US"/>
              <a:t>Streamlines access to information</a:t>
            </a:r>
          </a:p>
          <a:p>
            <a:pPr lvl="1" eaLnBrk="1" hangingPunct="1"/>
            <a:r>
              <a:rPr lang="en-US"/>
              <a:t>Provides a competitive advantage</a:t>
            </a:r>
          </a:p>
          <a:p>
            <a:pPr algn="ctr" eaLnBrk="1" hangingPunct="1">
              <a:buFontTx/>
              <a:buNone/>
            </a:pPr>
            <a:r>
              <a:rPr lang="en-US"/>
              <a:t>(more)</a:t>
            </a:r>
          </a:p>
          <a:p>
            <a:pPr eaLnBrk="1" hangingPunct="1"/>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r>
              <a:rPr lang="en-US"/>
              <a:t>Dial Up - 610</a:t>
            </a:r>
          </a:p>
        </p:txBody>
      </p:sp>
      <p:sp>
        <p:nvSpPr>
          <p:cNvPr id="172035" name="Rectangle 3"/>
          <p:cNvSpPr>
            <a:spLocks noGrp="1" noChangeArrowheads="1"/>
          </p:cNvSpPr>
          <p:nvPr>
            <p:ph idx="1"/>
          </p:nvPr>
        </p:nvSpPr>
        <p:spPr/>
        <p:txBody>
          <a:bodyPr>
            <a:normAutofit fontScale="92500" lnSpcReduction="20000"/>
          </a:bodyPr>
          <a:lstStyle/>
          <a:p>
            <a:r>
              <a:rPr lang="en-US" dirty="0"/>
              <a:t>Disadvantages</a:t>
            </a:r>
          </a:p>
          <a:p>
            <a:pPr lvl="1"/>
            <a:r>
              <a:rPr lang="en-US" dirty="0"/>
              <a:t>Back door into networks (bypass firewall)</a:t>
            </a:r>
          </a:p>
          <a:p>
            <a:pPr lvl="1"/>
            <a:r>
              <a:rPr lang="en-US" dirty="0"/>
              <a:t>Often forgotten about</a:t>
            </a:r>
          </a:p>
          <a:p>
            <a:pPr lvl="1"/>
            <a:r>
              <a:rPr lang="en-US" dirty="0"/>
              <a:t>Slow</a:t>
            </a:r>
          </a:p>
          <a:p>
            <a:r>
              <a:rPr lang="en-US" dirty="0"/>
              <a:t>Attacks*</a:t>
            </a:r>
          </a:p>
          <a:p>
            <a:pPr lvl="1"/>
            <a:r>
              <a:rPr lang="en-US" dirty="0"/>
              <a:t>War dialing</a:t>
            </a:r>
          </a:p>
          <a:p>
            <a:r>
              <a:rPr lang="en-US" dirty="0"/>
              <a:t>Defenses*</a:t>
            </a:r>
          </a:p>
          <a:p>
            <a:pPr lvl="1"/>
            <a:r>
              <a:rPr lang="en-US" dirty="0"/>
              <a:t>Dial Back / </a:t>
            </a:r>
          </a:p>
          <a:p>
            <a:pPr lvl="1"/>
            <a:r>
              <a:rPr lang="en-US" dirty="0"/>
              <a:t>Caller ID restrictions</a:t>
            </a:r>
          </a:p>
          <a:p>
            <a:pPr lvl="1"/>
            <a:r>
              <a:rPr lang="en-US" dirty="0"/>
              <a:t>Use authentication</a:t>
            </a:r>
          </a:p>
          <a:p>
            <a:pPr lvl="1"/>
            <a:r>
              <a:rPr lang="en-US" dirty="0"/>
              <a:t>Answer after 4 or more rings (why/war dialing)</a:t>
            </a:r>
          </a:p>
          <a:p>
            <a:endParaRPr lang="en-US" dirty="0"/>
          </a:p>
          <a:p>
            <a:pPr lvl="1"/>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ChangeArrowheads="1"/>
          </p:cNvSpPr>
          <p:nvPr>
            <p:ph type="title"/>
          </p:nvPr>
        </p:nvSpPr>
        <p:spPr/>
        <p:txBody>
          <a:bodyPr/>
          <a:lstStyle/>
          <a:p>
            <a:r>
              <a:rPr lang="en-US"/>
              <a:t>ISDN - 611</a:t>
            </a:r>
          </a:p>
        </p:txBody>
      </p:sp>
      <p:sp>
        <p:nvSpPr>
          <p:cNvPr id="173059" name="Rectangle 3"/>
          <p:cNvSpPr>
            <a:spLocks noGrp="1" noChangeArrowheads="1"/>
          </p:cNvSpPr>
          <p:nvPr>
            <p:ph idx="1"/>
          </p:nvPr>
        </p:nvSpPr>
        <p:spPr/>
        <p:txBody>
          <a:bodyPr/>
          <a:lstStyle/>
          <a:p>
            <a:pPr>
              <a:buNone/>
            </a:pPr>
            <a:r>
              <a:rPr lang="en-US" dirty="0"/>
              <a:t>Uses same lines as phone lines, directly dial into company or ISP</a:t>
            </a:r>
          </a:p>
          <a:p>
            <a:pPr lvl="1"/>
            <a:r>
              <a:rPr lang="en-US" dirty="0"/>
              <a:t>BRI</a:t>
            </a:r>
          </a:p>
          <a:p>
            <a:pPr lvl="2"/>
            <a:r>
              <a:rPr lang="en-US" dirty="0"/>
              <a:t>2 B Channels (64Kbits x 2)</a:t>
            </a:r>
          </a:p>
          <a:p>
            <a:pPr lvl="2"/>
            <a:r>
              <a:rPr lang="en-US" dirty="0"/>
              <a:t>1 D Channel (control channel) Out of Band</a:t>
            </a:r>
          </a:p>
          <a:p>
            <a:pPr lvl="1"/>
            <a:r>
              <a:rPr lang="en-US" dirty="0"/>
              <a:t>PRI</a:t>
            </a:r>
          </a:p>
          <a:p>
            <a:pPr lvl="2"/>
            <a:r>
              <a:rPr lang="en-US" dirty="0"/>
              <a:t>23 B Channels</a:t>
            </a:r>
          </a:p>
          <a:p>
            <a:pPr lvl="2"/>
            <a:r>
              <a:rPr lang="en-US" dirty="0"/>
              <a:t>1 D Channel</a:t>
            </a:r>
          </a:p>
          <a:p>
            <a:pPr lvl="2"/>
            <a:r>
              <a:rPr lang="en-US" dirty="0"/>
              <a:t>Not for personal use</a:t>
            </a:r>
          </a:p>
          <a:p>
            <a:pPr lvl="1"/>
            <a:endParaRPr lang="en-US" dirty="0"/>
          </a:p>
          <a:p>
            <a:pPr lvl="2"/>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en-US"/>
              <a:t>DSL - 613</a:t>
            </a:r>
          </a:p>
        </p:txBody>
      </p:sp>
      <p:sp>
        <p:nvSpPr>
          <p:cNvPr id="174083" name="Rectangle 3"/>
          <p:cNvSpPr>
            <a:spLocks noGrp="1" noChangeArrowheads="1"/>
          </p:cNvSpPr>
          <p:nvPr>
            <p:ph idx="1"/>
          </p:nvPr>
        </p:nvSpPr>
        <p:spPr/>
        <p:txBody>
          <a:bodyPr/>
          <a:lstStyle/>
          <a:p>
            <a:r>
              <a:rPr lang="en-US" dirty="0"/>
              <a:t>MUCH faster than IDSN (6-30 times faster)</a:t>
            </a:r>
          </a:p>
          <a:p>
            <a:r>
              <a:rPr lang="en-US" dirty="0"/>
              <a:t>Must live very close to the DSL equipment</a:t>
            </a:r>
          </a:p>
          <a:p>
            <a:r>
              <a:rPr lang="en-US" dirty="0"/>
              <a:t>Symmetric and Asymmetric</a:t>
            </a:r>
          </a:p>
          <a:p>
            <a:r>
              <a:rPr lang="en-US" dirty="0"/>
              <a:t>Always on (security concerns)</a:t>
            </a:r>
          </a:p>
          <a:p>
            <a:r>
              <a:rPr lang="en-US" dirty="0"/>
              <a:t>Doesn’t connect directly to  company</a:t>
            </a:r>
          </a:p>
          <a:p>
            <a:pPr lvl="1"/>
            <a:r>
              <a:rPr lang="en-US" dirty="0"/>
              <a:t>use VPN</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r>
              <a:rPr lang="en-US"/>
              <a:t>Cable Modem - 613</a:t>
            </a:r>
          </a:p>
        </p:txBody>
      </p:sp>
      <p:sp>
        <p:nvSpPr>
          <p:cNvPr id="175107" name="Rectangle 3"/>
          <p:cNvSpPr>
            <a:spLocks noGrp="1" noChangeArrowheads="1"/>
          </p:cNvSpPr>
          <p:nvPr>
            <p:ph idx="1"/>
          </p:nvPr>
        </p:nvSpPr>
        <p:spPr/>
        <p:txBody>
          <a:bodyPr/>
          <a:lstStyle/>
          <a:p>
            <a:pPr>
              <a:buNone/>
            </a:pPr>
            <a:r>
              <a:rPr lang="en-US" dirty="0"/>
              <a:t>High speed access up to 50Mbps via cable TV lines.</a:t>
            </a:r>
          </a:p>
          <a:p>
            <a:r>
              <a:rPr lang="en-US" dirty="0"/>
              <a:t>Shared bandwidth</a:t>
            </a:r>
          </a:p>
          <a:p>
            <a:r>
              <a:rPr lang="en-US" dirty="0"/>
              <a:t>Always on (security concerns)</a:t>
            </a:r>
          </a:p>
          <a:p>
            <a:r>
              <a:rPr lang="en-US" dirty="0"/>
              <a:t>Doesn’t connect directly to company</a:t>
            </a:r>
          </a:p>
          <a:p>
            <a:pPr lvl="1"/>
            <a:r>
              <a:rPr lang="en-US" dirty="0"/>
              <a:t>require VPN</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ctrTitle"/>
          </p:nvPr>
        </p:nvSpPr>
        <p:spPr/>
        <p:txBody>
          <a:bodyPr/>
          <a:lstStyle/>
          <a:p>
            <a:r>
              <a:rPr lang="en-US"/>
              <a:t>VPNs</a:t>
            </a:r>
          </a:p>
        </p:txBody>
      </p:sp>
      <p:sp>
        <p:nvSpPr>
          <p:cNvPr id="4" name="Subtitle 3"/>
          <p:cNvSpPr>
            <a:spLocks noGrp="1"/>
          </p:cNvSpPr>
          <p:nvPr>
            <p:ph type="subTitle" idx="1"/>
          </p:nvPr>
        </p:nvSpPr>
        <p:spPr/>
        <p:txBody>
          <a:bodyPr/>
          <a:lstStyle/>
          <a:p>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lstStyle/>
          <a:p>
            <a:r>
              <a:rPr lang="en-US"/>
              <a:t>VPN</a:t>
            </a:r>
          </a:p>
        </p:txBody>
      </p:sp>
      <p:sp>
        <p:nvSpPr>
          <p:cNvPr id="6" name="Content Placeholder 5"/>
          <p:cNvSpPr>
            <a:spLocks noGrp="1"/>
          </p:cNvSpPr>
          <p:nvPr>
            <p:ph idx="1"/>
          </p:nvPr>
        </p:nvSpPr>
        <p:spPr/>
        <p:txBody>
          <a:bodyPr/>
          <a:lstStyle/>
          <a:p>
            <a:endParaRPr lang="en-US"/>
          </a:p>
        </p:txBody>
      </p:sp>
      <p:pic>
        <p:nvPicPr>
          <p:cNvPr id="177155" name="Picture 3" descr="biden"/>
          <p:cNvPicPr>
            <a:picLocks noChangeAspect="1" noChangeArrowheads="1"/>
          </p:cNvPicPr>
          <p:nvPr/>
        </p:nvPicPr>
        <p:blipFill>
          <a:blip r:embed="rId2" cstate="print"/>
          <a:srcRect/>
          <a:stretch>
            <a:fillRect/>
          </a:stretch>
        </p:blipFill>
        <p:spPr bwMode="auto">
          <a:xfrm>
            <a:off x="1524001" y="1828800"/>
            <a:ext cx="3142176" cy="4457700"/>
          </a:xfrm>
          <a:prstGeom prst="rect">
            <a:avLst/>
          </a:prstGeom>
          <a:noFill/>
          <a:ln w="9525">
            <a:noFill/>
            <a:miter lim="800000"/>
            <a:headEnd/>
            <a:tailEnd/>
          </a:ln>
        </p:spPr>
      </p:pic>
      <p:sp>
        <p:nvSpPr>
          <p:cNvPr id="177156" name="WordArt 4"/>
          <p:cNvSpPr>
            <a:spLocks noChangeArrowheads="1" noChangeShapeType="1" noTextEdit="1"/>
          </p:cNvSpPr>
          <p:nvPr/>
        </p:nvSpPr>
        <p:spPr bwMode="auto">
          <a:xfrm>
            <a:off x="5638801" y="3048000"/>
            <a:ext cx="2133600" cy="1739900"/>
          </a:xfrm>
          <a:prstGeom prst="rect">
            <a:avLst/>
          </a:prstGeom>
        </p:spPr>
        <p:txBody>
          <a:bodyPr wrap="none" fromWordArt="1">
            <a:prstTxWarp prst="textPlain">
              <a:avLst>
                <a:gd name="adj" fmla="val 50000"/>
              </a:avLst>
            </a:prstTxWarp>
          </a:bodyPr>
          <a:lstStyle/>
          <a:p>
            <a:r>
              <a:rPr lang="en-US" sz="7200" kern="10" dirty="0">
                <a:ln w="9525">
                  <a:noFill/>
                  <a:round/>
                  <a:headEnd/>
                  <a:tailEnd/>
                </a:ln>
                <a:solidFill>
                  <a:srgbClr val="336699"/>
                </a:solidFill>
                <a:effectLst>
                  <a:outerShdw dist="45791" dir="2021404" algn="ctr" rotWithShape="0">
                    <a:srgbClr val="B2B2B2">
                      <a:alpha val="79999"/>
                    </a:srgbClr>
                  </a:outerShdw>
                </a:effectLst>
                <a:latin typeface="Times New Roman"/>
                <a:cs typeface="Times New Roman"/>
              </a:rPr>
              <a:t>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71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0" fill="hold" grpId="0" nodeType="clickEffect">
                                  <p:stCondLst>
                                    <p:cond delay="0"/>
                                  </p:stCondLst>
                                  <p:childTnLst>
                                    <p:set>
                                      <p:cBhvr>
                                        <p:cTn id="10" dur="1" fill="hold">
                                          <p:stCondLst>
                                            <p:cond delay="0"/>
                                          </p:stCondLst>
                                        </p:cTn>
                                        <p:tgtEl>
                                          <p:spTgt spid="1771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6"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r>
              <a:rPr lang="en-US"/>
              <a:t>VPN - 615</a:t>
            </a:r>
          </a:p>
        </p:txBody>
      </p:sp>
      <p:sp>
        <p:nvSpPr>
          <p:cNvPr id="178179" name="Rectangle 3"/>
          <p:cNvSpPr>
            <a:spLocks noGrp="1" noChangeArrowheads="1"/>
          </p:cNvSpPr>
          <p:nvPr>
            <p:ph idx="1"/>
          </p:nvPr>
        </p:nvSpPr>
        <p:spPr/>
        <p:txBody>
          <a:bodyPr>
            <a:normAutofit/>
          </a:bodyPr>
          <a:lstStyle/>
          <a:p>
            <a:pPr>
              <a:buNone/>
            </a:pPr>
            <a:r>
              <a:rPr lang="en-US" dirty="0"/>
              <a:t>Virtual Private Network – Generic term for building a secure virtual network over a public network</a:t>
            </a:r>
          </a:p>
          <a:p>
            <a:r>
              <a:rPr lang="en-US" dirty="0"/>
              <a:t>Often used for remote access for users</a:t>
            </a:r>
          </a:p>
          <a:p>
            <a:r>
              <a:rPr lang="en-US" dirty="0"/>
              <a:t>Often used to tie organizations remote offices together</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p:txBody>
          <a:bodyPr/>
          <a:lstStyle/>
          <a:p>
            <a:r>
              <a:rPr lang="en-US" dirty="0"/>
              <a:t>Tunneling</a:t>
            </a:r>
          </a:p>
        </p:txBody>
      </p:sp>
      <p:sp>
        <p:nvSpPr>
          <p:cNvPr id="275459" name="Rectangle 3"/>
          <p:cNvSpPr>
            <a:spLocks noGrp="1" noChangeArrowheads="1"/>
          </p:cNvSpPr>
          <p:nvPr>
            <p:ph idx="1"/>
          </p:nvPr>
        </p:nvSpPr>
        <p:spPr/>
        <p:txBody>
          <a:bodyPr/>
          <a:lstStyle/>
          <a:p>
            <a:pPr>
              <a:buNone/>
            </a:pPr>
            <a:r>
              <a:rPr lang="en-US" dirty="0"/>
              <a:t>A component of some VPNs - Tunnel encapsulates one protocol within another protocol to create a virtual network.</a:t>
            </a:r>
          </a:p>
          <a:p>
            <a:r>
              <a:rPr lang="en-US" dirty="0"/>
              <a:t>Can encrypts original IP headers</a:t>
            </a:r>
          </a:p>
          <a:p>
            <a:r>
              <a:rPr lang="en-US" dirty="0"/>
              <a:t>Can encrypts data</a:t>
            </a:r>
          </a:p>
          <a:p>
            <a:r>
              <a:rPr lang="en-US" dirty="0"/>
              <a:t>Allows for routing non routable protocols and IP addresses</a:t>
            </a:r>
          </a:p>
          <a:p>
            <a:r>
              <a:rPr lang="en-US" dirty="0"/>
              <a:t>Can provide remote/internal </a:t>
            </a:r>
            <a:r>
              <a:rPr lang="en-US"/>
              <a:t>IP addresses</a:t>
            </a:r>
          </a:p>
          <a:p>
            <a:pPr>
              <a:buNone/>
            </a:pPr>
            <a:endParaRPr lang="en-US"/>
          </a:p>
          <a:p>
            <a:endParaRPr lang="en-US" dirty="0"/>
          </a:p>
          <a:p>
            <a:endParaRPr lang="en-US" dirty="0"/>
          </a:p>
          <a:p>
            <a:endParaRPr lang="en-US" dirty="0"/>
          </a:p>
          <a:p>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idx="4294967295"/>
          </p:nvPr>
        </p:nvSpPr>
        <p:spPr>
          <a:xfrm>
            <a:off x="0" y="155575"/>
            <a:ext cx="8229600" cy="1252538"/>
          </a:xfrm>
        </p:spPr>
        <p:txBody>
          <a:bodyPr/>
          <a:lstStyle/>
          <a:p>
            <a:pPr eaLnBrk="1" hangingPunct="1"/>
            <a:r>
              <a:rPr lang="en-US"/>
              <a:t>Example of Tunneling</a:t>
            </a:r>
          </a:p>
        </p:txBody>
      </p:sp>
      <p:pic>
        <p:nvPicPr>
          <p:cNvPr id="180227" name="Picture 3" descr="tunnel"/>
          <p:cNvPicPr>
            <a:picLocks noChangeAspect="1" noChangeArrowheads="1"/>
          </p:cNvPicPr>
          <p:nvPr/>
        </p:nvPicPr>
        <p:blipFill>
          <a:blip r:embed="rId2" cstate="print"/>
          <a:srcRect r="68103"/>
          <a:stretch>
            <a:fillRect/>
          </a:stretch>
        </p:blipFill>
        <p:spPr bwMode="auto">
          <a:xfrm>
            <a:off x="152400" y="1327150"/>
            <a:ext cx="2819400" cy="5314950"/>
          </a:xfrm>
          <a:prstGeom prst="rect">
            <a:avLst/>
          </a:prstGeom>
          <a:noFill/>
          <a:ln w="9525">
            <a:noFill/>
            <a:miter lim="800000"/>
            <a:headEnd/>
            <a:tailEnd/>
          </a:ln>
        </p:spPr>
      </p:pic>
      <p:pic>
        <p:nvPicPr>
          <p:cNvPr id="180230" name="Picture 3" descr="tunnel"/>
          <p:cNvPicPr>
            <a:picLocks noChangeAspect="1" noChangeArrowheads="1"/>
          </p:cNvPicPr>
          <p:nvPr/>
        </p:nvPicPr>
        <p:blipFill>
          <a:blip r:embed="rId2" cstate="print"/>
          <a:srcRect r="35345"/>
          <a:stretch>
            <a:fillRect/>
          </a:stretch>
        </p:blipFill>
        <p:spPr bwMode="auto">
          <a:xfrm>
            <a:off x="152400" y="1327150"/>
            <a:ext cx="5715000" cy="5314950"/>
          </a:xfrm>
          <a:prstGeom prst="rect">
            <a:avLst/>
          </a:prstGeom>
          <a:noFill/>
          <a:ln w="9525">
            <a:noFill/>
            <a:miter lim="800000"/>
            <a:headEnd/>
            <a:tailEnd/>
          </a:ln>
        </p:spPr>
      </p:pic>
      <p:pic>
        <p:nvPicPr>
          <p:cNvPr id="180231" name="Picture 3" descr="tunnel"/>
          <p:cNvPicPr>
            <a:picLocks noChangeAspect="1" noChangeArrowheads="1"/>
          </p:cNvPicPr>
          <p:nvPr/>
        </p:nvPicPr>
        <p:blipFill>
          <a:blip r:embed="rId2" cstate="print"/>
          <a:srcRect/>
          <a:stretch>
            <a:fillRect/>
          </a:stretch>
        </p:blipFill>
        <p:spPr bwMode="auto">
          <a:xfrm>
            <a:off x="152400" y="1327150"/>
            <a:ext cx="8839200" cy="53149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2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02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02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idx="4294967295"/>
          </p:nvPr>
        </p:nvSpPr>
        <p:spPr>
          <a:xfrm>
            <a:off x="0" y="274638"/>
            <a:ext cx="8229600" cy="1143000"/>
          </a:xfrm>
        </p:spPr>
        <p:txBody>
          <a:bodyPr/>
          <a:lstStyle/>
          <a:p>
            <a:pPr eaLnBrk="1" hangingPunct="1"/>
            <a:r>
              <a:rPr lang="en-US"/>
              <a:t>Example of Tunneling</a:t>
            </a:r>
          </a:p>
        </p:txBody>
      </p:sp>
      <p:pic>
        <p:nvPicPr>
          <p:cNvPr id="266246" name="Picture 6" descr="Picture1"/>
          <p:cNvPicPr>
            <a:picLocks noChangeAspect="1" noChangeArrowheads="1"/>
          </p:cNvPicPr>
          <p:nvPr/>
        </p:nvPicPr>
        <p:blipFill>
          <a:blip r:embed="rId2" cstate="print"/>
          <a:srcRect/>
          <a:stretch>
            <a:fillRect/>
          </a:stretch>
        </p:blipFill>
        <p:spPr bwMode="auto">
          <a:xfrm>
            <a:off x="152400" y="1371600"/>
            <a:ext cx="8839200" cy="5235575"/>
          </a:xfrm>
          <a:prstGeom prst="rect">
            <a:avLst/>
          </a:prstGeom>
          <a:noFill/>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p:txBody>
          <a:bodyPr/>
          <a:lstStyle/>
          <a:p>
            <a:pPr eaLnBrk="1" hangingPunct="1"/>
            <a:r>
              <a:rPr lang="en-US" dirty="0"/>
              <a:t>Transport </a:t>
            </a:r>
          </a:p>
        </p:txBody>
      </p:sp>
      <p:sp>
        <p:nvSpPr>
          <p:cNvPr id="273411" name="Rectangle 3"/>
          <p:cNvSpPr>
            <a:spLocks noGrp="1" noChangeArrowheads="1"/>
          </p:cNvSpPr>
          <p:nvPr>
            <p:ph idx="1"/>
          </p:nvPr>
        </p:nvSpPr>
        <p:spPr/>
        <p:txBody>
          <a:bodyPr/>
          <a:lstStyle/>
          <a:p>
            <a:pPr eaLnBrk="1" hangingPunct="1">
              <a:buFontTx/>
              <a:buNone/>
            </a:pPr>
            <a:r>
              <a:rPr lang="en-US" dirty="0"/>
              <a:t>Transport does not actually tunnel IP within IP. It only encapsulates the transport layer and above to protect the DATA.</a:t>
            </a:r>
          </a:p>
          <a:p>
            <a:pPr eaLnBrk="1" hangingPunct="1"/>
            <a:r>
              <a:rPr lang="en-US" dirty="0"/>
              <a:t>Can encrypt DATA</a:t>
            </a:r>
          </a:p>
          <a:p>
            <a:pPr eaLnBrk="1" hangingPunct="1"/>
            <a:r>
              <a:rPr lang="en-US" dirty="0"/>
              <a:t>Can provide origin authentication</a:t>
            </a:r>
          </a:p>
          <a:p>
            <a:pPr eaLnBrk="1" hangingPunct="1"/>
            <a:r>
              <a:rPr lang="en-US" dirty="0"/>
              <a:t>Cannot encrypt original IP headers*</a:t>
            </a:r>
          </a:p>
          <a:p>
            <a:pPr eaLnBrk="1" hangingPunct="1"/>
            <a:r>
              <a:rPr lang="en-US" dirty="0"/>
              <a:t>Does not provide remote/internal IP addresses*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idx="4294967295"/>
          </p:nvPr>
        </p:nvSpPr>
        <p:spPr>
          <a:xfrm>
            <a:off x="0" y="274638"/>
            <a:ext cx="8229600" cy="1143000"/>
          </a:xfrm>
        </p:spPr>
        <p:txBody>
          <a:bodyPr/>
          <a:lstStyle/>
          <a:p>
            <a:pPr eaLnBrk="1" hangingPunct="1"/>
            <a:r>
              <a:rPr lang="en-US"/>
              <a:t>Example of transport</a:t>
            </a:r>
          </a:p>
        </p:txBody>
      </p:sp>
      <p:pic>
        <p:nvPicPr>
          <p:cNvPr id="274435" name="Picture 3" descr="remote access"/>
          <p:cNvPicPr>
            <a:picLocks noGrp="1" noChangeAspect="1" noChangeArrowheads="1"/>
          </p:cNvPicPr>
          <p:nvPr>
            <p:ph type="body" idx="4294967295"/>
          </p:nvPr>
        </p:nvPicPr>
        <p:blipFill>
          <a:blip r:embed="rId2" cstate="print"/>
          <a:srcRect/>
          <a:stretch>
            <a:fillRect/>
          </a:stretch>
        </p:blipFill>
        <p:spPr>
          <a:xfrm>
            <a:off x="914400" y="1352550"/>
            <a:ext cx="8229600" cy="5116513"/>
          </a:xfrm>
          <a:noFill/>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idx="4294967295"/>
          </p:nvPr>
        </p:nvSpPr>
        <p:spPr>
          <a:xfrm>
            <a:off x="0" y="274638"/>
            <a:ext cx="8229600" cy="1143000"/>
          </a:xfrm>
        </p:spPr>
        <p:txBody>
          <a:bodyPr/>
          <a:lstStyle/>
          <a:p>
            <a:pPr eaLnBrk="1" hangingPunct="1"/>
            <a:r>
              <a:rPr lang="en-US"/>
              <a:t>Transport vs. Tunnel</a:t>
            </a:r>
          </a:p>
        </p:txBody>
      </p:sp>
      <p:pic>
        <p:nvPicPr>
          <p:cNvPr id="277507" name="Picture 3" descr="ipsec"/>
          <p:cNvPicPr>
            <a:picLocks noGrp="1" noChangeAspect="1" noChangeArrowheads="1"/>
          </p:cNvPicPr>
          <p:nvPr>
            <p:ph type="body" idx="4294967295"/>
          </p:nvPr>
        </p:nvPicPr>
        <p:blipFill>
          <a:blip r:embed="rId2" cstate="print"/>
          <a:srcRect/>
          <a:stretch>
            <a:fillRect/>
          </a:stretch>
        </p:blipFill>
        <p:spPr>
          <a:xfrm>
            <a:off x="685800" y="1628775"/>
            <a:ext cx="8458200" cy="4508500"/>
          </a:xfrm>
          <a:noFill/>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r>
              <a:rPr lang="en-US"/>
              <a:t>VPN protocols</a:t>
            </a:r>
          </a:p>
        </p:txBody>
      </p:sp>
      <p:sp>
        <p:nvSpPr>
          <p:cNvPr id="181251" name="Rectangle 3"/>
          <p:cNvSpPr>
            <a:spLocks noGrp="1" noChangeArrowheads="1"/>
          </p:cNvSpPr>
          <p:nvPr>
            <p:ph idx="1"/>
          </p:nvPr>
        </p:nvSpPr>
        <p:spPr/>
        <p:txBody>
          <a:bodyPr/>
          <a:lstStyle/>
          <a:p>
            <a:pPr>
              <a:buNone/>
            </a:pPr>
            <a:r>
              <a:rPr lang="en-US" dirty="0"/>
              <a:t>Different protocols</a:t>
            </a:r>
          </a:p>
          <a:p>
            <a:pPr lvl="1"/>
            <a:r>
              <a:rPr lang="en-US" dirty="0"/>
              <a:t>PPTP</a:t>
            </a:r>
          </a:p>
          <a:p>
            <a:pPr lvl="1"/>
            <a:r>
              <a:rPr lang="en-US" dirty="0"/>
              <a:t>L2TP</a:t>
            </a:r>
          </a:p>
          <a:p>
            <a:pPr lvl="1"/>
            <a:r>
              <a:rPr lang="en-US" dirty="0"/>
              <a:t>IPSEC</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a:lstStyle/>
          <a:p>
            <a:r>
              <a:rPr lang="en-US"/>
              <a:t>PPTP - 619</a:t>
            </a:r>
          </a:p>
        </p:txBody>
      </p:sp>
      <p:sp>
        <p:nvSpPr>
          <p:cNvPr id="182275" name="Rectangle 3"/>
          <p:cNvSpPr>
            <a:spLocks noGrp="1" noChangeArrowheads="1"/>
          </p:cNvSpPr>
          <p:nvPr>
            <p:ph idx="1"/>
          </p:nvPr>
        </p:nvSpPr>
        <p:spPr/>
        <p:txBody>
          <a:bodyPr/>
          <a:lstStyle/>
          <a:p>
            <a:pPr>
              <a:buNone/>
            </a:pPr>
            <a:r>
              <a:rPr lang="en-US" dirty="0">
                <a:solidFill>
                  <a:srgbClr val="00B0F0"/>
                </a:solidFill>
              </a:rPr>
              <a:t>P</a:t>
            </a:r>
            <a:r>
              <a:rPr lang="en-US" dirty="0"/>
              <a:t>oint to </a:t>
            </a:r>
            <a:r>
              <a:rPr lang="en-US" dirty="0">
                <a:solidFill>
                  <a:srgbClr val="00B0F0"/>
                </a:solidFill>
              </a:rPr>
              <a:t>P</a:t>
            </a:r>
            <a:r>
              <a:rPr lang="en-US" dirty="0"/>
              <a:t>oint </a:t>
            </a:r>
            <a:r>
              <a:rPr lang="en-US" dirty="0">
                <a:solidFill>
                  <a:srgbClr val="00B0F0"/>
                </a:solidFill>
              </a:rPr>
              <a:t>T</a:t>
            </a:r>
            <a:r>
              <a:rPr lang="en-US" dirty="0"/>
              <a:t>unneling </a:t>
            </a:r>
            <a:r>
              <a:rPr lang="en-US" dirty="0">
                <a:solidFill>
                  <a:srgbClr val="00B0F0"/>
                </a:solidFill>
              </a:rPr>
              <a:t>P</a:t>
            </a:r>
            <a:r>
              <a:rPr lang="en-US" dirty="0"/>
              <a:t>rotocol</a:t>
            </a:r>
          </a:p>
          <a:p>
            <a:r>
              <a:rPr lang="en-US" dirty="0"/>
              <a:t>Lead by Microsoft protocol for a tunneling VPN</a:t>
            </a:r>
          </a:p>
          <a:p>
            <a:r>
              <a:rPr lang="en-US" dirty="0"/>
              <a:t>Uses TCP port 1723 </a:t>
            </a:r>
          </a:p>
          <a:p>
            <a:pPr lvl="1"/>
            <a:r>
              <a:rPr lang="en-US" dirty="0"/>
              <a:t>must keep open on firewall*</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r>
              <a:rPr lang="en-US"/>
              <a:t>PPTP operation</a:t>
            </a:r>
          </a:p>
        </p:txBody>
      </p:sp>
      <p:sp>
        <p:nvSpPr>
          <p:cNvPr id="183299" name="Rectangle 3"/>
          <p:cNvSpPr>
            <a:spLocks noGrp="1" noChangeArrowheads="1"/>
          </p:cNvSpPr>
          <p:nvPr>
            <p:ph idx="1"/>
          </p:nvPr>
        </p:nvSpPr>
        <p:spPr/>
        <p:txBody>
          <a:bodyPr/>
          <a:lstStyle/>
          <a:p>
            <a:r>
              <a:rPr lang="en-US" dirty="0"/>
              <a:t>Remote user connects to ISP, get’s an Internet Address</a:t>
            </a:r>
          </a:p>
          <a:p>
            <a:r>
              <a:rPr lang="en-US" dirty="0"/>
              <a:t>Establishes VPN connection to work VPN server, get’s Internal IP address.</a:t>
            </a:r>
          </a:p>
          <a:p>
            <a:r>
              <a:rPr lang="en-US" dirty="0"/>
              <a:t>Sends private IP packets encrypted within other IP packets.</a:t>
            </a:r>
          </a:p>
          <a:p>
            <a:endParaRPr lang="en-US" dirty="0"/>
          </a:p>
          <a:p>
            <a:r>
              <a:rPr lang="en-US" dirty="0"/>
              <a:t>visualization next slide</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L2TP</a:t>
            </a:r>
          </a:p>
        </p:txBody>
      </p:sp>
      <p:sp>
        <p:nvSpPr>
          <p:cNvPr id="3" name="Content Placeholder 2"/>
          <p:cNvSpPr>
            <a:spLocks noGrp="1"/>
          </p:cNvSpPr>
          <p:nvPr>
            <p:ph idx="1"/>
          </p:nvPr>
        </p:nvSpPr>
        <p:spPr/>
        <p:txBody>
          <a:bodyPr/>
          <a:lstStyle/>
          <a:p>
            <a:pPr>
              <a:buNone/>
            </a:pPr>
            <a:r>
              <a:rPr lang="en-US" dirty="0"/>
              <a:t>Layer 2 Transport Protocol</a:t>
            </a:r>
          </a:p>
          <a:p>
            <a:pPr lvl="1"/>
            <a:r>
              <a:rPr lang="en-US" dirty="0"/>
              <a:t>Cisco designed</a:t>
            </a:r>
          </a:p>
          <a:p>
            <a:pPr lvl="1"/>
            <a:r>
              <a:rPr lang="en-US" dirty="0"/>
              <a:t>Designed to be implemented in hardware</a:t>
            </a:r>
          </a:p>
          <a:p>
            <a:pPr lvl="1"/>
            <a:r>
              <a:rPr lang="en-US" dirty="0"/>
              <a:t>Does not provide encryption</a:t>
            </a:r>
          </a:p>
          <a:p>
            <a:pPr lvl="1"/>
            <a:r>
              <a:rPr lang="en-US" dirty="0"/>
              <a:t>UDP 1701</a:t>
            </a:r>
          </a:p>
          <a:p>
            <a:pPr>
              <a:buNone/>
            </a:pPr>
            <a:r>
              <a:rPr lang="en-US" dirty="0"/>
              <a:t>	</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r>
              <a:rPr lang="en-US"/>
              <a:t>IP Sec - 617</a:t>
            </a:r>
          </a:p>
        </p:txBody>
      </p:sp>
      <p:sp>
        <p:nvSpPr>
          <p:cNvPr id="857091" name="Rectangle 3"/>
          <p:cNvSpPr>
            <a:spLocks noGrp="1" noChangeArrowheads="1"/>
          </p:cNvSpPr>
          <p:nvPr>
            <p:ph idx="1"/>
          </p:nvPr>
        </p:nvSpPr>
        <p:spPr/>
        <p:txBody>
          <a:bodyPr>
            <a:normAutofit fontScale="85000" lnSpcReduction="20000"/>
          </a:bodyPr>
          <a:lstStyle/>
          <a:p>
            <a:r>
              <a:rPr lang="en-US" sz="3300" dirty="0"/>
              <a:t>Intended to add security to IPv6, back ported to IPv4</a:t>
            </a:r>
          </a:p>
          <a:p>
            <a:r>
              <a:rPr lang="en-US" sz="3300" dirty="0"/>
              <a:t>Can provide Integrity and Confidentiality as well as data origin authentication.</a:t>
            </a:r>
          </a:p>
          <a:p>
            <a:r>
              <a:rPr lang="en-US" sz="3300" dirty="0"/>
              <a:t>Uses additional headers</a:t>
            </a:r>
          </a:p>
          <a:p>
            <a:pPr lvl="1"/>
            <a:r>
              <a:rPr lang="en-US" sz="3300" dirty="0"/>
              <a:t>AH</a:t>
            </a:r>
          </a:p>
          <a:p>
            <a:pPr lvl="1"/>
            <a:r>
              <a:rPr lang="en-US" sz="3300" dirty="0"/>
              <a:t>ESP</a:t>
            </a:r>
          </a:p>
          <a:p>
            <a:r>
              <a:rPr lang="en-US" sz="3300" dirty="0"/>
              <a:t>Tunnel, or Transport</a:t>
            </a:r>
          </a:p>
          <a:p>
            <a:r>
              <a:rPr lang="en-US" sz="3300" dirty="0"/>
              <a:t>Uses Security Associations (SA)</a:t>
            </a:r>
          </a:p>
          <a:p>
            <a:r>
              <a:rPr lang="en-US" sz="3300" dirty="0"/>
              <a:t>Uses IP protocol 50 ESP headers, 51 for AH headers.</a:t>
            </a:r>
          </a:p>
          <a:p>
            <a:r>
              <a:rPr lang="en-US" sz="3300" dirty="0"/>
              <a:t>http://www.ciscopress.com/articles/article.asp?p=25477</a:t>
            </a:r>
          </a:p>
          <a:p>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p:txBody>
          <a:bodyPr/>
          <a:lstStyle/>
          <a:p>
            <a:r>
              <a:rPr lang="en-US"/>
              <a:t>IPSEC</a:t>
            </a:r>
          </a:p>
        </p:txBody>
      </p:sp>
      <p:sp>
        <p:nvSpPr>
          <p:cNvPr id="191491" name="Rectangle 3"/>
          <p:cNvSpPr>
            <a:spLocks noGrp="1" noChangeArrowheads="1"/>
          </p:cNvSpPr>
          <p:nvPr>
            <p:ph idx="1"/>
          </p:nvPr>
        </p:nvSpPr>
        <p:spPr/>
        <p:txBody>
          <a:bodyPr/>
          <a:lstStyle/>
          <a:p>
            <a:r>
              <a:rPr lang="en-US"/>
              <a:t>AH - authentication header </a:t>
            </a:r>
          </a:p>
          <a:p>
            <a:pPr lvl="1"/>
            <a:r>
              <a:rPr lang="en-US"/>
              <a:t>Protocol number 51</a:t>
            </a:r>
          </a:p>
          <a:p>
            <a:pPr lvl="1"/>
            <a:r>
              <a:rPr lang="en-US"/>
              <a:t>Authentication only</a:t>
            </a:r>
          </a:p>
          <a:p>
            <a:r>
              <a:rPr lang="en-US"/>
              <a:t>ESP – Encapsulating security payload</a:t>
            </a:r>
          </a:p>
          <a:p>
            <a:pPr lvl="1"/>
            <a:r>
              <a:rPr lang="en-US"/>
              <a:t>Protocol number 50</a:t>
            </a:r>
          </a:p>
          <a:p>
            <a:pPr lvl="1"/>
            <a:r>
              <a:rPr lang="en-US"/>
              <a:t>Encryption</a:t>
            </a:r>
          </a:p>
          <a:p>
            <a:pPr lvl="1"/>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en-US"/>
              <a:t>IP SEC SA</a:t>
            </a:r>
          </a:p>
        </p:txBody>
      </p:sp>
      <p:sp>
        <p:nvSpPr>
          <p:cNvPr id="192515" name="Rectangle 3"/>
          <p:cNvSpPr>
            <a:spLocks noGrp="1" noChangeArrowheads="1"/>
          </p:cNvSpPr>
          <p:nvPr>
            <p:ph idx="1"/>
          </p:nvPr>
        </p:nvSpPr>
        <p:spPr/>
        <p:txBody>
          <a:bodyPr>
            <a:normAutofit fontScale="70000" lnSpcReduction="20000"/>
          </a:bodyPr>
          <a:lstStyle/>
          <a:p>
            <a:pPr>
              <a:buNone/>
            </a:pPr>
            <a:r>
              <a:rPr lang="en-US" dirty="0"/>
              <a:t>From Cisco:</a:t>
            </a:r>
          </a:p>
          <a:p>
            <a:r>
              <a:rPr lang="en-US" dirty="0"/>
              <a:t>The concept of a security association (SA) is fundamental to IPSec. An SA is a relationship between two or more entities that describes how the entities will use security services to communicate securely. IPSec provides many options for performing network encryption and authentication. Each IPSec connection can provide encryption, integrity, authenticity, or all three. When the security service is determined, the two IPSec peers must determine exactly which algorithms to use (for example, DES or 3DES for encryption, MD5 or SHA for integrity). After deciding on the algorithms, the two devices must share session keys. As you can see, there is quite a bit of information to manage. The security association is the method that IPSec uses to track all the particulars concerning a given IPSec communication session</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r>
              <a:rPr lang="en-US"/>
              <a:t>IP Sec SA</a:t>
            </a:r>
          </a:p>
        </p:txBody>
      </p:sp>
      <p:sp>
        <p:nvSpPr>
          <p:cNvPr id="193539" name="Rectangle 3"/>
          <p:cNvSpPr>
            <a:spLocks noGrp="1" noChangeArrowheads="1"/>
          </p:cNvSpPr>
          <p:nvPr>
            <p:ph idx="1"/>
          </p:nvPr>
        </p:nvSpPr>
        <p:spPr/>
        <p:txBody>
          <a:bodyPr/>
          <a:lstStyle/>
          <a:p>
            <a:r>
              <a:rPr lang="en-US" dirty="0"/>
              <a:t>Unidirectional, need two for bi-directional communication</a:t>
            </a:r>
          </a:p>
          <a:p>
            <a:r>
              <a:rPr lang="en-US" dirty="0"/>
              <a:t>SAs are identified by an SPI (Security Parameter Index )</a:t>
            </a:r>
          </a:p>
          <a:p>
            <a:r>
              <a:rPr lang="en-US" dirty="0"/>
              <a:t>Dynamic protocol for establishing SA and keys in IPSEC is ISAKMP</a:t>
            </a:r>
          </a:p>
          <a:p>
            <a:pPr lvl="1"/>
            <a:r>
              <a:rPr lang="en-US" dirty="0"/>
              <a:t>UDP port 500</a:t>
            </a:r>
          </a:p>
          <a:p>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r>
              <a:rPr lang="en-US"/>
              <a:t>Remote Access Best Practices</a:t>
            </a:r>
          </a:p>
        </p:txBody>
      </p:sp>
      <p:sp>
        <p:nvSpPr>
          <p:cNvPr id="194563" name="Rectangle 3"/>
          <p:cNvSpPr>
            <a:spLocks noGrp="1" noChangeArrowheads="1"/>
          </p:cNvSpPr>
          <p:nvPr>
            <p:ph idx="1"/>
          </p:nvPr>
        </p:nvSpPr>
        <p:spPr/>
        <p:txBody>
          <a:bodyPr/>
          <a:lstStyle/>
          <a:p>
            <a:r>
              <a:rPr lang="en-US" dirty="0"/>
              <a:t>Always authenticate users</a:t>
            </a:r>
          </a:p>
          <a:p>
            <a:r>
              <a:rPr lang="en-US" dirty="0"/>
              <a:t>Use multi-factor authentication</a:t>
            </a:r>
          </a:p>
          <a:p>
            <a:r>
              <a:rPr lang="en-US" dirty="0"/>
              <a:t>Audit access</a:t>
            </a:r>
          </a:p>
          <a:p>
            <a:r>
              <a:rPr lang="en-US" dirty="0"/>
              <a:t>Answer modems after 4 rings (modems)</a:t>
            </a:r>
          </a:p>
          <a:p>
            <a:r>
              <a:rPr lang="en-US" dirty="0"/>
              <a:t>Use caller id (modems)</a:t>
            </a:r>
          </a:p>
          <a:p>
            <a:r>
              <a:rPr lang="en-US" dirty="0"/>
              <a:t>Use callback (modems)</a:t>
            </a:r>
          </a:p>
          <a:p>
            <a:r>
              <a:rPr lang="en-US" dirty="0"/>
              <a:t>use VPNs</a:t>
            </a:r>
          </a:p>
          <a:p>
            <a:endParaRPr lang="en-US" dirty="0"/>
          </a:p>
          <a:p>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4"/>
          <p:cNvSpPr>
            <a:spLocks noGrp="1" noChangeArrowheads="1"/>
          </p:cNvSpPr>
          <p:nvPr>
            <p:ph type="ctrTitle"/>
          </p:nvPr>
        </p:nvSpPr>
        <p:spPr/>
        <p:txBody>
          <a:bodyPr/>
          <a:lstStyle/>
          <a:p>
            <a:pPr eaLnBrk="1" hangingPunct="1"/>
            <a:r>
              <a:rPr lang="en-US"/>
              <a:t>Wireless</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p:txBody>
          <a:bodyPr/>
          <a:lstStyle/>
          <a:p>
            <a:r>
              <a:rPr lang="en-US"/>
              <a:t>Wireless (625)</a:t>
            </a:r>
          </a:p>
        </p:txBody>
      </p:sp>
      <p:sp>
        <p:nvSpPr>
          <p:cNvPr id="196611" name="Rectangle 3"/>
          <p:cNvSpPr>
            <a:spLocks noGrp="1" noChangeArrowheads="1"/>
          </p:cNvSpPr>
          <p:nvPr>
            <p:ph idx="1"/>
          </p:nvPr>
        </p:nvSpPr>
        <p:spPr/>
        <p:txBody>
          <a:bodyPr/>
          <a:lstStyle/>
          <a:p>
            <a:pPr>
              <a:buNone/>
            </a:pPr>
            <a:r>
              <a:rPr lang="en-US" dirty="0"/>
              <a:t>Wireless, very common now.</a:t>
            </a:r>
          </a:p>
          <a:p>
            <a:pPr lvl="1"/>
            <a:r>
              <a:rPr lang="en-US" dirty="0"/>
              <a:t>No wires</a:t>
            </a:r>
          </a:p>
          <a:p>
            <a:pPr lvl="1"/>
            <a:r>
              <a:rPr lang="en-US" dirty="0"/>
              <a:t>Easy to use</a:t>
            </a:r>
          </a:p>
          <a:p>
            <a:pPr lvl="1"/>
            <a:r>
              <a:rPr lang="en-US" dirty="0"/>
              <a:t>Uses CSMA/CA</a:t>
            </a:r>
          </a:p>
          <a:p>
            <a:pPr lvl="1"/>
            <a:r>
              <a:rPr lang="en-US" dirty="0"/>
              <a:t>Shared Medium</a:t>
            </a:r>
          </a:p>
          <a:p>
            <a:pPr lvl="2"/>
            <a:r>
              <a:rPr lang="en-US" dirty="0"/>
              <a:t>Problems?</a:t>
            </a:r>
          </a:p>
          <a:p>
            <a:pPr lvl="1"/>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pPr eaLnBrk="1" hangingPunct="1"/>
            <a:r>
              <a:rPr lang="en-US"/>
              <a:t>Spread Spectrum - 625</a:t>
            </a:r>
          </a:p>
        </p:txBody>
      </p:sp>
      <p:sp>
        <p:nvSpPr>
          <p:cNvPr id="197635" name="Rectangle 3"/>
          <p:cNvSpPr>
            <a:spLocks noGrp="1" noChangeArrowheads="1"/>
          </p:cNvSpPr>
          <p:nvPr>
            <p:ph idx="1"/>
          </p:nvPr>
        </p:nvSpPr>
        <p:spPr>
          <a:xfrm>
            <a:off x="152400" y="1524000"/>
            <a:ext cx="8839200" cy="5105400"/>
          </a:xfrm>
        </p:spPr>
        <p:txBody>
          <a:bodyPr/>
          <a:lstStyle/>
          <a:p>
            <a:pPr eaLnBrk="1" hangingPunct="1">
              <a:lnSpc>
                <a:spcPct val="90000"/>
              </a:lnSpc>
            </a:pPr>
            <a:r>
              <a:rPr lang="en-US" dirty="0"/>
              <a:t>Spreads communication across different frequencies available for the wireless device.</a:t>
            </a:r>
          </a:p>
          <a:p>
            <a:pPr lvl="1" eaLnBrk="1" hangingPunct="1">
              <a:lnSpc>
                <a:spcPct val="90000"/>
              </a:lnSpc>
            </a:pPr>
            <a:r>
              <a:rPr lang="en-US" dirty="0"/>
              <a:t>Frequency Hopping Spread Spectrum</a:t>
            </a:r>
          </a:p>
          <a:p>
            <a:pPr lvl="2" eaLnBrk="1" hangingPunct="1">
              <a:lnSpc>
                <a:spcPct val="90000"/>
              </a:lnSpc>
            </a:pPr>
            <a:r>
              <a:rPr lang="en-US" dirty="0"/>
              <a:t>Hop between frequencies (helps if other devices use same frequencies) (doesn’t use the entire “bandwidth of frequencies)</a:t>
            </a:r>
          </a:p>
          <a:p>
            <a:pPr lvl="2" eaLnBrk="1" hangingPunct="1">
              <a:lnSpc>
                <a:spcPct val="90000"/>
              </a:lnSpc>
            </a:pPr>
            <a:r>
              <a:rPr lang="en-US" dirty="0"/>
              <a:t>Harder for eavesdroppers (if everybody didn't know the sequence.. Which they actually do)</a:t>
            </a:r>
          </a:p>
          <a:p>
            <a:pPr lvl="1" eaLnBrk="1" hangingPunct="1">
              <a:lnSpc>
                <a:spcPct val="90000"/>
              </a:lnSpc>
            </a:pPr>
            <a:r>
              <a:rPr lang="en-US" dirty="0"/>
              <a:t>Direct Sequence Spread Spectrum</a:t>
            </a:r>
          </a:p>
          <a:p>
            <a:pPr lvl="2" eaLnBrk="1" hangingPunct="1">
              <a:lnSpc>
                <a:spcPct val="90000"/>
              </a:lnSpc>
            </a:pPr>
            <a:r>
              <a:rPr lang="en-US" dirty="0"/>
              <a:t>Sends data across entire bandwidth, using </a:t>
            </a:r>
            <a:r>
              <a:rPr lang="en-US" i="1" dirty="0"/>
              <a:t>chipping code*  </a:t>
            </a:r>
            <a:r>
              <a:rPr lang="en-US" dirty="0"/>
              <a:t>along with data to appear as noise to other devices.</a:t>
            </a:r>
          </a:p>
          <a:p>
            <a:pPr lvl="1" eaLnBrk="1" hangingPunct="1">
              <a:lnSpc>
                <a:spcPct val="90000"/>
              </a:lnSpc>
              <a:buFontTx/>
              <a:buNone/>
            </a:pPr>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r>
              <a:rPr lang="en-US"/>
              <a:t>Wireless Components - 627  </a:t>
            </a:r>
          </a:p>
        </p:txBody>
      </p:sp>
      <p:sp>
        <p:nvSpPr>
          <p:cNvPr id="198659" name="Rectangle 3"/>
          <p:cNvSpPr>
            <a:spLocks noGrp="1" noChangeArrowheads="1"/>
          </p:cNvSpPr>
          <p:nvPr>
            <p:ph idx="1"/>
          </p:nvPr>
        </p:nvSpPr>
        <p:spPr/>
        <p:txBody>
          <a:bodyPr/>
          <a:lstStyle/>
          <a:p>
            <a:r>
              <a:rPr lang="en-US" dirty="0"/>
              <a:t>Access points are like wireless hubs, they create a </a:t>
            </a:r>
            <a:r>
              <a:rPr lang="en-US" i="1" dirty="0"/>
              <a:t>infrastructure</a:t>
            </a:r>
            <a:r>
              <a:rPr lang="en-US" dirty="0"/>
              <a:t> WLAN</a:t>
            </a:r>
          </a:p>
          <a:p>
            <a:r>
              <a:rPr lang="en-US" dirty="0"/>
              <a:t>If you use just wireless cards of computers to communicate together that is called an </a:t>
            </a:r>
            <a:r>
              <a:rPr lang="en-US" i="1" dirty="0"/>
              <a:t>ad-hoc</a:t>
            </a:r>
            <a:r>
              <a:rPr lang="en-US" dirty="0"/>
              <a:t>* network.</a:t>
            </a:r>
          </a:p>
          <a:p>
            <a:r>
              <a:rPr lang="en-US" dirty="0"/>
              <a:t>Wireless devices must use the same </a:t>
            </a:r>
            <a:r>
              <a:rPr lang="en-US" i="1" dirty="0"/>
              <a:t>channel</a:t>
            </a:r>
          </a:p>
          <a:p>
            <a:r>
              <a:rPr lang="en-US" dirty="0"/>
              <a:t>Devices are configured to use a specific SSID (often broadcasted)</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r>
              <a:rPr lang="en-US"/>
              <a:t>802.11 standard - 630</a:t>
            </a:r>
          </a:p>
        </p:txBody>
      </p:sp>
      <p:sp>
        <p:nvSpPr>
          <p:cNvPr id="199683" name="Rectangle 3"/>
          <p:cNvSpPr>
            <a:spLocks noGrp="1" noChangeArrowheads="1"/>
          </p:cNvSpPr>
          <p:nvPr>
            <p:ph idx="1"/>
          </p:nvPr>
        </p:nvSpPr>
        <p:spPr/>
        <p:txBody>
          <a:bodyPr/>
          <a:lstStyle/>
          <a:p>
            <a:r>
              <a:rPr lang="en-US"/>
              <a:t>Wireless networking</a:t>
            </a:r>
          </a:p>
          <a:p>
            <a:r>
              <a:rPr lang="en-US"/>
              <a:t>2.4, 3.6, 5 GHz </a:t>
            </a:r>
          </a:p>
          <a:p>
            <a:r>
              <a:rPr lang="en-US"/>
              <a:t>Data Link layer specifications</a:t>
            </a:r>
          </a:p>
          <a:p>
            <a:r>
              <a:rPr lang="en-US"/>
              <a:t>Access point (a type of bridge)</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r>
              <a:rPr lang="en-US"/>
              <a:t>802.11 family - 630</a:t>
            </a:r>
          </a:p>
        </p:txBody>
      </p:sp>
      <p:sp>
        <p:nvSpPr>
          <p:cNvPr id="613379" name="Rectangle 3"/>
          <p:cNvSpPr>
            <a:spLocks noGrp="1" noChangeArrowheads="1"/>
          </p:cNvSpPr>
          <p:nvPr>
            <p:ph idx="1"/>
          </p:nvPr>
        </p:nvSpPr>
        <p:spPr/>
        <p:txBody>
          <a:bodyPr>
            <a:normAutofit fontScale="77500" lnSpcReduction="20000"/>
          </a:bodyPr>
          <a:lstStyle/>
          <a:p>
            <a:r>
              <a:rPr lang="en-US" dirty="0"/>
              <a:t>802.11a </a:t>
            </a:r>
          </a:p>
          <a:p>
            <a:pPr lvl="1"/>
            <a:r>
              <a:rPr lang="en-US" dirty="0"/>
              <a:t>54Mbps</a:t>
            </a:r>
          </a:p>
          <a:p>
            <a:pPr lvl="1"/>
            <a:r>
              <a:rPr lang="en-US" dirty="0"/>
              <a:t>5Ghz</a:t>
            </a:r>
          </a:p>
          <a:p>
            <a:pPr lvl="1"/>
            <a:r>
              <a:rPr lang="en-US" dirty="0"/>
              <a:t>8 channels</a:t>
            </a:r>
          </a:p>
          <a:p>
            <a:r>
              <a:rPr lang="en-US" dirty="0"/>
              <a:t>802.11b</a:t>
            </a:r>
          </a:p>
          <a:p>
            <a:pPr lvl="1"/>
            <a:r>
              <a:rPr lang="en-US" dirty="0"/>
              <a:t>11Mbs</a:t>
            </a:r>
          </a:p>
          <a:p>
            <a:pPr lvl="1"/>
            <a:r>
              <a:rPr lang="en-US" dirty="0"/>
              <a:t>2.4Ghz (same as other home devices)</a:t>
            </a:r>
          </a:p>
          <a:p>
            <a:r>
              <a:rPr lang="en-US" dirty="0"/>
              <a:t>802.11g</a:t>
            </a:r>
          </a:p>
          <a:p>
            <a:pPr lvl="1"/>
            <a:r>
              <a:rPr lang="en-US" dirty="0"/>
              <a:t>54Mbs</a:t>
            </a:r>
          </a:p>
          <a:p>
            <a:pPr lvl="1"/>
            <a:r>
              <a:rPr lang="en-US" dirty="0"/>
              <a:t>2.4Ghz</a:t>
            </a:r>
          </a:p>
          <a:p>
            <a:r>
              <a:rPr lang="en-US" dirty="0"/>
              <a:t>802.11n</a:t>
            </a:r>
          </a:p>
          <a:p>
            <a:pPr lvl="1"/>
            <a:r>
              <a:rPr lang="en-US" dirty="0"/>
              <a:t>100Mbs</a:t>
            </a:r>
          </a:p>
          <a:p>
            <a:pPr lvl="1"/>
            <a:r>
              <a:rPr lang="en-US" dirty="0"/>
              <a:t>2.4Ghz or 5Ghz</a:t>
            </a:r>
          </a:p>
          <a:p>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p:txBody>
          <a:bodyPr/>
          <a:lstStyle/>
          <a:p>
            <a:r>
              <a:rPr lang="en-US"/>
              <a:t>Wireless security problems</a:t>
            </a:r>
          </a:p>
        </p:txBody>
      </p:sp>
      <p:sp>
        <p:nvSpPr>
          <p:cNvPr id="201731" name="Rectangle 3"/>
          <p:cNvSpPr>
            <a:spLocks noGrp="1" noChangeArrowheads="1"/>
          </p:cNvSpPr>
          <p:nvPr>
            <p:ph idx="1"/>
          </p:nvPr>
        </p:nvSpPr>
        <p:spPr/>
        <p:txBody>
          <a:bodyPr/>
          <a:lstStyle/>
          <a:p>
            <a:r>
              <a:rPr lang="en-US"/>
              <a:t>Unauthorized access</a:t>
            </a:r>
          </a:p>
          <a:p>
            <a:r>
              <a:rPr lang="en-US"/>
              <a:t>sniffing</a:t>
            </a:r>
          </a:p>
          <a:p>
            <a:r>
              <a:rPr lang="en-US"/>
              <a:t>War driving</a:t>
            </a:r>
          </a:p>
          <a:p>
            <a:r>
              <a:rPr lang="en-US"/>
              <a:t>Unauthorized access points (Man in the middle)</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r>
              <a:rPr lang="en-US"/>
              <a:t>Airsnarfing (wireless MiM)</a:t>
            </a:r>
          </a:p>
        </p:txBody>
      </p:sp>
      <p:sp>
        <p:nvSpPr>
          <p:cNvPr id="14" name="Content Placeholder 13"/>
          <p:cNvSpPr>
            <a:spLocks noGrp="1"/>
          </p:cNvSpPr>
          <p:nvPr>
            <p:ph idx="1"/>
          </p:nvPr>
        </p:nvSpPr>
        <p:spPr/>
        <p:txBody>
          <a:bodyPr/>
          <a:lstStyle/>
          <a:p>
            <a:endParaRPr lang="en-US" dirty="0"/>
          </a:p>
        </p:txBody>
      </p:sp>
      <p:pic>
        <p:nvPicPr>
          <p:cNvPr id="202758" name="Picture 6"/>
          <p:cNvPicPr>
            <a:picLocks noChangeAspect="1" noChangeArrowheads="1"/>
          </p:cNvPicPr>
          <p:nvPr/>
        </p:nvPicPr>
        <p:blipFill>
          <a:blip r:embed="rId2" cstate="print"/>
          <a:srcRect/>
          <a:stretch>
            <a:fillRect/>
          </a:stretch>
        </p:blipFill>
        <p:spPr bwMode="auto">
          <a:xfrm>
            <a:off x="3581400" y="1752600"/>
            <a:ext cx="1676400" cy="714375"/>
          </a:xfrm>
          <a:prstGeom prst="rect">
            <a:avLst/>
          </a:prstGeom>
          <a:noFill/>
        </p:spPr>
      </p:pic>
      <p:pic>
        <p:nvPicPr>
          <p:cNvPr id="202759" name="Picture 7"/>
          <p:cNvPicPr>
            <a:picLocks noChangeAspect="1" noChangeArrowheads="1"/>
          </p:cNvPicPr>
          <p:nvPr/>
        </p:nvPicPr>
        <p:blipFill>
          <a:blip r:embed="rId3" cstate="print"/>
          <a:srcRect/>
          <a:stretch>
            <a:fillRect/>
          </a:stretch>
        </p:blipFill>
        <p:spPr bwMode="auto">
          <a:xfrm>
            <a:off x="2590800" y="4648200"/>
            <a:ext cx="1133475" cy="1028700"/>
          </a:xfrm>
          <a:prstGeom prst="rect">
            <a:avLst/>
          </a:prstGeom>
          <a:noFill/>
        </p:spPr>
      </p:pic>
      <p:pic>
        <p:nvPicPr>
          <p:cNvPr id="202760" name="Picture 8"/>
          <p:cNvPicPr>
            <a:picLocks noChangeAspect="1" noChangeArrowheads="1"/>
          </p:cNvPicPr>
          <p:nvPr/>
        </p:nvPicPr>
        <p:blipFill>
          <a:blip r:embed="rId4" cstate="print"/>
          <a:srcRect/>
          <a:stretch>
            <a:fillRect/>
          </a:stretch>
        </p:blipFill>
        <p:spPr bwMode="auto">
          <a:xfrm>
            <a:off x="5486400" y="4572000"/>
            <a:ext cx="1171575" cy="1152525"/>
          </a:xfrm>
          <a:prstGeom prst="rect">
            <a:avLst/>
          </a:prstGeom>
          <a:noFill/>
        </p:spPr>
      </p:pic>
      <p:sp>
        <p:nvSpPr>
          <p:cNvPr id="202761" name="Text Box 9"/>
          <p:cNvSpPr txBox="1">
            <a:spLocks noChangeArrowheads="1"/>
          </p:cNvSpPr>
          <p:nvPr/>
        </p:nvSpPr>
        <p:spPr bwMode="auto">
          <a:xfrm>
            <a:off x="1143000" y="1905000"/>
            <a:ext cx="2286000" cy="457200"/>
          </a:xfrm>
          <a:prstGeom prst="rect">
            <a:avLst/>
          </a:prstGeom>
          <a:noFill/>
          <a:ln w="9525">
            <a:noFill/>
            <a:miter lim="800000"/>
            <a:headEnd/>
            <a:tailEnd/>
          </a:ln>
          <a:effectLst/>
        </p:spPr>
        <p:txBody>
          <a:bodyPr>
            <a:spAutoFit/>
          </a:bodyPr>
          <a:lstStyle/>
          <a:p>
            <a:pPr>
              <a:spcBef>
                <a:spcPct val="50000"/>
              </a:spcBef>
            </a:pPr>
            <a:r>
              <a:rPr lang="en-US" sz="2400"/>
              <a:t>Wireless AP</a:t>
            </a:r>
          </a:p>
        </p:txBody>
      </p:sp>
      <p:sp>
        <p:nvSpPr>
          <p:cNvPr id="202767" name="Text Box 15"/>
          <p:cNvSpPr txBox="1">
            <a:spLocks noChangeArrowheads="1"/>
          </p:cNvSpPr>
          <p:nvPr/>
        </p:nvSpPr>
        <p:spPr bwMode="auto">
          <a:xfrm>
            <a:off x="228600" y="4953000"/>
            <a:ext cx="2362200" cy="457200"/>
          </a:xfrm>
          <a:prstGeom prst="rect">
            <a:avLst/>
          </a:prstGeom>
          <a:noFill/>
          <a:ln w="9525">
            <a:noFill/>
            <a:miter lim="800000"/>
            <a:headEnd/>
            <a:tailEnd/>
          </a:ln>
          <a:effectLst/>
        </p:spPr>
        <p:txBody>
          <a:bodyPr>
            <a:spAutoFit/>
          </a:bodyPr>
          <a:lstStyle/>
          <a:p>
            <a:pPr>
              <a:spcBef>
                <a:spcPct val="50000"/>
              </a:spcBef>
            </a:pPr>
            <a:r>
              <a:rPr lang="en-US" sz="2400"/>
              <a:t>Wireless User</a:t>
            </a:r>
          </a:p>
        </p:txBody>
      </p:sp>
      <p:sp>
        <p:nvSpPr>
          <p:cNvPr id="202769" name="Text Box 17"/>
          <p:cNvSpPr txBox="1">
            <a:spLocks noChangeArrowheads="1"/>
          </p:cNvSpPr>
          <p:nvPr/>
        </p:nvSpPr>
        <p:spPr bwMode="auto">
          <a:xfrm>
            <a:off x="6781800" y="5029200"/>
            <a:ext cx="1905000" cy="457200"/>
          </a:xfrm>
          <a:prstGeom prst="rect">
            <a:avLst/>
          </a:prstGeom>
          <a:noFill/>
          <a:ln w="9525">
            <a:noFill/>
            <a:miter lim="800000"/>
            <a:headEnd/>
            <a:tailEnd/>
          </a:ln>
          <a:effectLst/>
        </p:spPr>
        <p:txBody>
          <a:bodyPr>
            <a:spAutoFit/>
          </a:bodyPr>
          <a:lstStyle/>
          <a:p>
            <a:pPr>
              <a:spcBef>
                <a:spcPct val="50000"/>
              </a:spcBef>
            </a:pPr>
            <a:r>
              <a:rPr lang="en-US" sz="2400"/>
              <a:t>Attacker</a:t>
            </a:r>
          </a:p>
        </p:txBody>
      </p:sp>
      <p:sp>
        <p:nvSpPr>
          <p:cNvPr id="202771" name="Line 19"/>
          <p:cNvSpPr>
            <a:spLocks noChangeShapeType="1"/>
          </p:cNvSpPr>
          <p:nvPr/>
        </p:nvSpPr>
        <p:spPr bwMode="auto">
          <a:xfrm>
            <a:off x="4038600" y="4953000"/>
            <a:ext cx="1066800" cy="0"/>
          </a:xfrm>
          <a:prstGeom prst="line">
            <a:avLst/>
          </a:prstGeom>
          <a:noFill/>
          <a:ln w="57150">
            <a:solidFill>
              <a:schemeClr val="tx1"/>
            </a:solidFill>
            <a:round/>
            <a:headEnd/>
            <a:tailEnd type="triangle" w="med" len="med"/>
          </a:ln>
          <a:effectLst/>
        </p:spPr>
        <p:txBody>
          <a:bodyPr/>
          <a:lstStyle/>
          <a:p>
            <a:endParaRPr lang="en-US"/>
          </a:p>
        </p:txBody>
      </p:sp>
      <p:sp>
        <p:nvSpPr>
          <p:cNvPr id="202772" name="Line 20"/>
          <p:cNvSpPr>
            <a:spLocks noChangeShapeType="1"/>
          </p:cNvSpPr>
          <p:nvPr/>
        </p:nvSpPr>
        <p:spPr bwMode="auto">
          <a:xfrm flipH="1" flipV="1">
            <a:off x="4800600" y="2819400"/>
            <a:ext cx="685800" cy="1600200"/>
          </a:xfrm>
          <a:prstGeom prst="line">
            <a:avLst/>
          </a:prstGeom>
          <a:noFill/>
          <a:ln w="57150">
            <a:solidFill>
              <a:schemeClr val="tx1"/>
            </a:solidFill>
            <a:round/>
            <a:headEnd/>
            <a:tailEnd type="triangle" w="med" len="med"/>
          </a:ln>
          <a:effectLst/>
        </p:spPr>
        <p:txBody>
          <a:bodyPr/>
          <a:lstStyle/>
          <a:p>
            <a:endParaRPr lang="en-US"/>
          </a:p>
        </p:txBody>
      </p:sp>
      <p:sp>
        <p:nvSpPr>
          <p:cNvPr id="202773" name="Line 21"/>
          <p:cNvSpPr>
            <a:spLocks noChangeShapeType="1"/>
          </p:cNvSpPr>
          <p:nvPr/>
        </p:nvSpPr>
        <p:spPr bwMode="auto">
          <a:xfrm>
            <a:off x="5257800" y="2743200"/>
            <a:ext cx="609600" cy="1524000"/>
          </a:xfrm>
          <a:prstGeom prst="line">
            <a:avLst/>
          </a:prstGeom>
          <a:noFill/>
          <a:ln w="57150">
            <a:solidFill>
              <a:schemeClr val="tx1"/>
            </a:solidFill>
            <a:round/>
            <a:headEnd/>
            <a:tailEnd type="triangle" w="med" len="med"/>
          </a:ln>
          <a:effectLst/>
        </p:spPr>
        <p:txBody>
          <a:bodyPr/>
          <a:lstStyle/>
          <a:p>
            <a:endParaRPr lang="en-US"/>
          </a:p>
        </p:txBody>
      </p:sp>
      <p:sp>
        <p:nvSpPr>
          <p:cNvPr id="202774" name="Line 22"/>
          <p:cNvSpPr>
            <a:spLocks noChangeShapeType="1"/>
          </p:cNvSpPr>
          <p:nvPr/>
        </p:nvSpPr>
        <p:spPr bwMode="auto">
          <a:xfrm flipH="1">
            <a:off x="4038600" y="5334000"/>
            <a:ext cx="1066800" cy="0"/>
          </a:xfrm>
          <a:prstGeom prst="line">
            <a:avLst/>
          </a:prstGeom>
          <a:noFill/>
          <a:ln w="57150">
            <a:solidFill>
              <a:schemeClr val="tx1"/>
            </a:solidFill>
            <a:round/>
            <a:headEnd/>
            <a:tailEnd type="triangle" w="med" len="med"/>
          </a:ln>
          <a:effec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27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27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27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27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71" grpId="0" animBg="1"/>
      <p:bldP spid="202772" grpId="0" animBg="1"/>
      <p:bldP spid="202773" grpId="0" animBg="1"/>
      <p:bldP spid="202774"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r>
              <a:rPr lang="en-US"/>
              <a:t>Transmission encryption –  632</a:t>
            </a:r>
          </a:p>
        </p:txBody>
      </p:sp>
      <p:sp>
        <p:nvSpPr>
          <p:cNvPr id="203779" name="Rectangle 3"/>
          <p:cNvSpPr>
            <a:spLocks noGrp="1" noChangeArrowheads="1"/>
          </p:cNvSpPr>
          <p:nvPr>
            <p:ph idx="1"/>
          </p:nvPr>
        </p:nvSpPr>
        <p:spPr/>
        <p:txBody>
          <a:bodyPr>
            <a:normAutofit fontScale="92500" lnSpcReduction="10000"/>
          </a:bodyPr>
          <a:lstStyle/>
          <a:p>
            <a:r>
              <a:rPr lang="en-US" dirty="0"/>
              <a:t>There are many different types of wireless encryption protocols</a:t>
            </a:r>
          </a:p>
          <a:p>
            <a:r>
              <a:rPr lang="en-US" dirty="0"/>
              <a:t>WEP</a:t>
            </a:r>
          </a:p>
          <a:p>
            <a:pPr lvl="1"/>
            <a:r>
              <a:rPr lang="en-US" dirty="0"/>
              <a:t>Shared authentication passwords</a:t>
            </a:r>
          </a:p>
          <a:p>
            <a:pPr lvl="1"/>
            <a:r>
              <a:rPr lang="en-US" dirty="0"/>
              <a:t>64 or 128 bit</a:t>
            </a:r>
          </a:p>
          <a:p>
            <a:pPr lvl="1"/>
            <a:r>
              <a:rPr lang="en-US" dirty="0"/>
              <a:t>Easily </a:t>
            </a:r>
            <a:r>
              <a:rPr lang="en-US" dirty="0" err="1"/>
              <a:t>crackable</a:t>
            </a:r>
            <a:endParaRPr lang="en-US" dirty="0"/>
          </a:p>
          <a:p>
            <a:pPr lvl="1"/>
            <a:r>
              <a:rPr lang="en-US" dirty="0"/>
              <a:t>Only option for 802.11b</a:t>
            </a:r>
          </a:p>
          <a:p>
            <a:r>
              <a:rPr lang="en-US" dirty="0"/>
              <a:t>WPA PSK</a:t>
            </a:r>
          </a:p>
          <a:p>
            <a:pPr lvl="1"/>
            <a:r>
              <a:rPr lang="en-US" dirty="0"/>
              <a:t>Shared authentication password</a:t>
            </a:r>
          </a:p>
          <a:p>
            <a:pPr lvl="1"/>
            <a:r>
              <a:rPr lang="en-US" dirty="0"/>
              <a:t>TKIP</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r>
              <a:rPr lang="en-US"/>
              <a:t>Transmission Encryption</a:t>
            </a:r>
          </a:p>
        </p:txBody>
      </p:sp>
      <p:sp>
        <p:nvSpPr>
          <p:cNvPr id="204803" name="Rectangle 3"/>
          <p:cNvSpPr>
            <a:spLocks noGrp="1" noChangeArrowheads="1"/>
          </p:cNvSpPr>
          <p:nvPr>
            <p:ph idx="1"/>
          </p:nvPr>
        </p:nvSpPr>
        <p:spPr/>
        <p:txBody>
          <a:bodyPr/>
          <a:lstStyle/>
          <a:p>
            <a:r>
              <a:rPr lang="en-US" dirty="0"/>
              <a:t>WPA2 PSK</a:t>
            </a:r>
          </a:p>
          <a:p>
            <a:pPr lvl="1"/>
            <a:r>
              <a:rPr lang="en-US" dirty="0"/>
              <a:t>Shared authentication password</a:t>
            </a:r>
          </a:p>
          <a:p>
            <a:pPr lvl="1"/>
            <a:r>
              <a:rPr lang="en-US" dirty="0"/>
              <a:t>AES</a:t>
            </a:r>
          </a:p>
          <a:p>
            <a:r>
              <a:rPr lang="en-US" dirty="0"/>
              <a:t>WPA and WPA2 Enterprise</a:t>
            </a:r>
          </a:p>
          <a:p>
            <a:pPr lvl="1"/>
            <a:r>
              <a:rPr lang="en-US" dirty="0"/>
              <a:t>Uses 802.1X authentication to have individual passwords for individual users</a:t>
            </a:r>
          </a:p>
          <a:p>
            <a:pPr lvl="1"/>
            <a:r>
              <a:rPr lang="en-US" dirty="0"/>
              <a:t>RADIUS – what was radius again?</a:t>
            </a:r>
          </a:p>
          <a:p>
            <a:r>
              <a:rPr lang="en-US" dirty="0"/>
              <a:t>802.11i* – the official IEEE wireless security spec, WPA2 supports 802.11i</a:t>
            </a:r>
          </a:p>
          <a:p>
            <a:endParaRPr 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r>
              <a:rPr lang="en-US"/>
              <a:t>802.1X - 627</a:t>
            </a:r>
          </a:p>
        </p:txBody>
      </p:sp>
      <p:sp>
        <p:nvSpPr>
          <p:cNvPr id="205827" name="Rectangle 3"/>
          <p:cNvSpPr>
            <a:spLocks noGrp="1" noChangeArrowheads="1"/>
          </p:cNvSpPr>
          <p:nvPr>
            <p:ph idx="1"/>
          </p:nvPr>
        </p:nvSpPr>
        <p:spPr/>
        <p:txBody>
          <a:bodyPr/>
          <a:lstStyle/>
          <a:p>
            <a:r>
              <a:rPr lang="en-US" dirty="0"/>
              <a:t>Authenticated port based access control.</a:t>
            </a:r>
          </a:p>
          <a:p>
            <a:r>
              <a:rPr lang="en-US" dirty="0"/>
              <a:t>Provides distinct user authentication</a:t>
            </a:r>
          </a:p>
          <a:p>
            <a:r>
              <a:rPr lang="en-US" dirty="0"/>
              <a:t>Has </a:t>
            </a:r>
            <a:r>
              <a:rPr lang="en-US" i="1" dirty="0"/>
              <a:t>supplicant</a:t>
            </a:r>
            <a:r>
              <a:rPr lang="en-US" dirty="0"/>
              <a:t> (client), </a:t>
            </a:r>
            <a:r>
              <a:rPr lang="en-US" i="1" dirty="0"/>
              <a:t>authenticator</a:t>
            </a:r>
            <a:r>
              <a:rPr lang="en-US" dirty="0"/>
              <a:t> (AP) and </a:t>
            </a:r>
            <a:r>
              <a:rPr lang="en-US" i="1" dirty="0"/>
              <a:t>authentication service</a:t>
            </a:r>
            <a:r>
              <a:rPr lang="en-US" dirty="0"/>
              <a:t> (usually radius)</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p:txBody>
          <a:bodyPr/>
          <a:lstStyle/>
          <a:p>
            <a:pPr eaLnBrk="1" hangingPunct="1"/>
            <a:r>
              <a:rPr lang="en-US"/>
              <a:t>Bluetooth</a:t>
            </a:r>
          </a:p>
        </p:txBody>
      </p:sp>
      <p:pic>
        <p:nvPicPr>
          <p:cNvPr id="206851" name="Picture 3" descr="bluetooth"/>
          <p:cNvPicPr>
            <a:picLocks noChangeAspect="1" noChangeArrowheads="1"/>
          </p:cNvPicPr>
          <p:nvPr/>
        </p:nvPicPr>
        <p:blipFill>
          <a:blip r:embed="rId2" cstate="print"/>
          <a:srcRect/>
          <a:stretch>
            <a:fillRect/>
          </a:stretch>
        </p:blipFill>
        <p:spPr bwMode="auto">
          <a:xfrm>
            <a:off x="2590801" y="1600200"/>
            <a:ext cx="3587734" cy="5114925"/>
          </a:xfrm>
          <a:prstGeom prst="rect">
            <a:avLst/>
          </a:prstGeom>
          <a:noFill/>
          <a:ln w="9525">
            <a:noFill/>
            <a:miter lim="800000"/>
            <a:headEnd/>
            <a:tailEnd/>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a:lstStyle/>
          <a:p>
            <a:r>
              <a:rPr lang="en-US"/>
              <a:t>Bluetooth (640)</a:t>
            </a:r>
          </a:p>
        </p:txBody>
      </p:sp>
      <p:sp>
        <p:nvSpPr>
          <p:cNvPr id="207875" name="Rectangle 3"/>
          <p:cNvSpPr>
            <a:spLocks noGrp="1" noChangeArrowheads="1"/>
          </p:cNvSpPr>
          <p:nvPr>
            <p:ph idx="1"/>
          </p:nvPr>
        </p:nvSpPr>
        <p:spPr/>
        <p:txBody>
          <a:bodyPr/>
          <a:lstStyle/>
          <a:p>
            <a:pPr>
              <a:buNone/>
            </a:pPr>
            <a:r>
              <a:rPr lang="en-US" dirty="0"/>
              <a:t>Bluetooth is a Personal Area Network protocol designed to free devices from physical wires.</a:t>
            </a:r>
          </a:p>
          <a:p>
            <a:pPr>
              <a:buNone/>
            </a:pPr>
            <a:endParaRPr lang="en-US" dirty="0"/>
          </a:p>
          <a:p>
            <a:r>
              <a:rPr lang="en-US" dirty="0"/>
              <a:t>Bluetooth Modes</a:t>
            </a:r>
          </a:p>
          <a:p>
            <a:pPr lvl="1"/>
            <a:r>
              <a:rPr lang="en-US" dirty="0"/>
              <a:t>Discovery Mode</a:t>
            </a:r>
          </a:p>
          <a:p>
            <a:pPr lvl="1"/>
            <a:r>
              <a:rPr lang="en-US" dirty="0"/>
              <a:t>Automatic Pairing</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r>
              <a:rPr lang="en-US"/>
              <a:t>Bluetooth Attacks</a:t>
            </a:r>
          </a:p>
        </p:txBody>
      </p:sp>
      <p:sp>
        <p:nvSpPr>
          <p:cNvPr id="208899" name="Rectangle 3"/>
          <p:cNvSpPr>
            <a:spLocks noGrp="1" noChangeArrowheads="1"/>
          </p:cNvSpPr>
          <p:nvPr>
            <p:ph idx="1"/>
          </p:nvPr>
        </p:nvSpPr>
        <p:spPr/>
        <p:txBody>
          <a:bodyPr>
            <a:normAutofit fontScale="92500" lnSpcReduction="10000"/>
          </a:bodyPr>
          <a:lstStyle/>
          <a:p>
            <a:r>
              <a:rPr lang="en-US" dirty="0"/>
              <a:t>Blue jacking </a:t>
            </a:r>
          </a:p>
          <a:p>
            <a:pPr lvl="1"/>
            <a:r>
              <a:rPr lang="en-US" dirty="0"/>
              <a:t>Sending forged message to nearby </a:t>
            </a:r>
            <a:r>
              <a:rPr lang="en-US" dirty="0" err="1"/>
              <a:t>bluetooth</a:t>
            </a:r>
            <a:r>
              <a:rPr lang="en-US" dirty="0"/>
              <a:t> devices</a:t>
            </a:r>
          </a:p>
          <a:p>
            <a:pPr lvl="1"/>
            <a:r>
              <a:rPr lang="en-US" dirty="0"/>
              <a:t>Need to be close</a:t>
            </a:r>
          </a:p>
          <a:p>
            <a:r>
              <a:rPr lang="en-US" dirty="0"/>
              <a:t>Blue </a:t>
            </a:r>
            <a:r>
              <a:rPr lang="en-US" dirty="0" err="1"/>
              <a:t>Snarfing</a:t>
            </a:r>
            <a:endParaRPr lang="en-US" dirty="0"/>
          </a:p>
          <a:p>
            <a:pPr lvl="1"/>
            <a:r>
              <a:rPr lang="en-US" dirty="0"/>
              <a:t>Copies information off of remote devices</a:t>
            </a:r>
          </a:p>
          <a:p>
            <a:r>
              <a:rPr lang="en-US" dirty="0"/>
              <a:t>Blue bugging</a:t>
            </a:r>
          </a:p>
          <a:p>
            <a:pPr lvl="1"/>
            <a:r>
              <a:rPr lang="en-US" dirty="0"/>
              <a:t>More serious</a:t>
            </a:r>
          </a:p>
          <a:p>
            <a:pPr lvl="1"/>
            <a:r>
              <a:rPr lang="en-US" dirty="0"/>
              <a:t>Allows full use of phone</a:t>
            </a:r>
          </a:p>
          <a:p>
            <a:pPr lvl="1"/>
            <a:r>
              <a:rPr lang="en-US" dirty="0"/>
              <a:t>Allows one to make calls</a:t>
            </a:r>
          </a:p>
          <a:p>
            <a:pPr lvl="1"/>
            <a:r>
              <a:rPr lang="en-US" dirty="0"/>
              <a:t>Can eavesdrop on calls</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r>
              <a:rPr lang="en-US"/>
              <a:t>Bluetooth Countermeasures</a:t>
            </a:r>
          </a:p>
        </p:txBody>
      </p:sp>
      <p:sp>
        <p:nvSpPr>
          <p:cNvPr id="209923" name="Rectangle 3"/>
          <p:cNvSpPr>
            <a:spLocks noGrp="1" noChangeArrowheads="1"/>
          </p:cNvSpPr>
          <p:nvPr>
            <p:ph idx="1"/>
          </p:nvPr>
        </p:nvSpPr>
        <p:spPr/>
        <p:txBody>
          <a:bodyPr/>
          <a:lstStyle/>
          <a:p>
            <a:r>
              <a:rPr lang="en-US"/>
              <a:t>Disable it if your not using it</a:t>
            </a:r>
          </a:p>
          <a:p>
            <a:r>
              <a:rPr lang="en-US"/>
              <a:t>Disable auto-discovery</a:t>
            </a:r>
          </a:p>
          <a:p>
            <a:r>
              <a:rPr lang="en-US"/>
              <a:t>Disable auto-pairing</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r>
              <a:rPr lang="en-US"/>
              <a:t>WAP (641)</a:t>
            </a:r>
          </a:p>
        </p:txBody>
      </p:sp>
      <p:sp>
        <p:nvSpPr>
          <p:cNvPr id="210947" name="Rectangle 3"/>
          <p:cNvSpPr>
            <a:spLocks noGrp="1" noChangeArrowheads="1"/>
          </p:cNvSpPr>
          <p:nvPr>
            <p:ph idx="1"/>
          </p:nvPr>
        </p:nvSpPr>
        <p:spPr/>
        <p:txBody>
          <a:bodyPr>
            <a:normAutofit fontScale="92500" lnSpcReduction="20000"/>
          </a:bodyPr>
          <a:lstStyle/>
          <a:p>
            <a:pPr>
              <a:buNone/>
            </a:pPr>
            <a:r>
              <a:rPr lang="en-US" dirty="0">
                <a:solidFill>
                  <a:srgbClr val="00B0F0"/>
                </a:solidFill>
              </a:rPr>
              <a:t>W</a:t>
            </a:r>
            <a:r>
              <a:rPr lang="en-US" dirty="0"/>
              <a:t>ireless </a:t>
            </a:r>
            <a:r>
              <a:rPr lang="en-US" dirty="0">
                <a:solidFill>
                  <a:srgbClr val="00B0F0"/>
                </a:solidFill>
              </a:rPr>
              <a:t>A</a:t>
            </a:r>
            <a:r>
              <a:rPr lang="en-US" dirty="0"/>
              <a:t>pplication </a:t>
            </a:r>
            <a:r>
              <a:rPr lang="en-US" dirty="0">
                <a:solidFill>
                  <a:srgbClr val="00B0F0"/>
                </a:solidFill>
              </a:rPr>
              <a:t>P</a:t>
            </a:r>
            <a:r>
              <a:rPr lang="en-US" dirty="0"/>
              <a:t>rotocol – a protocol developed mainly to allow wireless devices (cell phones) access to the Internet.</a:t>
            </a:r>
          </a:p>
          <a:p>
            <a:r>
              <a:rPr lang="en-US" dirty="0"/>
              <a:t>Requires a Gateway to translate WAP &lt;-&gt; HTML (see visual)</a:t>
            </a:r>
          </a:p>
          <a:p>
            <a:r>
              <a:rPr lang="en-US" dirty="0"/>
              <a:t>Uses </a:t>
            </a:r>
            <a:r>
              <a:rPr lang="en-US" dirty="0">
                <a:solidFill>
                  <a:srgbClr val="00B0F0"/>
                </a:solidFill>
              </a:rPr>
              <a:t>WTLS</a:t>
            </a:r>
            <a:r>
              <a:rPr lang="en-US" dirty="0"/>
              <a:t> to encrypt data (modified version of TLS)</a:t>
            </a:r>
          </a:p>
          <a:p>
            <a:r>
              <a:rPr lang="en-US" dirty="0"/>
              <a:t>Uses HMAC for message authentication</a:t>
            </a:r>
          </a:p>
          <a:p>
            <a:r>
              <a:rPr lang="en-US" dirty="0"/>
              <a:t>WAP GAP* problem (see visual and explain)</a:t>
            </a:r>
          </a:p>
          <a:p>
            <a:r>
              <a:rPr lang="en-US" dirty="0"/>
              <a:t>A lot of wireless devices don’t need WAP anymore.</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pPr eaLnBrk="1" hangingPunct="1"/>
            <a:r>
              <a:rPr lang="en-US"/>
              <a:t>WAP</a:t>
            </a:r>
          </a:p>
        </p:txBody>
      </p:sp>
      <p:pic>
        <p:nvPicPr>
          <p:cNvPr id="211971" name="Picture 3" descr="wap"/>
          <p:cNvPicPr>
            <a:picLocks noChangeAspect="1" noChangeArrowheads="1"/>
          </p:cNvPicPr>
          <p:nvPr/>
        </p:nvPicPr>
        <p:blipFill>
          <a:blip r:embed="rId2" cstate="print"/>
          <a:srcRect/>
          <a:stretch>
            <a:fillRect/>
          </a:stretch>
        </p:blipFill>
        <p:spPr bwMode="auto">
          <a:xfrm>
            <a:off x="381000" y="1579332"/>
            <a:ext cx="7924800" cy="4921481"/>
          </a:xfrm>
          <a:prstGeom prst="rect">
            <a:avLst/>
          </a:prstGeom>
          <a:noFill/>
          <a:ln w="9525">
            <a:noFill/>
            <a:miter lim="800000"/>
            <a:headEnd/>
            <a:tailEnd/>
          </a:ln>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p:txBody>
          <a:bodyPr/>
          <a:lstStyle/>
          <a:p>
            <a:pPr eaLnBrk="1" hangingPunct="1"/>
            <a:r>
              <a:rPr lang="en-US"/>
              <a:t>WAP GAP</a:t>
            </a:r>
          </a:p>
        </p:txBody>
      </p:sp>
      <p:sp>
        <p:nvSpPr>
          <p:cNvPr id="212995" name="Rectangle 3"/>
          <p:cNvSpPr>
            <a:spLocks noGrp="1" noChangeArrowheads="1"/>
          </p:cNvSpPr>
          <p:nvPr>
            <p:ph idx="1"/>
          </p:nvPr>
        </p:nvSpPr>
        <p:spPr>
          <a:xfrm>
            <a:off x="152400" y="1524000"/>
            <a:ext cx="8839200" cy="1981200"/>
          </a:xfrm>
        </p:spPr>
        <p:txBody>
          <a:bodyPr/>
          <a:lstStyle/>
          <a:p>
            <a:pPr eaLnBrk="1" hangingPunct="1">
              <a:lnSpc>
                <a:spcPct val="90000"/>
              </a:lnSpc>
              <a:buFontTx/>
              <a:buNone/>
            </a:pPr>
            <a:r>
              <a:rPr lang="en-US"/>
              <a:t>As the gateway decrypts from WTLS and encrypts as SSL/TLS, the data is plaintext. If someone could access the gateway, they could capture the communications</a:t>
            </a:r>
          </a:p>
        </p:txBody>
      </p:sp>
      <p:pic>
        <p:nvPicPr>
          <p:cNvPr id="212996" name="Picture 4" descr="wap-gap"/>
          <p:cNvPicPr>
            <a:picLocks noChangeAspect="1" noChangeArrowheads="1"/>
          </p:cNvPicPr>
          <p:nvPr/>
        </p:nvPicPr>
        <p:blipFill>
          <a:blip r:embed="rId2" cstate="print"/>
          <a:srcRect r="83333"/>
          <a:stretch>
            <a:fillRect/>
          </a:stretch>
        </p:blipFill>
        <p:spPr bwMode="auto">
          <a:xfrm>
            <a:off x="228600" y="3810000"/>
            <a:ext cx="1447800" cy="2273300"/>
          </a:xfrm>
          <a:prstGeom prst="rect">
            <a:avLst/>
          </a:prstGeom>
          <a:noFill/>
          <a:ln w="9525">
            <a:noFill/>
            <a:miter lim="800000"/>
            <a:headEnd/>
            <a:tailEnd/>
          </a:ln>
        </p:spPr>
      </p:pic>
      <p:pic>
        <p:nvPicPr>
          <p:cNvPr id="213006" name="Picture 4" descr="wap-gap"/>
          <p:cNvPicPr>
            <a:picLocks noChangeAspect="1" noChangeArrowheads="1"/>
          </p:cNvPicPr>
          <p:nvPr/>
        </p:nvPicPr>
        <p:blipFill>
          <a:blip r:embed="rId2" cstate="print"/>
          <a:srcRect r="42982"/>
          <a:stretch>
            <a:fillRect/>
          </a:stretch>
        </p:blipFill>
        <p:spPr bwMode="auto">
          <a:xfrm>
            <a:off x="228600" y="3810000"/>
            <a:ext cx="4953000" cy="2273300"/>
          </a:xfrm>
          <a:prstGeom prst="rect">
            <a:avLst/>
          </a:prstGeom>
          <a:noFill/>
          <a:ln w="9525">
            <a:noFill/>
            <a:miter lim="800000"/>
            <a:headEnd/>
            <a:tailEnd/>
          </a:ln>
        </p:spPr>
      </p:pic>
      <p:pic>
        <p:nvPicPr>
          <p:cNvPr id="213007" name="Picture 4" descr="wap-gap"/>
          <p:cNvPicPr>
            <a:picLocks noChangeAspect="1" noChangeArrowheads="1"/>
          </p:cNvPicPr>
          <p:nvPr/>
        </p:nvPicPr>
        <p:blipFill>
          <a:blip r:embed="rId2" cstate="print"/>
          <a:srcRect/>
          <a:stretch>
            <a:fillRect/>
          </a:stretch>
        </p:blipFill>
        <p:spPr bwMode="auto">
          <a:xfrm>
            <a:off x="228600" y="3810000"/>
            <a:ext cx="8686800" cy="22733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29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30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30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ctrTitle"/>
          </p:nvPr>
        </p:nvSpPr>
        <p:spPr/>
        <p:txBody>
          <a:bodyPr/>
          <a:lstStyle/>
          <a:p>
            <a:r>
              <a:rPr lang="en-US"/>
              <a:t>Attacks against Networks and Software</a:t>
            </a:r>
          </a:p>
        </p:txBody>
      </p:sp>
      <p:sp>
        <p:nvSpPr>
          <p:cNvPr id="4" name="Subtitle 3"/>
          <p:cNvSpPr>
            <a:spLocks noGrp="1"/>
          </p:cNvSpPr>
          <p:nvPr>
            <p:ph type="subTitle" idx="1"/>
          </p:nvPr>
        </p:nvSpPr>
        <p:spPr/>
        <p:txBody>
          <a:bodyPr/>
          <a:lstStyle/>
          <a:p>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pPr eaLnBrk="1" hangingPunct="1"/>
            <a:r>
              <a:rPr lang="en-US"/>
              <a:t>LOKI</a:t>
            </a:r>
          </a:p>
        </p:txBody>
      </p:sp>
      <p:sp>
        <p:nvSpPr>
          <p:cNvPr id="215043" name="Text Box 4"/>
          <p:cNvSpPr txBox="1">
            <a:spLocks noChangeArrowheads="1"/>
          </p:cNvSpPr>
          <p:nvPr/>
        </p:nvSpPr>
        <p:spPr bwMode="auto">
          <a:xfrm>
            <a:off x="228600" y="5486400"/>
            <a:ext cx="8610600" cy="1066800"/>
          </a:xfrm>
          <a:prstGeom prst="rect">
            <a:avLst/>
          </a:prstGeom>
          <a:noFill/>
          <a:ln w="9525">
            <a:noFill/>
            <a:miter lim="800000"/>
            <a:headEnd/>
            <a:tailEnd/>
          </a:ln>
        </p:spPr>
        <p:txBody>
          <a:bodyPr>
            <a:spAutoFit/>
          </a:bodyPr>
          <a:lstStyle/>
          <a:p>
            <a:pPr algn="l">
              <a:spcBef>
                <a:spcPct val="50000"/>
              </a:spcBef>
            </a:pPr>
            <a:r>
              <a:rPr lang="en-US" sz="3200"/>
              <a:t>Pings easily go through the firewalls undetected!</a:t>
            </a:r>
          </a:p>
        </p:txBody>
      </p:sp>
      <p:pic>
        <p:nvPicPr>
          <p:cNvPr id="215044" name="Picture 5" descr="loki"/>
          <p:cNvPicPr>
            <a:picLocks noChangeAspect="1" noChangeArrowheads="1"/>
          </p:cNvPicPr>
          <p:nvPr/>
        </p:nvPicPr>
        <p:blipFill>
          <a:blip r:embed="rId2" cstate="print"/>
          <a:srcRect/>
          <a:stretch>
            <a:fillRect/>
          </a:stretch>
        </p:blipFill>
        <p:spPr bwMode="auto">
          <a:xfrm>
            <a:off x="152400" y="1447800"/>
            <a:ext cx="8839200" cy="4103688"/>
          </a:xfrm>
          <a:prstGeom prst="rect">
            <a:avLst/>
          </a:prstGeom>
          <a:noFill/>
          <a:ln w="9525">
            <a:noFill/>
            <a:miter lim="800000"/>
            <a:headEnd/>
            <a:tailEnd/>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p:txBody>
          <a:bodyPr/>
          <a:lstStyle/>
          <a:p>
            <a:pPr eaLnBrk="1" hangingPunct="1"/>
            <a:r>
              <a:rPr lang="en-US"/>
              <a:t>MAC flooding</a:t>
            </a:r>
          </a:p>
        </p:txBody>
      </p:sp>
      <p:pic>
        <p:nvPicPr>
          <p:cNvPr id="216067" name="Picture 3" descr="mac-flooding"/>
          <p:cNvPicPr>
            <a:picLocks noChangeAspect="1" noChangeArrowheads="1"/>
          </p:cNvPicPr>
          <p:nvPr/>
        </p:nvPicPr>
        <p:blipFill>
          <a:blip r:embed="rId2" cstate="print"/>
          <a:srcRect/>
          <a:stretch>
            <a:fillRect/>
          </a:stretch>
        </p:blipFill>
        <p:spPr bwMode="auto">
          <a:xfrm>
            <a:off x="304800" y="1676400"/>
            <a:ext cx="8505825" cy="4514850"/>
          </a:xfrm>
          <a:prstGeom prst="rect">
            <a:avLst/>
          </a:prstGeom>
          <a:noFill/>
          <a:ln w="9525">
            <a:noFill/>
            <a:miter lim="800000"/>
            <a:headEnd/>
            <a:tailEnd/>
          </a:ln>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pPr eaLnBrk="1" hangingPunct="1"/>
            <a:r>
              <a:rPr lang="en-US"/>
              <a:t>Buffer Overflows (chapter 11)</a:t>
            </a:r>
          </a:p>
        </p:txBody>
      </p:sp>
      <p:sp>
        <p:nvSpPr>
          <p:cNvPr id="217091" name="Rectangle 3"/>
          <p:cNvSpPr>
            <a:spLocks noGrp="1" noChangeArrowheads="1"/>
          </p:cNvSpPr>
          <p:nvPr>
            <p:ph idx="1"/>
          </p:nvPr>
        </p:nvSpPr>
        <p:spPr>
          <a:xfrm>
            <a:off x="152400" y="1447800"/>
            <a:ext cx="8839200" cy="5257800"/>
          </a:xfrm>
        </p:spPr>
        <p:txBody>
          <a:bodyPr>
            <a:normAutofit/>
          </a:bodyPr>
          <a:lstStyle/>
          <a:p>
            <a:pPr eaLnBrk="1" hangingPunct="1"/>
            <a:r>
              <a:rPr lang="en-US" dirty="0"/>
              <a:t>What are they? What are the attributes of a buffer overflow?</a:t>
            </a:r>
          </a:p>
          <a:p>
            <a:pPr eaLnBrk="1" hangingPunct="1"/>
            <a:endParaRPr lang="en-US" dirty="0"/>
          </a:p>
          <a:p>
            <a:pPr eaLnBrk="1" hangingPunct="1"/>
            <a:r>
              <a:rPr lang="en-US" dirty="0"/>
              <a:t>NOTE SERIOUS LIBERTIES have been taken with the example slides of a buffer overflow to simplify the attack so it’s easier to understand. In reality it’s more complicated than shown</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p:txBody>
          <a:bodyPr/>
          <a:lstStyle/>
          <a:p>
            <a:pPr eaLnBrk="1" hangingPunct="1"/>
            <a:r>
              <a:rPr lang="en-US"/>
              <a:t>Buffer Overflow</a:t>
            </a:r>
          </a:p>
        </p:txBody>
      </p:sp>
      <p:pic>
        <p:nvPicPr>
          <p:cNvPr id="218115" name="Picture 3" descr="buffer-overflow1"/>
          <p:cNvPicPr>
            <a:picLocks noChangeAspect="1" noChangeArrowheads="1"/>
          </p:cNvPicPr>
          <p:nvPr/>
        </p:nvPicPr>
        <p:blipFill>
          <a:blip r:embed="rId2" cstate="print"/>
          <a:srcRect/>
          <a:stretch>
            <a:fillRect/>
          </a:stretch>
        </p:blipFill>
        <p:spPr bwMode="auto">
          <a:xfrm>
            <a:off x="152400" y="1476375"/>
            <a:ext cx="8839200" cy="5238750"/>
          </a:xfrm>
          <a:prstGeom prst="rect">
            <a:avLst/>
          </a:prstGeom>
          <a:noFill/>
          <a:ln w="9525">
            <a:noFill/>
            <a:miter lim="800000"/>
            <a:headEnd/>
            <a:tailEnd/>
          </a:ln>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pPr eaLnBrk="1" hangingPunct="1"/>
            <a:r>
              <a:rPr lang="en-US"/>
              <a:t>Buffer Overflow</a:t>
            </a:r>
          </a:p>
        </p:txBody>
      </p:sp>
      <p:pic>
        <p:nvPicPr>
          <p:cNvPr id="219139" name="Picture 3" descr="buffer-overflow2"/>
          <p:cNvPicPr>
            <a:picLocks noChangeAspect="1" noChangeArrowheads="1"/>
          </p:cNvPicPr>
          <p:nvPr/>
        </p:nvPicPr>
        <p:blipFill>
          <a:blip r:embed="rId2" cstate="print"/>
          <a:srcRect/>
          <a:stretch>
            <a:fillRect/>
          </a:stretch>
        </p:blipFill>
        <p:spPr bwMode="auto">
          <a:xfrm>
            <a:off x="152400" y="1466850"/>
            <a:ext cx="8839200" cy="5238750"/>
          </a:xfrm>
          <a:prstGeom prst="rect">
            <a:avLst/>
          </a:prstGeom>
          <a:noFill/>
          <a:ln w="9525">
            <a:noFill/>
            <a:miter lim="800000"/>
            <a:headEnd/>
            <a:tailEnd/>
          </a:ln>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pPr eaLnBrk="1" hangingPunct="1"/>
            <a:r>
              <a:rPr lang="en-US"/>
              <a:t>Buffer Overflow</a:t>
            </a:r>
          </a:p>
        </p:txBody>
      </p:sp>
      <p:pic>
        <p:nvPicPr>
          <p:cNvPr id="220163" name="Picture 3" descr="buffer-overflow3"/>
          <p:cNvPicPr>
            <a:picLocks noChangeAspect="1" noChangeArrowheads="1"/>
          </p:cNvPicPr>
          <p:nvPr/>
        </p:nvPicPr>
        <p:blipFill>
          <a:blip r:embed="rId2" cstate="print"/>
          <a:srcRect/>
          <a:stretch>
            <a:fillRect/>
          </a:stretch>
        </p:blipFill>
        <p:spPr bwMode="auto">
          <a:xfrm>
            <a:off x="152400" y="1476375"/>
            <a:ext cx="8839200" cy="5238750"/>
          </a:xfrm>
          <a:prstGeom prst="rect">
            <a:avLst/>
          </a:prstGeom>
          <a:noFill/>
          <a:ln w="9525">
            <a:noFill/>
            <a:miter lim="800000"/>
            <a:headEnd/>
            <a:tailEnd/>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pPr eaLnBrk="1" hangingPunct="1"/>
            <a:r>
              <a:rPr lang="en-US"/>
              <a:t>Buffer Overflow</a:t>
            </a:r>
          </a:p>
        </p:txBody>
      </p:sp>
      <p:pic>
        <p:nvPicPr>
          <p:cNvPr id="221187" name="Picture 3" descr="buffer-overflow4"/>
          <p:cNvPicPr>
            <a:picLocks noChangeAspect="1" noChangeArrowheads="1"/>
          </p:cNvPicPr>
          <p:nvPr/>
        </p:nvPicPr>
        <p:blipFill>
          <a:blip r:embed="rId2" cstate="print"/>
          <a:srcRect/>
          <a:stretch>
            <a:fillRect/>
          </a:stretch>
        </p:blipFill>
        <p:spPr bwMode="auto">
          <a:xfrm>
            <a:off x="152400" y="1476375"/>
            <a:ext cx="8839200" cy="5238750"/>
          </a:xfrm>
          <a:prstGeom prst="rect">
            <a:avLst/>
          </a:prstGeom>
          <a:noFill/>
          <a:ln w="9525">
            <a:noFill/>
            <a:miter lim="800000"/>
            <a:headEnd/>
            <a:tailEnd/>
          </a:ln>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p:txBody>
          <a:bodyPr/>
          <a:lstStyle/>
          <a:p>
            <a:pPr eaLnBrk="1" hangingPunct="1"/>
            <a:r>
              <a:rPr lang="en-US"/>
              <a:t>Buffer Overflow</a:t>
            </a:r>
          </a:p>
        </p:txBody>
      </p:sp>
      <p:pic>
        <p:nvPicPr>
          <p:cNvPr id="222211" name="Picture 3" descr="buffer-overflow5"/>
          <p:cNvPicPr>
            <a:picLocks noChangeAspect="1" noChangeArrowheads="1"/>
          </p:cNvPicPr>
          <p:nvPr/>
        </p:nvPicPr>
        <p:blipFill>
          <a:blip r:embed="rId2" cstate="print"/>
          <a:srcRect/>
          <a:stretch>
            <a:fillRect/>
          </a:stretch>
        </p:blipFill>
        <p:spPr bwMode="auto">
          <a:xfrm>
            <a:off x="152400" y="1476375"/>
            <a:ext cx="8839200" cy="5238750"/>
          </a:xfrm>
          <a:prstGeom prst="rect">
            <a:avLst/>
          </a:prstGeom>
          <a:noFill/>
          <a:ln w="9525">
            <a:noFill/>
            <a:miter lim="800000"/>
            <a:headEnd/>
            <a:tailEnd/>
          </a:ln>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p:txBody>
          <a:bodyPr/>
          <a:lstStyle/>
          <a:p>
            <a:pPr eaLnBrk="1" hangingPunct="1"/>
            <a:r>
              <a:rPr lang="en-US"/>
              <a:t>Buffer Overflow</a:t>
            </a:r>
          </a:p>
        </p:txBody>
      </p:sp>
      <p:pic>
        <p:nvPicPr>
          <p:cNvPr id="223235" name="Picture 3" descr="buffer-overflow6"/>
          <p:cNvPicPr>
            <a:picLocks noChangeAspect="1" noChangeArrowheads="1"/>
          </p:cNvPicPr>
          <p:nvPr/>
        </p:nvPicPr>
        <p:blipFill>
          <a:blip r:embed="rId2" cstate="print"/>
          <a:srcRect/>
          <a:stretch>
            <a:fillRect/>
          </a:stretch>
        </p:blipFill>
        <p:spPr bwMode="auto">
          <a:xfrm>
            <a:off x="152400" y="1476375"/>
            <a:ext cx="8839200" cy="5238750"/>
          </a:xfrm>
          <a:prstGeom prst="rect">
            <a:avLst/>
          </a:prstGeom>
          <a:noFill/>
          <a:ln w="9525">
            <a:noFill/>
            <a:miter lim="800000"/>
            <a:headEnd/>
            <a:tailEnd/>
          </a:ln>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p:nvPr>
        </p:nvSpPr>
        <p:spPr/>
        <p:txBody>
          <a:bodyPr/>
          <a:lstStyle/>
          <a:p>
            <a:pPr eaLnBrk="1" hangingPunct="1"/>
            <a:r>
              <a:rPr lang="en-US"/>
              <a:t>Buffer Overflow</a:t>
            </a:r>
          </a:p>
        </p:txBody>
      </p:sp>
      <p:pic>
        <p:nvPicPr>
          <p:cNvPr id="224259" name="Picture 3" descr="buffer-overflow7"/>
          <p:cNvPicPr>
            <a:picLocks noChangeAspect="1" noChangeArrowheads="1"/>
          </p:cNvPicPr>
          <p:nvPr/>
        </p:nvPicPr>
        <p:blipFill>
          <a:blip r:embed="rId2" cstate="print"/>
          <a:srcRect/>
          <a:stretch>
            <a:fillRect/>
          </a:stretch>
        </p:blipFill>
        <p:spPr bwMode="auto">
          <a:xfrm>
            <a:off x="152400" y="1477963"/>
            <a:ext cx="8839200" cy="5238750"/>
          </a:xfrm>
          <a:prstGeom prst="rect">
            <a:avLst/>
          </a:prstGeom>
          <a:noFill/>
          <a:ln w="9525">
            <a:noFill/>
            <a:miter lim="800000"/>
            <a:headEnd/>
            <a:tailEnd/>
          </a:ln>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lstStyle/>
          <a:p>
            <a:pPr eaLnBrk="1" hangingPunct="1"/>
            <a:r>
              <a:rPr lang="en-US"/>
              <a:t>Buffer Overflow</a:t>
            </a:r>
          </a:p>
        </p:txBody>
      </p:sp>
      <p:pic>
        <p:nvPicPr>
          <p:cNvPr id="225283" name="Picture 3" descr="buffer-overflow8"/>
          <p:cNvPicPr>
            <a:picLocks noChangeAspect="1" noChangeArrowheads="1"/>
          </p:cNvPicPr>
          <p:nvPr/>
        </p:nvPicPr>
        <p:blipFill>
          <a:blip r:embed="rId2" cstate="print"/>
          <a:srcRect/>
          <a:stretch>
            <a:fillRect/>
          </a:stretch>
        </p:blipFill>
        <p:spPr bwMode="auto">
          <a:xfrm>
            <a:off x="152400" y="1476375"/>
            <a:ext cx="8839200" cy="5238750"/>
          </a:xfrm>
          <a:prstGeom prst="rect">
            <a:avLst/>
          </a:prstGeom>
          <a:noFill/>
          <a:ln w="9525">
            <a:noFill/>
            <a:miter lim="800000"/>
            <a:headEnd/>
            <a:tailEnd/>
          </a:ln>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p:txBody>
          <a:bodyPr/>
          <a:lstStyle/>
          <a:p>
            <a:pPr eaLnBrk="1" hangingPunct="1"/>
            <a:r>
              <a:rPr lang="en-US"/>
              <a:t>Buffer Overflow</a:t>
            </a:r>
          </a:p>
        </p:txBody>
      </p:sp>
      <p:pic>
        <p:nvPicPr>
          <p:cNvPr id="226307" name="Picture 3" descr="buffer-overflow9"/>
          <p:cNvPicPr>
            <a:picLocks noChangeAspect="1" noChangeArrowheads="1"/>
          </p:cNvPicPr>
          <p:nvPr/>
        </p:nvPicPr>
        <p:blipFill>
          <a:blip r:embed="rId2" cstate="print"/>
          <a:srcRect/>
          <a:stretch>
            <a:fillRect/>
          </a:stretch>
        </p:blipFill>
        <p:spPr bwMode="auto">
          <a:xfrm>
            <a:off x="152400" y="1476375"/>
            <a:ext cx="8839200" cy="5238750"/>
          </a:xfrm>
          <a:prstGeom prst="rect">
            <a:avLst/>
          </a:prstGeom>
          <a:noFill/>
          <a:ln w="9525">
            <a:noFill/>
            <a:miter lim="800000"/>
            <a:headEnd/>
            <a:tailEnd/>
          </a:ln>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lstStyle/>
          <a:p>
            <a:pPr eaLnBrk="1" hangingPunct="1"/>
            <a:r>
              <a:rPr lang="en-US"/>
              <a:t>Buffer Overflow</a:t>
            </a:r>
          </a:p>
        </p:txBody>
      </p:sp>
      <p:pic>
        <p:nvPicPr>
          <p:cNvPr id="227331" name="Picture 3" descr="buffer-overflow10"/>
          <p:cNvPicPr>
            <a:picLocks noChangeAspect="1" noChangeArrowheads="1"/>
          </p:cNvPicPr>
          <p:nvPr/>
        </p:nvPicPr>
        <p:blipFill>
          <a:blip r:embed="rId2" cstate="print"/>
          <a:srcRect/>
          <a:stretch>
            <a:fillRect/>
          </a:stretch>
        </p:blipFill>
        <p:spPr bwMode="auto">
          <a:xfrm>
            <a:off x="152400" y="1474788"/>
            <a:ext cx="8839200" cy="5240337"/>
          </a:xfrm>
          <a:prstGeom prst="rect">
            <a:avLst/>
          </a:prstGeom>
          <a:noFill/>
          <a:ln w="9525">
            <a:noFill/>
            <a:miter lim="800000"/>
            <a:headEnd/>
            <a:tailEnd/>
          </a:ln>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 Overflow </a:t>
            </a:r>
          </a:p>
        </p:txBody>
      </p:sp>
      <p:sp>
        <p:nvSpPr>
          <p:cNvPr id="3" name="Content Placeholder 2"/>
          <p:cNvSpPr>
            <a:spLocks noGrp="1"/>
          </p:cNvSpPr>
          <p:nvPr>
            <p:ph idx="1"/>
          </p:nvPr>
        </p:nvSpPr>
        <p:spPr/>
        <p:txBody>
          <a:bodyPr/>
          <a:lstStyle/>
          <a:p>
            <a:r>
              <a:rPr lang="en-US" dirty="0"/>
              <a:t>The previous example as shown was closer to </a:t>
            </a:r>
            <a:r>
              <a:rPr lang="en-US" i="1" dirty="0"/>
              <a:t>command injection.</a:t>
            </a:r>
            <a:endParaRPr lang="en-US" dirty="0"/>
          </a:p>
          <a:p>
            <a:r>
              <a:rPr lang="en-US" dirty="0"/>
              <a:t>A real stack based buffer overflow  would replace the </a:t>
            </a:r>
            <a:r>
              <a:rPr lang="en-US" b="1" dirty="0"/>
              <a:t>reboot</a:t>
            </a:r>
            <a:r>
              <a:rPr lang="en-US" b="1" i="1" dirty="0"/>
              <a:t> </a:t>
            </a:r>
            <a:r>
              <a:rPr lang="en-US" dirty="0"/>
              <a:t>command with the machine code to make the system reboot, as well as over writing the </a:t>
            </a:r>
            <a:r>
              <a:rPr lang="en-US" i="1" dirty="0"/>
              <a:t>return pointer</a:t>
            </a:r>
            <a:r>
              <a:rPr lang="en-US" dirty="0"/>
              <a:t> on the stack with the address of the inserted machine code that would reboot the computer.</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 Overflows</a:t>
            </a:r>
          </a:p>
        </p:txBody>
      </p:sp>
      <p:sp>
        <p:nvSpPr>
          <p:cNvPr id="3" name="Content Placeholder 2"/>
          <p:cNvSpPr>
            <a:spLocks noGrp="1"/>
          </p:cNvSpPr>
          <p:nvPr>
            <p:ph idx="1"/>
          </p:nvPr>
        </p:nvSpPr>
        <p:spPr/>
        <p:txBody>
          <a:bodyPr/>
          <a:lstStyle/>
          <a:p>
            <a:r>
              <a:rPr lang="en-US" dirty="0"/>
              <a:t>Common buffer overflow types</a:t>
            </a:r>
          </a:p>
          <a:p>
            <a:pPr lvl="1"/>
            <a:r>
              <a:rPr lang="en-US" dirty="0"/>
              <a:t>Stack based</a:t>
            </a:r>
          </a:p>
          <a:p>
            <a:pPr lvl="1"/>
            <a:r>
              <a:rPr lang="en-US" dirty="0"/>
              <a:t>Heap based</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lstStyle/>
          <a:p>
            <a:r>
              <a:rPr lang="en-US"/>
              <a:t>Buffer Overflow</a:t>
            </a:r>
          </a:p>
        </p:txBody>
      </p:sp>
      <p:sp>
        <p:nvSpPr>
          <p:cNvPr id="228355" name="Rectangle 3"/>
          <p:cNvSpPr>
            <a:spLocks noGrp="1" noChangeArrowheads="1"/>
          </p:cNvSpPr>
          <p:nvPr>
            <p:ph idx="1"/>
          </p:nvPr>
        </p:nvSpPr>
        <p:spPr/>
        <p:txBody>
          <a:bodyPr/>
          <a:lstStyle/>
          <a:p>
            <a:pPr>
              <a:buNone/>
            </a:pPr>
            <a:r>
              <a:rPr lang="en-US" dirty="0"/>
              <a:t>Best Defense against buffer Overflows</a:t>
            </a:r>
          </a:p>
          <a:p>
            <a:r>
              <a:rPr lang="en-US" dirty="0"/>
              <a:t>Educate software engineers with secure coding practices including input validation</a:t>
            </a:r>
          </a:p>
          <a:p>
            <a:r>
              <a:rPr lang="en-US" dirty="0"/>
              <a:t>Patching and making sure code is latest version (systems administrators)</a:t>
            </a:r>
          </a:p>
          <a:p>
            <a:endParaRPr 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lstStyle/>
          <a:p>
            <a:r>
              <a:rPr lang="en-US"/>
              <a:t>Buffer Overflow</a:t>
            </a:r>
          </a:p>
        </p:txBody>
      </p:sp>
      <p:sp>
        <p:nvSpPr>
          <p:cNvPr id="228355" name="Rectangle 3"/>
          <p:cNvSpPr>
            <a:spLocks noGrp="1" noChangeArrowheads="1"/>
          </p:cNvSpPr>
          <p:nvPr>
            <p:ph idx="1"/>
          </p:nvPr>
        </p:nvSpPr>
        <p:spPr/>
        <p:txBody>
          <a:bodyPr/>
          <a:lstStyle/>
          <a:p>
            <a:pPr>
              <a:buNone/>
            </a:pPr>
            <a:r>
              <a:rPr lang="en-US" dirty="0"/>
              <a:t>Buffer overflow defense </a:t>
            </a:r>
            <a:r>
              <a:rPr lang="en-US" dirty="0" err="1"/>
              <a:t>unlikey</a:t>
            </a:r>
            <a:r>
              <a:rPr lang="en-US" dirty="0"/>
              <a:t> to be seen on the exam.</a:t>
            </a:r>
          </a:p>
          <a:p>
            <a:r>
              <a:rPr lang="en-US" dirty="0"/>
              <a:t>Stack Canaries (compilers)</a:t>
            </a:r>
          </a:p>
          <a:p>
            <a:r>
              <a:rPr lang="en-US" dirty="0"/>
              <a:t>Non-executable stack and non-executable memory sections </a:t>
            </a:r>
          </a:p>
          <a:p>
            <a:pPr lvl="1"/>
            <a:r>
              <a:rPr lang="en-US" dirty="0"/>
              <a:t>NX bit</a:t>
            </a:r>
          </a:p>
          <a:p>
            <a:pPr lvl="1"/>
            <a:r>
              <a:rPr lang="en-US" dirty="0"/>
              <a:t>DEP</a:t>
            </a:r>
          </a:p>
          <a:p>
            <a:r>
              <a:rPr lang="en-US" dirty="0">
                <a:solidFill>
                  <a:srgbClr val="00B0F0"/>
                </a:solidFill>
              </a:rPr>
              <a:t>A</a:t>
            </a:r>
            <a:r>
              <a:rPr lang="en-US" dirty="0"/>
              <a:t>ddress </a:t>
            </a:r>
            <a:r>
              <a:rPr lang="en-US" dirty="0">
                <a:solidFill>
                  <a:srgbClr val="00B0F0"/>
                </a:solidFill>
              </a:rPr>
              <a:t>S</a:t>
            </a:r>
            <a:r>
              <a:rPr lang="en-US" dirty="0"/>
              <a:t>pace </a:t>
            </a:r>
            <a:r>
              <a:rPr lang="en-US" dirty="0">
                <a:solidFill>
                  <a:srgbClr val="00B0F0"/>
                </a:solidFill>
              </a:rPr>
              <a:t>L</a:t>
            </a:r>
            <a:r>
              <a:rPr lang="en-US" dirty="0"/>
              <a:t>ayout </a:t>
            </a:r>
            <a:r>
              <a:rPr lang="en-US" dirty="0">
                <a:solidFill>
                  <a:srgbClr val="00B0F0"/>
                </a:solidFill>
              </a:rPr>
              <a:t>R</a:t>
            </a:r>
            <a:r>
              <a:rPr lang="en-US" dirty="0"/>
              <a:t>andomization (</a:t>
            </a:r>
            <a:r>
              <a:rPr lang="en-US" dirty="0">
                <a:solidFill>
                  <a:srgbClr val="00B0F0"/>
                </a:solidFill>
              </a:rPr>
              <a:t>ASLR</a:t>
            </a:r>
            <a:r>
              <a:rPr lang="en-US" dirty="0"/>
              <a:t>)</a:t>
            </a:r>
          </a:p>
          <a:p>
            <a:endParaRPr lang="en-US" dirty="0"/>
          </a:p>
          <a:p>
            <a:endParaRPr 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r>
              <a:rPr lang="en-US" dirty="0"/>
              <a:t>Smurf Attack</a:t>
            </a:r>
          </a:p>
        </p:txBody>
      </p:sp>
      <p:sp>
        <p:nvSpPr>
          <p:cNvPr id="5" name="Content Placeholder 4"/>
          <p:cNvSpPr>
            <a:spLocks noGrp="1"/>
          </p:cNvSpPr>
          <p:nvPr>
            <p:ph idx="1"/>
          </p:nvPr>
        </p:nvSpPr>
        <p:spPr/>
        <p:txBody>
          <a:bodyPr/>
          <a:lstStyle/>
          <a:p>
            <a:endParaRPr lang="en-US"/>
          </a:p>
        </p:txBody>
      </p:sp>
      <p:pic>
        <p:nvPicPr>
          <p:cNvPr id="229379" name="Picture 3" descr="papa_smurf"/>
          <p:cNvPicPr>
            <a:picLocks noChangeAspect="1" noChangeArrowheads="1"/>
          </p:cNvPicPr>
          <p:nvPr/>
        </p:nvPicPr>
        <p:blipFill>
          <a:blip r:embed="rId2" cstate="print"/>
          <a:srcRect/>
          <a:stretch>
            <a:fillRect/>
          </a:stretch>
        </p:blipFill>
        <p:spPr bwMode="auto">
          <a:xfrm>
            <a:off x="2438400" y="1524000"/>
            <a:ext cx="4191000" cy="498095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93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pPr eaLnBrk="1" hangingPunct="1"/>
            <a:r>
              <a:rPr lang="en-US" sz="4000"/>
              <a:t>Smurf Attack (chapter 11 – 1031)</a:t>
            </a:r>
          </a:p>
        </p:txBody>
      </p:sp>
      <p:pic>
        <p:nvPicPr>
          <p:cNvPr id="230403" name="Picture 3" descr="smurf-attack"/>
          <p:cNvPicPr>
            <a:picLocks noChangeAspect="1" noChangeArrowheads="1"/>
          </p:cNvPicPr>
          <p:nvPr/>
        </p:nvPicPr>
        <p:blipFill>
          <a:blip r:embed="rId2" cstate="print"/>
          <a:srcRect/>
          <a:stretch>
            <a:fillRect/>
          </a:stretch>
        </p:blipFill>
        <p:spPr bwMode="auto">
          <a:xfrm>
            <a:off x="457200" y="1978025"/>
            <a:ext cx="8229600" cy="4637088"/>
          </a:xfrm>
          <a:prstGeom prst="rect">
            <a:avLst/>
          </a:prstGeom>
          <a:noFill/>
          <a:ln w="9525">
            <a:noFill/>
            <a:miter lim="800000"/>
            <a:headEnd/>
            <a:tailEnd/>
          </a:ln>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lstStyle/>
          <a:p>
            <a:r>
              <a:rPr lang="en-US"/>
              <a:t>Smurf Attack</a:t>
            </a:r>
          </a:p>
        </p:txBody>
      </p:sp>
      <p:sp>
        <p:nvSpPr>
          <p:cNvPr id="231427" name="Rectangle 3"/>
          <p:cNvSpPr>
            <a:spLocks noGrp="1" noChangeArrowheads="1"/>
          </p:cNvSpPr>
          <p:nvPr>
            <p:ph idx="1"/>
          </p:nvPr>
        </p:nvSpPr>
        <p:spPr/>
        <p:txBody>
          <a:bodyPr>
            <a:normAutofit fontScale="92500" lnSpcReduction="20000"/>
          </a:bodyPr>
          <a:lstStyle/>
          <a:p>
            <a:pPr>
              <a:buNone/>
            </a:pPr>
            <a:r>
              <a:rPr lang="en-US" dirty="0"/>
              <a:t>How would a </a:t>
            </a:r>
            <a:r>
              <a:rPr lang="en-US" dirty="0" err="1"/>
              <a:t>smurf</a:t>
            </a:r>
            <a:r>
              <a:rPr lang="en-US" dirty="0"/>
              <a:t> attack someone?</a:t>
            </a:r>
          </a:p>
          <a:p>
            <a:endParaRPr lang="en-US" dirty="0"/>
          </a:p>
          <a:p>
            <a:r>
              <a:rPr lang="en-US" dirty="0"/>
              <a:t>Find site to attack, say </a:t>
            </a:r>
            <a:r>
              <a:rPr lang="en-US" dirty="0">
                <a:hlinkClick r:id="rId2"/>
              </a:rPr>
              <a:t>www.ebay.com</a:t>
            </a:r>
            <a:endParaRPr lang="en-US" dirty="0"/>
          </a:p>
          <a:p>
            <a:r>
              <a:rPr lang="en-US" dirty="0"/>
              <a:t>Forge Ping packet from </a:t>
            </a:r>
            <a:r>
              <a:rPr lang="en-US" dirty="0">
                <a:hlinkClick r:id="rId2"/>
              </a:rPr>
              <a:t>www.ebay.com</a:t>
            </a:r>
            <a:r>
              <a:rPr lang="en-US" dirty="0"/>
              <a:t> to a BROADCAST network address</a:t>
            </a:r>
          </a:p>
          <a:p>
            <a:r>
              <a:rPr lang="en-US" dirty="0"/>
              <a:t>Watch as the computers on the network all start pinging back </a:t>
            </a:r>
            <a:r>
              <a:rPr lang="en-US" dirty="0">
                <a:hlinkClick r:id="rId2"/>
              </a:rPr>
              <a:t>www.ebay.com</a:t>
            </a:r>
            <a:endParaRPr lang="en-US" dirty="0"/>
          </a:p>
          <a:p>
            <a:r>
              <a:rPr lang="en-US" dirty="0"/>
              <a:t>Countermeasures</a:t>
            </a:r>
          </a:p>
          <a:p>
            <a:r>
              <a:rPr lang="en-US" dirty="0"/>
              <a:t>Drop forged packets at routers</a:t>
            </a:r>
          </a:p>
          <a:p>
            <a:r>
              <a:rPr lang="en-US" dirty="0"/>
              <a:t>Drop directed broadcasts at routers or end system</a:t>
            </a:r>
          </a:p>
          <a:p>
            <a:r>
              <a:rPr lang="en-US" dirty="0"/>
              <a:t>Use and IDS</a:t>
            </a:r>
          </a:p>
          <a:p>
            <a:endParaRPr 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r>
              <a:rPr lang="en-US"/>
              <a:t>Fraggle </a:t>
            </a:r>
          </a:p>
        </p:txBody>
      </p:sp>
      <p:sp>
        <p:nvSpPr>
          <p:cNvPr id="5" name="Content Placeholder 4"/>
          <p:cNvSpPr>
            <a:spLocks noGrp="1"/>
          </p:cNvSpPr>
          <p:nvPr>
            <p:ph idx="1"/>
          </p:nvPr>
        </p:nvSpPr>
        <p:spPr/>
        <p:txBody>
          <a:bodyPr/>
          <a:lstStyle/>
          <a:p>
            <a:endParaRPr lang="en-US"/>
          </a:p>
        </p:txBody>
      </p:sp>
      <p:pic>
        <p:nvPicPr>
          <p:cNvPr id="232451" name="Picture 3" descr="fraggle_rock"/>
          <p:cNvPicPr>
            <a:picLocks noChangeAspect="1" noChangeArrowheads="1"/>
          </p:cNvPicPr>
          <p:nvPr/>
        </p:nvPicPr>
        <p:blipFill>
          <a:blip r:embed="rId2" cstate="print"/>
          <a:srcRect/>
          <a:stretch>
            <a:fillRect/>
          </a:stretch>
        </p:blipFill>
        <p:spPr bwMode="auto">
          <a:xfrm>
            <a:off x="381000" y="1541030"/>
            <a:ext cx="8001000" cy="515822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24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normAutofit fontScale="90000"/>
          </a:bodyPr>
          <a:lstStyle/>
          <a:p>
            <a:r>
              <a:rPr lang="en-US"/>
              <a:t>Fraggle (like Fraggle rock)</a:t>
            </a:r>
            <a:br>
              <a:rPr lang="en-US"/>
            </a:br>
            <a:r>
              <a:rPr lang="en-US"/>
              <a:t> (chapter 11 – 1031)</a:t>
            </a:r>
          </a:p>
        </p:txBody>
      </p:sp>
      <p:sp>
        <p:nvSpPr>
          <p:cNvPr id="233475" name="Rectangle 3"/>
          <p:cNvSpPr>
            <a:spLocks noGrp="1" noChangeArrowheads="1"/>
          </p:cNvSpPr>
          <p:nvPr>
            <p:ph idx="1"/>
          </p:nvPr>
        </p:nvSpPr>
        <p:spPr/>
        <p:txBody>
          <a:bodyPr/>
          <a:lstStyle/>
          <a:p>
            <a:pPr>
              <a:buNone/>
            </a:pPr>
            <a:r>
              <a:rPr lang="en-US" dirty="0"/>
              <a:t>Like Smurf, but uses UDP (echo and </a:t>
            </a:r>
            <a:r>
              <a:rPr lang="en-US" dirty="0" err="1"/>
              <a:t>chargen</a:t>
            </a:r>
            <a:r>
              <a:rPr lang="en-US" dirty="0"/>
              <a:t>)</a:t>
            </a:r>
          </a:p>
          <a:p>
            <a:endParaRPr lang="en-US" dirty="0"/>
          </a:p>
          <a:p>
            <a:pPr>
              <a:buNone/>
            </a:pPr>
            <a:r>
              <a:rPr lang="en-US" dirty="0"/>
              <a:t>Countermeasures</a:t>
            </a:r>
          </a:p>
          <a:p>
            <a:r>
              <a:rPr lang="en-US" dirty="0"/>
              <a:t>Drop forged packets at routers</a:t>
            </a:r>
          </a:p>
          <a:p>
            <a:r>
              <a:rPr lang="en-US" dirty="0"/>
              <a:t>Drop directed broadcasts at routers or end system</a:t>
            </a:r>
          </a:p>
          <a:p>
            <a:r>
              <a:rPr lang="en-US" dirty="0"/>
              <a:t>Disable echo and </a:t>
            </a:r>
            <a:r>
              <a:rPr lang="en-US" dirty="0" err="1"/>
              <a:t>chargen</a:t>
            </a:r>
            <a:r>
              <a:rPr lang="en-US" dirty="0"/>
              <a:t> services</a:t>
            </a:r>
          </a:p>
          <a:p>
            <a:r>
              <a:rPr lang="en-US" dirty="0"/>
              <a:t>Block echo and </a:t>
            </a:r>
            <a:r>
              <a:rPr lang="en-US" dirty="0" err="1"/>
              <a:t>chargen</a:t>
            </a:r>
            <a:r>
              <a:rPr lang="en-US" dirty="0"/>
              <a:t> ports on router</a:t>
            </a:r>
          </a:p>
          <a:p>
            <a:r>
              <a:rPr lang="en-US" dirty="0"/>
              <a:t>Use an IDS</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pPr eaLnBrk="1" hangingPunct="1"/>
            <a:r>
              <a:rPr lang="en-US"/>
              <a:t>SYN Flood (chapter 11 – 1033)</a:t>
            </a:r>
          </a:p>
        </p:txBody>
      </p:sp>
      <p:pic>
        <p:nvPicPr>
          <p:cNvPr id="234499" name="Picture 3" descr="synflood"/>
          <p:cNvPicPr>
            <a:picLocks noChangeAspect="1" noChangeArrowheads="1"/>
          </p:cNvPicPr>
          <p:nvPr/>
        </p:nvPicPr>
        <p:blipFill>
          <a:blip r:embed="rId2" cstate="print"/>
          <a:srcRect/>
          <a:stretch>
            <a:fillRect/>
          </a:stretch>
        </p:blipFill>
        <p:spPr bwMode="auto">
          <a:xfrm>
            <a:off x="2209800" y="1572900"/>
            <a:ext cx="4114800" cy="5166037"/>
          </a:xfrm>
          <a:prstGeom prst="rect">
            <a:avLst/>
          </a:prstGeom>
          <a:noFill/>
          <a:ln w="9525">
            <a:noFill/>
            <a:miter lim="800000"/>
            <a:headEnd/>
            <a:tailEnd/>
          </a:ln>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p:txBody>
          <a:bodyPr/>
          <a:lstStyle/>
          <a:p>
            <a:r>
              <a:rPr lang="en-US"/>
              <a:t>SYN Flood</a:t>
            </a:r>
          </a:p>
        </p:txBody>
      </p:sp>
      <p:sp>
        <p:nvSpPr>
          <p:cNvPr id="235523" name="Rectangle 3"/>
          <p:cNvSpPr>
            <a:spLocks noGrp="1" noChangeArrowheads="1"/>
          </p:cNvSpPr>
          <p:nvPr>
            <p:ph idx="1"/>
          </p:nvPr>
        </p:nvSpPr>
        <p:spPr/>
        <p:txBody>
          <a:bodyPr>
            <a:normAutofit fontScale="77500" lnSpcReduction="20000"/>
          </a:bodyPr>
          <a:lstStyle/>
          <a:p>
            <a:r>
              <a:rPr lang="en-US" dirty="0"/>
              <a:t>Attack</a:t>
            </a:r>
          </a:p>
          <a:p>
            <a:pPr lvl="1"/>
            <a:r>
              <a:rPr lang="en-US" dirty="0"/>
              <a:t>Forge IP SYN packet from downed system</a:t>
            </a:r>
          </a:p>
          <a:p>
            <a:pPr lvl="1"/>
            <a:r>
              <a:rPr lang="en-US" dirty="0"/>
              <a:t>Server responds to fake downed address, which never responds</a:t>
            </a:r>
          </a:p>
          <a:p>
            <a:pPr lvl="1"/>
            <a:r>
              <a:rPr lang="en-US" dirty="0"/>
              <a:t>Use up all the listen queue slots</a:t>
            </a:r>
          </a:p>
          <a:p>
            <a:pPr lvl="1"/>
            <a:r>
              <a:rPr lang="en-US" dirty="0"/>
              <a:t>Stops real new connections from establishing</a:t>
            </a:r>
          </a:p>
          <a:p>
            <a:endParaRPr lang="en-US" dirty="0"/>
          </a:p>
          <a:p>
            <a:pPr>
              <a:buNone/>
            </a:pPr>
            <a:r>
              <a:rPr lang="en-US" dirty="0"/>
              <a:t>Countermeasures</a:t>
            </a:r>
          </a:p>
          <a:p>
            <a:pPr lvl="1"/>
            <a:r>
              <a:rPr lang="en-US" dirty="0"/>
              <a:t>Drop forged packets at routers</a:t>
            </a:r>
          </a:p>
          <a:p>
            <a:pPr lvl="1"/>
            <a:r>
              <a:rPr lang="en-US" dirty="0"/>
              <a:t>Patch OS</a:t>
            </a:r>
          </a:p>
          <a:p>
            <a:pPr lvl="1"/>
            <a:r>
              <a:rPr lang="en-US" dirty="0"/>
              <a:t>Decrease 3 way handshake timeout values</a:t>
            </a:r>
          </a:p>
          <a:p>
            <a:pPr lvl="1"/>
            <a:r>
              <a:rPr lang="en-US" dirty="0"/>
              <a:t>Increase 3 way handshake max connections</a:t>
            </a:r>
          </a:p>
          <a:p>
            <a:pPr lvl="1"/>
            <a:r>
              <a:rPr lang="en-US" dirty="0"/>
              <a:t>Use a firewall as a middleman</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p:txBody>
          <a:bodyPr/>
          <a:lstStyle/>
          <a:p>
            <a:pPr eaLnBrk="1" hangingPunct="1"/>
            <a:r>
              <a:rPr lang="en-US"/>
              <a:t>Ping of Death</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lstStyle/>
          <a:p>
            <a:pPr eaLnBrk="1" hangingPunct="1"/>
            <a:r>
              <a:rPr lang="en-US"/>
              <a:t>Session Hijacking</a:t>
            </a:r>
          </a:p>
        </p:txBody>
      </p:sp>
      <p:sp>
        <p:nvSpPr>
          <p:cNvPr id="238595" name="Rectangle 3"/>
          <p:cNvSpPr>
            <a:spLocks noGrp="1" noChangeArrowheads="1"/>
          </p:cNvSpPr>
          <p:nvPr>
            <p:ph idx="1"/>
          </p:nvPr>
        </p:nvSpPr>
        <p:spPr/>
        <p:txBody>
          <a:bodyPr/>
          <a:lstStyle/>
          <a:p>
            <a:pPr eaLnBrk="1" hangingPunct="1"/>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lstStyle/>
          <a:p>
            <a:r>
              <a:rPr lang="en-US"/>
              <a:t>Tear Drop</a:t>
            </a:r>
          </a:p>
        </p:txBody>
      </p:sp>
      <p:sp>
        <p:nvSpPr>
          <p:cNvPr id="239619" name="Rectangle 3"/>
          <p:cNvSpPr>
            <a:spLocks noGrp="1" noChangeArrowheads="1"/>
          </p:cNvSpPr>
          <p:nvPr>
            <p:ph idx="1"/>
          </p:nvPr>
        </p:nvSpPr>
        <p:spPr/>
        <p:txBody>
          <a:bodyPr/>
          <a:lstStyle/>
          <a:p>
            <a:pPr>
              <a:buNone/>
            </a:pPr>
            <a:r>
              <a:rPr lang="en-US" dirty="0"/>
              <a:t>Overlapping fragments, cause OS to get confused and crash.</a:t>
            </a:r>
          </a:p>
          <a:p>
            <a:r>
              <a:rPr lang="en-US" dirty="0"/>
              <a:t>Countermeasures</a:t>
            </a:r>
          </a:p>
          <a:p>
            <a:r>
              <a:rPr lang="en-US" dirty="0"/>
              <a:t>Patch the OS</a:t>
            </a:r>
          </a:p>
          <a:p>
            <a:r>
              <a:rPr lang="en-US" dirty="0"/>
              <a:t>Drop fragments (problems?)</a:t>
            </a:r>
          </a:p>
          <a:p>
            <a:r>
              <a:rPr lang="en-US" dirty="0"/>
              <a:t>Use a firewall that does fragment re-assembly.</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idx="4294967295"/>
          </p:nvPr>
        </p:nvSpPr>
        <p:spPr>
          <a:xfrm>
            <a:off x="0" y="155575"/>
            <a:ext cx="8229600" cy="1252538"/>
          </a:xfrm>
        </p:spPr>
        <p:txBody>
          <a:bodyPr/>
          <a:lstStyle/>
          <a:p>
            <a:pPr eaLnBrk="1" hangingPunct="1"/>
            <a:r>
              <a:rPr lang="en-US"/>
              <a:t>Tear Drop (chapter 11 – 1034)</a:t>
            </a:r>
          </a:p>
        </p:txBody>
      </p:sp>
      <p:pic>
        <p:nvPicPr>
          <p:cNvPr id="236547" name="Picture 3" descr="teardrop"/>
          <p:cNvPicPr>
            <a:picLocks noChangeAspect="1" noChangeArrowheads="1"/>
          </p:cNvPicPr>
          <p:nvPr/>
        </p:nvPicPr>
        <p:blipFill>
          <a:blip r:embed="rId2" cstate="print"/>
          <a:srcRect b="76341"/>
          <a:stretch>
            <a:fillRect/>
          </a:stretch>
        </p:blipFill>
        <p:spPr bwMode="auto">
          <a:xfrm>
            <a:off x="1295400" y="1219200"/>
            <a:ext cx="6705600" cy="1295400"/>
          </a:xfrm>
          <a:prstGeom prst="rect">
            <a:avLst/>
          </a:prstGeom>
          <a:noFill/>
          <a:ln w="9525">
            <a:noFill/>
            <a:miter lim="800000"/>
            <a:headEnd/>
            <a:tailEnd/>
          </a:ln>
        </p:spPr>
      </p:pic>
      <p:pic>
        <p:nvPicPr>
          <p:cNvPr id="236552" name="Picture 3" descr="teardrop"/>
          <p:cNvPicPr>
            <a:picLocks noChangeAspect="1" noChangeArrowheads="1"/>
          </p:cNvPicPr>
          <p:nvPr/>
        </p:nvPicPr>
        <p:blipFill>
          <a:blip r:embed="rId2" cstate="print"/>
          <a:srcRect b="52682"/>
          <a:stretch>
            <a:fillRect/>
          </a:stretch>
        </p:blipFill>
        <p:spPr bwMode="auto">
          <a:xfrm>
            <a:off x="1295400" y="1219200"/>
            <a:ext cx="6705600" cy="2590800"/>
          </a:xfrm>
          <a:prstGeom prst="rect">
            <a:avLst/>
          </a:prstGeom>
          <a:noFill/>
          <a:ln w="9525">
            <a:noFill/>
            <a:miter lim="800000"/>
            <a:headEnd/>
            <a:tailEnd/>
          </a:ln>
        </p:spPr>
      </p:pic>
      <p:pic>
        <p:nvPicPr>
          <p:cNvPr id="236553" name="Picture 3" descr="teardrop"/>
          <p:cNvPicPr>
            <a:picLocks noChangeAspect="1" noChangeArrowheads="1"/>
          </p:cNvPicPr>
          <p:nvPr/>
        </p:nvPicPr>
        <p:blipFill>
          <a:blip r:embed="rId2" cstate="print"/>
          <a:srcRect/>
          <a:stretch>
            <a:fillRect/>
          </a:stretch>
        </p:blipFill>
        <p:spPr bwMode="auto">
          <a:xfrm>
            <a:off x="1295400" y="1219200"/>
            <a:ext cx="6705600" cy="54752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65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65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65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LAND attack</a:t>
            </a:r>
          </a:p>
        </p:txBody>
      </p:sp>
      <p:sp>
        <p:nvSpPr>
          <p:cNvPr id="3" name="Content Placeholder 2"/>
          <p:cNvSpPr>
            <a:spLocks noGrp="1"/>
          </p:cNvSpPr>
          <p:nvPr>
            <p:ph idx="1"/>
          </p:nvPr>
        </p:nvSpPr>
        <p:spPr/>
        <p:txBody>
          <a:bodyPr/>
          <a:lstStyle/>
          <a:p>
            <a:pPr>
              <a:buNone/>
            </a:pPr>
            <a:r>
              <a:rPr lang="en-US" dirty="0"/>
              <a:t>Forging a SYN packet from a host to itself. Causing an loop of constant response to itself.</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lstStyle/>
          <a:p>
            <a:r>
              <a:rPr lang="en-US"/>
              <a:t>DDoS (chapter 11 – 1034)</a:t>
            </a:r>
          </a:p>
        </p:txBody>
      </p:sp>
      <p:sp>
        <p:nvSpPr>
          <p:cNvPr id="240643" name="Rectangle 3"/>
          <p:cNvSpPr>
            <a:spLocks noGrp="1" noChangeArrowheads="1"/>
          </p:cNvSpPr>
          <p:nvPr>
            <p:ph idx="1"/>
          </p:nvPr>
        </p:nvSpPr>
        <p:spPr/>
        <p:txBody>
          <a:bodyPr>
            <a:normAutofit/>
          </a:bodyPr>
          <a:lstStyle/>
          <a:p>
            <a:pPr>
              <a:buNone/>
            </a:pPr>
            <a:r>
              <a:rPr lang="en-US" dirty="0"/>
              <a:t>Distributed Denial of Service – a brute force method that generally uses </a:t>
            </a:r>
            <a:r>
              <a:rPr lang="en-US" i="1" dirty="0"/>
              <a:t>zombies</a:t>
            </a:r>
            <a:r>
              <a:rPr lang="en-US" dirty="0"/>
              <a:t> or </a:t>
            </a:r>
            <a:r>
              <a:rPr lang="en-US" i="1" dirty="0"/>
              <a:t>bots</a:t>
            </a:r>
            <a:r>
              <a:rPr lang="en-US" dirty="0"/>
              <a:t> to build a </a:t>
            </a:r>
            <a:r>
              <a:rPr lang="en-US" i="1" dirty="0" err="1"/>
              <a:t>botnet</a:t>
            </a:r>
            <a:r>
              <a:rPr lang="en-US" dirty="0"/>
              <a:t> to overwhelm a target.</a:t>
            </a:r>
          </a:p>
          <a:p>
            <a:endParaRPr lang="en-US" dirty="0"/>
          </a:p>
          <a:p>
            <a:r>
              <a:rPr lang="en-US" dirty="0"/>
              <a:t>May consist of a hierarchy of Attacker, Masters and Slaves (see image 2 slides)</a:t>
            </a:r>
          </a:p>
          <a:p>
            <a:endParaRPr lang="en-US"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idx="4294967295"/>
          </p:nvPr>
        </p:nvSpPr>
        <p:spPr>
          <a:xfrm>
            <a:off x="0" y="155575"/>
            <a:ext cx="8229600" cy="1252538"/>
          </a:xfrm>
        </p:spPr>
        <p:txBody>
          <a:bodyPr/>
          <a:lstStyle/>
          <a:p>
            <a:pPr eaLnBrk="1" hangingPunct="1"/>
            <a:r>
              <a:rPr lang="en-US"/>
              <a:t>DDoS</a:t>
            </a:r>
          </a:p>
        </p:txBody>
      </p:sp>
      <p:pic>
        <p:nvPicPr>
          <p:cNvPr id="242691" name="Picture 3" descr="ddos"/>
          <p:cNvPicPr>
            <a:picLocks noChangeAspect="1" noChangeArrowheads="1"/>
          </p:cNvPicPr>
          <p:nvPr/>
        </p:nvPicPr>
        <p:blipFill>
          <a:blip r:embed="rId2" cstate="print"/>
          <a:srcRect b="77943"/>
          <a:stretch>
            <a:fillRect/>
          </a:stretch>
        </p:blipFill>
        <p:spPr bwMode="auto">
          <a:xfrm>
            <a:off x="914400" y="1143000"/>
            <a:ext cx="7315200" cy="1219200"/>
          </a:xfrm>
          <a:prstGeom prst="rect">
            <a:avLst/>
          </a:prstGeom>
          <a:noFill/>
          <a:ln w="9525">
            <a:noFill/>
            <a:miter lim="800000"/>
            <a:headEnd/>
            <a:tailEnd/>
          </a:ln>
        </p:spPr>
      </p:pic>
      <p:pic>
        <p:nvPicPr>
          <p:cNvPr id="242695" name="Picture 3" descr="ddos"/>
          <p:cNvPicPr>
            <a:picLocks noChangeAspect="1" noChangeArrowheads="1"/>
          </p:cNvPicPr>
          <p:nvPr/>
        </p:nvPicPr>
        <p:blipFill>
          <a:blip r:embed="rId2" cstate="print"/>
          <a:srcRect b="54509"/>
          <a:stretch>
            <a:fillRect/>
          </a:stretch>
        </p:blipFill>
        <p:spPr bwMode="auto">
          <a:xfrm>
            <a:off x="914400" y="1143000"/>
            <a:ext cx="7315200" cy="2514600"/>
          </a:xfrm>
          <a:prstGeom prst="rect">
            <a:avLst/>
          </a:prstGeom>
          <a:noFill/>
          <a:ln w="9525">
            <a:noFill/>
            <a:miter lim="800000"/>
            <a:headEnd/>
            <a:tailEnd/>
          </a:ln>
        </p:spPr>
      </p:pic>
      <p:pic>
        <p:nvPicPr>
          <p:cNvPr id="242696" name="Picture 3" descr="ddos"/>
          <p:cNvPicPr>
            <a:picLocks noChangeAspect="1" noChangeArrowheads="1"/>
          </p:cNvPicPr>
          <p:nvPr/>
        </p:nvPicPr>
        <p:blipFill>
          <a:blip r:embed="rId2" cstate="print"/>
          <a:srcRect b="35210"/>
          <a:stretch>
            <a:fillRect/>
          </a:stretch>
        </p:blipFill>
        <p:spPr bwMode="auto">
          <a:xfrm>
            <a:off x="914400" y="1143000"/>
            <a:ext cx="7315200" cy="3581400"/>
          </a:xfrm>
          <a:prstGeom prst="rect">
            <a:avLst/>
          </a:prstGeom>
          <a:noFill/>
          <a:ln w="9525">
            <a:noFill/>
            <a:miter lim="800000"/>
            <a:headEnd/>
            <a:tailEnd/>
          </a:ln>
        </p:spPr>
      </p:pic>
      <p:pic>
        <p:nvPicPr>
          <p:cNvPr id="242697" name="Picture 3" descr="ddos"/>
          <p:cNvPicPr>
            <a:picLocks noChangeAspect="1" noChangeArrowheads="1"/>
          </p:cNvPicPr>
          <p:nvPr/>
        </p:nvPicPr>
        <p:blipFill>
          <a:blip r:embed="rId2" cstate="print"/>
          <a:srcRect/>
          <a:stretch>
            <a:fillRect/>
          </a:stretch>
        </p:blipFill>
        <p:spPr bwMode="auto">
          <a:xfrm>
            <a:off x="914400" y="1143000"/>
            <a:ext cx="7315200" cy="55276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26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26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269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26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lstStyle/>
          <a:p>
            <a:pPr eaLnBrk="1" hangingPunct="1"/>
            <a:r>
              <a:rPr lang="en-US"/>
              <a:t>DDoS</a:t>
            </a:r>
          </a:p>
        </p:txBody>
      </p:sp>
      <p:sp>
        <p:nvSpPr>
          <p:cNvPr id="241667" name="Rectangle 3"/>
          <p:cNvSpPr>
            <a:spLocks noGrp="1" noChangeArrowheads="1"/>
          </p:cNvSpPr>
          <p:nvPr>
            <p:ph idx="1"/>
          </p:nvPr>
        </p:nvSpPr>
        <p:spPr/>
        <p:txBody>
          <a:bodyPr/>
          <a:lstStyle/>
          <a:p>
            <a:pPr eaLnBrk="1" hangingPunct="1">
              <a:buFontTx/>
              <a:buNone/>
            </a:pPr>
            <a:r>
              <a:rPr lang="en-US"/>
              <a:t>How are zombies and botnets usually created?</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p:txBody>
          <a:bodyPr>
            <a:normAutofit fontScale="90000"/>
          </a:bodyPr>
          <a:lstStyle/>
          <a:p>
            <a:r>
              <a:rPr lang="en-US"/>
              <a:t>Maintenance Hooks (382)</a:t>
            </a:r>
            <a:br>
              <a:rPr lang="en-US"/>
            </a:br>
            <a:r>
              <a:rPr lang="en-US"/>
              <a:t>(chapter 5)</a:t>
            </a:r>
          </a:p>
        </p:txBody>
      </p:sp>
      <p:sp>
        <p:nvSpPr>
          <p:cNvPr id="243715" name="Rectangle 3"/>
          <p:cNvSpPr>
            <a:spLocks noGrp="1" noChangeArrowheads="1"/>
          </p:cNvSpPr>
          <p:nvPr>
            <p:ph idx="1"/>
          </p:nvPr>
        </p:nvSpPr>
        <p:spPr/>
        <p:txBody>
          <a:bodyPr>
            <a:normAutofit lnSpcReduction="10000"/>
          </a:bodyPr>
          <a:lstStyle/>
          <a:p>
            <a:pPr>
              <a:buNone/>
            </a:pPr>
            <a:r>
              <a:rPr lang="en-US" dirty="0"/>
              <a:t>A backdoor that software developers put into the code so they can easily access a system for the purpose of troubleshooting.</a:t>
            </a:r>
          </a:p>
          <a:p>
            <a:pPr>
              <a:buNone/>
            </a:pPr>
            <a:endParaRPr lang="en-US" dirty="0"/>
          </a:p>
          <a:p>
            <a:pPr>
              <a:buNone/>
            </a:pPr>
            <a:r>
              <a:rPr lang="en-US" dirty="0"/>
              <a:t>Countermeasures</a:t>
            </a:r>
          </a:p>
          <a:p>
            <a:pPr lvl="1"/>
            <a:r>
              <a:rPr lang="en-US" dirty="0"/>
              <a:t>Code reviews by 3rd parties, if source code is available</a:t>
            </a:r>
          </a:p>
          <a:p>
            <a:pPr lvl="1"/>
            <a:r>
              <a:rPr lang="en-US" dirty="0"/>
              <a:t>Use an IDS system to detect backdoors/maintenance hook usage</a:t>
            </a:r>
          </a:p>
          <a:p>
            <a:pPr lvl="1"/>
            <a:r>
              <a:rPr lang="en-US" dirty="0"/>
              <a:t>Auditing (same as above)</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ChangeArrowheads="1"/>
          </p:cNvSpPr>
          <p:nvPr>
            <p:ph type="title"/>
          </p:nvPr>
        </p:nvSpPr>
        <p:spPr/>
        <p:txBody>
          <a:bodyPr>
            <a:normAutofit fontScale="90000"/>
          </a:bodyPr>
          <a:lstStyle/>
          <a:p>
            <a:r>
              <a:rPr lang="en-US"/>
              <a:t>Time of Check/Time of Use Attack (383)</a:t>
            </a:r>
          </a:p>
        </p:txBody>
      </p:sp>
      <p:sp>
        <p:nvSpPr>
          <p:cNvPr id="244739" name="Rectangle 3"/>
          <p:cNvSpPr>
            <a:spLocks noGrp="1" noChangeArrowheads="1"/>
          </p:cNvSpPr>
          <p:nvPr>
            <p:ph idx="1"/>
          </p:nvPr>
        </p:nvSpPr>
        <p:spPr/>
        <p:txBody>
          <a:bodyPr>
            <a:normAutofit fontScale="92500" lnSpcReduction="20000"/>
          </a:bodyPr>
          <a:lstStyle/>
          <a:p>
            <a:pPr>
              <a:buNone/>
            </a:pPr>
            <a:r>
              <a:rPr lang="en-US" dirty="0"/>
              <a:t>A situation where the outcome of a command or processes are dependant on when certain steps are done.</a:t>
            </a:r>
          </a:p>
          <a:p>
            <a:endParaRPr lang="en-US" dirty="0"/>
          </a:p>
          <a:p>
            <a:pPr>
              <a:buNone/>
            </a:pPr>
            <a:r>
              <a:rPr lang="en-US" dirty="0"/>
              <a:t>Example. </a:t>
            </a:r>
          </a:p>
          <a:p>
            <a:r>
              <a:rPr lang="en-US" dirty="0"/>
              <a:t>Imagine I have $50.00 in an online gambling account. I say “bet all that’s in my account” on a football game tonight. After I place the bet I insert an additional $500.00 to my account. If for some reason that deposit gets in before the bet goes though, I might end up betting $550.00 when I only meant to bet $50.00</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normAutofit fontScale="90000"/>
          </a:bodyPr>
          <a:lstStyle/>
          <a:p>
            <a:r>
              <a:rPr lang="en-US"/>
              <a:t>Time of Check/Time of Use Attack (383)</a:t>
            </a:r>
          </a:p>
        </p:txBody>
      </p:sp>
      <p:sp>
        <p:nvSpPr>
          <p:cNvPr id="245763" name="Rectangle 3"/>
          <p:cNvSpPr>
            <a:spLocks noGrp="1" noChangeArrowheads="1"/>
          </p:cNvSpPr>
          <p:nvPr>
            <p:ph idx="1"/>
          </p:nvPr>
        </p:nvSpPr>
        <p:spPr/>
        <p:txBody>
          <a:bodyPr/>
          <a:lstStyle/>
          <a:p>
            <a:pPr>
              <a:buNone/>
            </a:pPr>
            <a:r>
              <a:rPr lang="en-US" dirty="0"/>
              <a:t>Countermeasures</a:t>
            </a:r>
          </a:p>
          <a:p>
            <a:pPr lvl="1"/>
            <a:r>
              <a:rPr lang="en-US" dirty="0"/>
              <a:t>Do not split up critical tasks into pieces (make </a:t>
            </a:r>
            <a:r>
              <a:rPr lang="en-US" i="1" dirty="0"/>
              <a:t>transactions</a:t>
            </a:r>
            <a:r>
              <a:rPr lang="en-US" dirty="0"/>
              <a:t> atomic</a:t>
            </a:r>
          </a:p>
          <a:p>
            <a:pPr lvl="1"/>
            <a:r>
              <a:rPr lang="en-US" dirty="0"/>
              <a:t>Lock out resource access to new operations while a current operation is running. </a:t>
            </a:r>
          </a:p>
          <a:p>
            <a:pPr lvl="2"/>
            <a:r>
              <a:rPr lang="en-US" dirty="0"/>
              <a:t>Basic database concept of transactions</a:t>
            </a:r>
          </a:p>
          <a:p>
            <a:endParaRPr lang="en-US" dirty="0"/>
          </a:p>
          <a:p>
            <a:r>
              <a:rPr lang="en-US" dirty="0"/>
              <a:t>Race conditions are a time of </a:t>
            </a:r>
            <a:r>
              <a:rPr lang="en-US" dirty="0" err="1"/>
              <a:t>ToC</a:t>
            </a:r>
            <a:r>
              <a:rPr lang="en-US" dirty="0"/>
              <a:t>/</a:t>
            </a:r>
            <a:r>
              <a:rPr lang="en-US" dirty="0" err="1"/>
              <a:t>ToU</a:t>
            </a:r>
            <a:r>
              <a:rPr lang="en-US" dirty="0"/>
              <a:t> attack.</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lstStyle/>
          <a:p>
            <a:r>
              <a:rPr lang="en-US"/>
              <a:t>Root Kit (649)</a:t>
            </a:r>
          </a:p>
        </p:txBody>
      </p:sp>
      <p:sp>
        <p:nvSpPr>
          <p:cNvPr id="246787" name="Rectangle 3"/>
          <p:cNvSpPr>
            <a:spLocks noGrp="1" noChangeArrowheads="1"/>
          </p:cNvSpPr>
          <p:nvPr>
            <p:ph idx="1"/>
          </p:nvPr>
        </p:nvSpPr>
        <p:spPr/>
        <p:txBody>
          <a:bodyPr/>
          <a:lstStyle/>
          <a:p>
            <a:r>
              <a:rPr lang="en-US" dirty="0"/>
              <a:t>What is a root kit?</a:t>
            </a:r>
          </a:p>
          <a:p>
            <a:r>
              <a:rPr lang="en-US" dirty="0"/>
              <a:t>What is the purpose of a root kit?</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p:txBody>
          <a:bodyPr/>
          <a:lstStyle/>
          <a:p>
            <a:r>
              <a:rPr lang="en-US"/>
              <a:t>Chapter 7 - Review</a:t>
            </a:r>
          </a:p>
        </p:txBody>
      </p:sp>
      <p:sp>
        <p:nvSpPr>
          <p:cNvPr id="247811" name="Rectangle 3"/>
          <p:cNvSpPr>
            <a:spLocks noGrp="1" noChangeArrowheads="1"/>
          </p:cNvSpPr>
          <p:nvPr>
            <p:ph idx="1"/>
          </p:nvPr>
        </p:nvSpPr>
        <p:spPr/>
        <p:txBody>
          <a:bodyPr/>
          <a:lstStyle/>
          <a:p>
            <a:r>
              <a:rPr lang="en-US" dirty="0"/>
              <a:t>Q. What is blue jacking?</a:t>
            </a:r>
          </a:p>
          <a:p>
            <a:endParaRPr lang="en-US" dirty="0"/>
          </a:p>
          <a:p>
            <a:r>
              <a:rPr lang="en-US" dirty="0"/>
              <a:t>Q. What is TKIP?</a:t>
            </a:r>
          </a:p>
          <a:p>
            <a:endParaRPr lang="en-US" dirty="0"/>
          </a:p>
          <a:p>
            <a:r>
              <a:rPr lang="en-US" dirty="0"/>
              <a:t>Q. What can be used to defeat callback security?</a:t>
            </a:r>
          </a:p>
          <a:p>
            <a:endParaRPr lang="en-US" dirty="0"/>
          </a:p>
          <a:p>
            <a:r>
              <a:rPr lang="en-US" dirty="0"/>
              <a:t>Q. Why are switches more secure than hubs?</a:t>
            </a:r>
          </a:p>
          <a:p>
            <a:endParaRPr lang="en-US"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r>
              <a:rPr lang="en-US"/>
              <a:t>Chapter 7 - Review</a:t>
            </a:r>
          </a:p>
        </p:txBody>
      </p:sp>
      <p:sp>
        <p:nvSpPr>
          <p:cNvPr id="248835" name="Rectangle 3"/>
          <p:cNvSpPr>
            <a:spLocks noGrp="1" noChangeArrowheads="1"/>
          </p:cNvSpPr>
          <p:nvPr>
            <p:ph idx="1"/>
          </p:nvPr>
        </p:nvSpPr>
        <p:spPr/>
        <p:txBody>
          <a:bodyPr/>
          <a:lstStyle/>
          <a:p>
            <a:r>
              <a:rPr lang="en-US"/>
              <a:t>Q. What is a Smurf Attack?</a:t>
            </a:r>
          </a:p>
          <a:p>
            <a:endParaRPr lang="en-US"/>
          </a:p>
          <a:p>
            <a:r>
              <a:rPr lang="en-US"/>
              <a:t>Q. What is a teardrop attack?</a:t>
            </a:r>
          </a:p>
          <a:p>
            <a:endParaRPr lang="en-US"/>
          </a:p>
          <a:p>
            <a:r>
              <a:rPr lang="en-US"/>
              <a:t>Q. What is a buffer overflow?</a:t>
            </a:r>
          </a:p>
          <a:p>
            <a:endParaRPr lang="en-US"/>
          </a:p>
          <a:p>
            <a:r>
              <a:rPr lang="en-US"/>
              <a:t>Q. what are used for DDoS attacks?</a:t>
            </a:r>
          </a:p>
          <a:p>
            <a:endParaRPr lang="en-US"/>
          </a:p>
          <a:p>
            <a:r>
              <a:rPr lang="en-US"/>
              <a:t>Q. Is TCP connection or connectionless?</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p:txBody>
          <a:bodyPr/>
          <a:lstStyle/>
          <a:p>
            <a:r>
              <a:rPr lang="en-US"/>
              <a:t>Chapter 7 - Review</a:t>
            </a:r>
          </a:p>
        </p:txBody>
      </p:sp>
      <p:sp>
        <p:nvSpPr>
          <p:cNvPr id="249859" name="Rectangle 3"/>
          <p:cNvSpPr>
            <a:spLocks noGrp="1" noChangeArrowheads="1"/>
          </p:cNvSpPr>
          <p:nvPr>
            <p:ph idx="1"/>
          </p:nvPr>
        </p:nvSpPr>
        <p:spPr/>
        <p:txBody>
          <a:bodyPr>
            <a:normAutofit fontScale="92500" lnSpcReduction="20000"/>
          </a:bodyPr>
          <a:lstStyle/>
          <a:p>
            <a:r>
              <a:rPr lang="en-US"/>
              <a:t>Q. does a switch create multiple</a:t>
            </a:r>
          </a:p>
          <a:p>
            <a:pPr lvl="1"/>
            <a:r>
              <a:rPr lang="en-US"/>
              <a:t>Collision Domains?</a:t>
            </a:r>
          </a:p>
          <a:p>
            <a:pPr lvl="1"/>
            <a:r>
              <a:rPr lang="en-US"/>
              <a:t>Broadcast Domains?</a:t>
            </a:r>
          </a:p>
          <a:p>
            <a:pPr lvl="1"/>
            <a:endParaRPr lang="en-US"/>
          </a:p>
          <a:p>
            <a:r>
              <a:rPr lang="en-US"/>
              <a:t>Q. What is an Advantage of a circuit level proxy? Disadvantage?</a:t>
            </a:r>
          </a:p>
          <a:p>
            <a:endParaRPr lang="en-US"/>
          </a:p>
          <a:p>
            <a:r>
              <a:rPr lang="en-US"/>
              <a:t>Q. What is an Advantage of a application proxy? Disadvantage?</a:t>
            </a:r>
          </a:p>
          <a:p>
            <a:endParaRPr lang="en-US"/>
          </a:p>
          <a:p>
            <a:r>
              <a:rPr lang="en-US"/>
              <a:t>Q. How many IP Sec SAs are required for communications between point A and point B?</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p:txBody>
          <a:bodyPr/>
          <a:lstStyle/>
          <a:p>
            <a:r>
              <a:rPr lang="en-US"/>
              <a:t>Chapter 7 - Review</a:t>
            </a:r>
          </a:p>
        </p:txBody>
      </p:sp>
      <p:sp>
        <p:nvSpPr>
          <p:cNvPr id="250883" name="Rectangle 3"/>
          <p:cNvSpPr>
            <a:spLocks noGrp="1" noChangeArrowheads="1"/>
          </p:cNvSpPr>
          <p:nvPr>
            <p:ph idx="1"/>
          </p:nvPr>
        </p:nvSpPr>
        <p:spPr/>
        <p:txBody>
          <a:bodyPr/>
          <a:lstStyle/>
          <a:p>
            <a:r>
              <a:rPr lang="en-US" dirty="0"/>
              <a:t>Q. what is a </a:t>
            </a:r>
            <a:r>
              <a:rPr lang="en-US" dirty="0" err="1"/>
              <a:t>botnet</a:t>
            </a:r>
            <a:r>
              <a:rPr lang="en-US" dirty="0"/>
              <a:t>?</a:t>
            </a:r>
          </a:p>
          <a:p>
            <a:pPr>
              <a:buNone/>
            </a:pPr>
            <a:endParaRPr lang="en-US" dirty="0"/>
          </a:p>
          <a:p>
            <a:r>
              <a:rPr lang="en-US" dirty="0"/>
              <a:t>Q. how does a SYN-flood attack work?</a:t>
            </a:r>
          </a:p>
          <a:p>
            <a:endParaRPr lang="en-US" dirty="0"/>
          </a:p>
          <a:p>
            <a:endParaRPr lang="en-US"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p:txBody>
          <a:bodyPr/>
          <a:lstStyle/>
          <a:p>
            <a:r>
              <a:rPr lang="en-US"/>
              <a:t>Chapter 7 - Review</a:t>
            </a:r>
          </a:p>
        </p:txBody>
      </p:sp>
      <p:sp>
        <p:nvSpPr>
          <p:cNvPr id="251907" name="Rectangle 3"/>
          <p:cNvSpPr>
            <a:spLocks noGrp="1" noChangeArrowheads="1"/>
          </p:cNvSpPr>
          <p:nvPr>
            <p:ph idx="1"/>
          </p:nvPr>
        </p:nvSpPr>
        <p:spPr/>
        <p:txBody>
          <a:bodyPr>
            <a:normAutofit lnSpcReduction="10000"/>
          </a:bodyPr>
          <a:lstStyle/>
          <a:p>
            <a:r>
              <a:rPr lang="en-US"/>
              <a:t>Q. What layer of the OSI model does a switch work on? Hub? Router?</a:t>
            </a:r>
          </a:p>
          <a:p>
            <a:endParaRPr lang="en-US"/>
          </a:p>
          <a:p>
            <a:r>
              <a:rPr lang="en-US"/>
              <a:t>Q. What types of addresses do switches use for forwarding packets?</a:t>
            </a:r>
          </a:p>
          <a:p>
            <a:endParaRPr lang="en-US"/>
          </a:p>
          <a:p>
            <a:r>
              <a:rPr lang="en-US"/>
              <a:t>Q. What protocol and port does PPTP use?</a:t>
            </a:r>
          </a:p>
          <a:p>
            <a:endParaRPr lang="en-US"/>
          </a:p>
          <a:p>
            <a:r>
              <a:rPr lang="en-US"/>
              <a:t>Q. What is the best type of cable for high security or to avoid electrical interferance?</a:t>
            </a:r>
          </a:p>
          <a:p>
            <a:endParaRPr lang="en-US"/>
          </a:p>
          <a:p>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E5C92F24E4244AAD2ED8B96D617959" ma:contentTypeVersion="6" ma:contentTypeDescription="Create a new document." ma:contentTypeScope="" ma:versionID="3018d496b803f6cc1781f7a6cb4acf16">
  <xsd:schema xmlns:xsd="http://www.w3.org/2001/XMLSchema" xmlns:xs="http://www.w3.org/2001/XMLSchema" xmlns:p="http://schemas.microsoft.com/office/2006/metadata/properties" xmlns:ns2="f6eb52e1-44dd-45c2-887b-74d63854f9ed" targetNamespace="http://schemas.microsoft.com/office/2006/metadata/properties" ma:root="true" ma:fieldsID="b11849237a42fd386cbd3544317d650b" ns2:_="">
    <xsd:import namespace="f6eb52e1-44dd-45c2-887b-74d63854f9e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eb52e1-44dd-45c2-887b-74d63854f9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FBA2C82-5D41-46EB-912B-18EF6E3EA8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eb52e1-44dd-45c2-887b-74d63854f9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54CFBF-915F-407E-8717-F92F7F92EDC8}">
  <ds:schemaRefs>
    <ds:schemaRef ds:uri="http://schemas.microsoft.com/sharepoint/v3/contenttype/forms"/>
  </ds:schemaRefs>
</ds:datastoreItem>
</file>

<file path=customXml/itemProps3.xml><?xml version="1.0" encoding="utf-8"?>
<ds:datastoreItem xmlns:ds="http://schemas.openxmlformats.org/officeDocument/2006/customXml" ds:itemID="{8EFCBD62-A7D3-43A2-86F2-0475B8B0F085}">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Module</Template>
  <TotalTime>1654</TotalTime>
  <Words>5370</Words>
  <Application>Microsoft Macintosh PowerPoint</Application>
  <PresentationFormat>On-screen Show (4:3)</PresentationFormat>
  <Paragraphs>821</Paragraphs>
  <Slides>177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177</vt:i4>
      </vt:variant>
    </vt:vector>
  </HeadingPairs>
  <TitlesOfParts>
    <vt:vector size="184" baseType="lpstr">
      <vt:lpstr>Arial</vt:lpstr>
      <vt:lpstr>Corbel</vt:lpstr>
      <vt:lpstr>Times New Roman</vt:lpstr>
      <vt:lpstr>Wingdings</vt:lpstr>
      <vt:lpstr>Wingdings 2</vt:lpstr>
      <vt:lpstr>Wingdings 3</vt:lpstr>
      <vt:lpstr>Module</vt:lpstr>
      <vt:lpstr>Telecommunications and Network Security Week5  </vt:lpstr>
      <vt:lpstr>OSI Model</vt:lpstr>
      <vt:lpstr>OSI</vt:lpstr>
      <vt:lpstr>OSI model 485</vt:lpstr>
      <vt:lpstr>OSI</vt:lpstr>
      <vt:lpstr>OSI</vt:lpstr>
      <vt:lpstr>OSI</vt:lpstr>
      <vt:lpstr>Quick OSI review</vt:lpstr>
      <vt:lpstr>TCP/IP model</vt:lpstr>
      <vt:lpstr>TCP/IP Model (499)</vt:lpstr>
      <vt:lpstr>TCP/IP Model</vt:lpstr>
      <vt:lpstr>OSI vs. TCP/IP model</vt:lpstr>
      <vt:lpstr>Some network equipment and what layers they generally work on</vt:lpstr>
      <vt:lpstr>TCP/IP  - 500</vt:lpstr>
      <vt:lpstr>TCP/UDP - 498</vt:lpstr>
      <vt:lpstr>TCP</vt:lpstr>
      <vt:lpstr>TCP - 504</vt:lpstr>
      <vt:lpstr>TCP - 504</vt:lpstr>
      <vt:lpstr>UDP</vt:lpstr>
      <vt:lpstr>UDP - 500 </vt:lpstr>
      <vt:lpstr>Ports - 503</vt:lpstr>
      <vt:lpstr>Random Networking Terms - 512</vt:lpstr>
      <vt:lpstr>Random Networking Terms</vt:lpstr>
      <vt:lpstr>Network Topologies</vt:lpstr>
      <vt:lpstr>Bus (514)</vt:lpstr>
      <vt:lpstr>Ring (514)</vt:lpstr>
      <vt:lpstr>Star Topology (514)</vt:lpstr>
      <vt:lpstr>Mesh (515)</vt:lpstr>
      <vt:lpstr>Network Types</vt:lpstr>
      <vt:lpstr>Ethernet - 517</vt:lpstr>
      <vt:lpstr>Collision Domain</vt:lpstr>
      <vt:lpstr>Broadcast Domain</vt:lpstr>
      <vt:lpstr>Media Access Technologies (526)</vt:lpstr>
      <vt:lpstr>LAN Protocols - 529</vt:lpstr>
      <vt:lpstr>ARP (533)</vt:lpstr>
      <vt:lpstr>ARP (533)</vt:lpstr>
      <vt:lpstr>DHCP - 534</vt:lpstr>
      <vt:lpstr>Basic Networking Devices (541)</vt:lpstr>
      <vt:lpstr>Router (544)</vt:lpstr>
      <vt:lpstr>Routers vs. Switches - 546</vt:lpstr>
      <vt:lpstr>Advanced Networking Devices</vt:lpstr>
      <vt:lpstr>Gateway - 550</vt:lpstr>
      <vt:lpstr>PBX 552</vt:lpstr>
      <vt:lpstr>Firewall 553</vt:lpstr>
      <vt:lpstr>Firewalls - 553</vt:lpstr>
      <vt:lpstr>Packet filter - 555</vt:lpstr>
      <vt:lpstr>Packet Filter</vt:lpstr>
      <vt:lpstr>State full firewall - 556</vt:lpstr>
      <vt:lpstr>Proxy firewalls - 557</vt:lpstr>
      <vt:lpstr>Circuit Level Proxy - 559</vt:lpstr>
      <vt:lpstr>Circuit Level Proxies - 559</vt:lpstr>
      <vt:lpstr>Application Proxies - 559</vt:lpstr>
      <vt:lpstr>Application Proxies - 559</vt:lpstr>
      <vt:lpstr>Application Proxies - 559</vt:lpstr>
      <vt:lpstr>NAT/PNAT</vt:lpstr>
      <vt:lpstr>NAT</vt:lpstr>
      <vt:lpstr>PNAT</vt:lpstr>
      <vt:lpstr>NAT/PAT difference</vt:lpstr>
      <vt:lpstr>NAT / PNAT</vt:lpstr>
      <vt:lpstr>Overall Firewall best practices (563)</vt:lpstr>
      <vt:lpstr> Overall Firewall issues</vt:lpstr>
      <vt:lpstr>Firewall Architecture</vt:lpstr>
      <vt:lpstr>Security Zones</vt:lpstr>
      <vt:lpstr>DMZ </vt:lpstr>
      <vt:lpstr>DMZ</vt:lpstr>
      <vt:lpstr>DMZ architectures</vt:lpstr>
      <vt:lpstr>Multi Homed Firewall - 565</vt:lpstr>
      <vt:lpstr>Multi-homed firewall</vt:lpstr>
      <vt:lpstr>Screened Subnet - 566</vt:lpstr>
      <vt:lpstr>Screened Subnet</vt:lpstr>
      <vt:lpstr>Multiple interface firewalls - 560 </vt:lpstr>
      <vt:lpstr>Other Random Network Terms</vt:lpstr>
      <vt:lpstr>Other Technological security concepts (572)</vt:lpstr>
      <vt:lpstr>NOS (568)</vt:lpstr>
      <vt:lpstr>DNS - 574</vt:lpstr>
      <vt:lpstr>DNS</vt:lpstr>
      <vt:lpstr>DNS cache poisoning - 577</vt:lpstr>
      <vt:lpstr>DNS SEC</vt:lpstr>
      <vt:lpstr>Intranet, Extranet - 582</vt:lpstr>
      <vt:lpstr>LAN, WAN, MAN - 581</vt:lpstr>
      <vt:lpstr>Types of links for WANs and MANS</vt:lpstr>
      <vt:lpstr>Dedicated (589)</vt:lpstr>
      <vt:lpstr>Frame Relay - 595</vt:lpstr>
      <vt:lpstr>Frame relay / cloud</vt:lpstr>
      <vt:lpstr>WAN terms</vt:lpstr>
      <vt:lpstr>Multiplexing - 591</vt:lpstr>
      <vt:lpstr>CSU/DSU - 592</vt:lpstr>
      <vt:lpstr>Circuit vs. Packet Switching - 594</vt:lpstr>
      <vt:lpstr>Packet Switching (this should be automated)</vt:lpstr>
      <vt:lpstr>ATM - 598</vt:lpstr>
      <vt:lpstr>QoS - 598</vt:lpstr>
      <vt:lpstr>VoIP - 602</vt:lpstr>
      <vt:lpstr>Remote Access</vt:lpstr>
      <vt:lpstr>Remote Access - 610</vt:lpstr>
      <vt:lpstr>Dial up - 610</vt:lpstr>
      <vt:lpstr>Dial Up - 610</vt:lpstr>
      <vt:lpstr>ISDN - 611</vt:lpstr>
      <vt:lpstr>DSL - 613</vt:lpstr>
      <vt:lpstr>Cable Modem - 613</vt:lpstr>
      <vt:lpstr>VPNs</vt:lpstr>
      <vt:lpstr>VPN</vt:lpstr>
      <vt:lpstr>VPN - 615</vt:lpstr>
      <vt:lpstr>Tunneling</vt:lpstr>
      <vt:lpstr>Example of Tunneling</vt:lpstr>
      <vt:lpstr>Example of Tunneling</vt:lpstr>
      <vt:lpstr>Transport </vt:lpstr>
      <vt:lpstr>Example of transport</vt:lpstr>
      <vt:lpstr>Transport vs. Tunnel</vt:lpstr>
      <vt:lpstr>VPN protocols</vt:lpstr>
      <vt:lpstr>PPTP - 619</vt:lpstr>
      <vt:lpstr>PPTP operation</vt:lpstr>
      <vt:lpstr>L2TP</vt:lpstr>
      <vt:lpstr>IP Sec - 617</vt:lpstr>
      <vt:lpstr>IPSEC</vt:lpstr>
      <vt:lpstr>IP SEC SA</vt:lpstr>
      <vt:lpstr>IP Sec SA</vt:lpstr>
      <vt:lpstr>Remote Access Best Practices</vt:lpstr>
      <vt:lpstr>Wireless</vt:lpstr>
      <vt:lpstr>Wireless (625)</vt:lpstr>
      <vt:lpstr>Spread Spectrum - 625</vt:lpstr>
      <vt:lpstr>Wireless Components - 627  </vt:lpstr>
      <vt:lpstr>802.11 standard - 630</vt:lpstr>
      <vt:lpstr>802.11 family - 630</vt:lpstr>
      <vt:lpstr>Wireless security problems</vt:lpstr>
      <vt:lpstr>Airsnarfing (wireless MiM)</vt:lpstr>
      <vt:lpstr>Transmission encryption –  632</vt:lpstr>
      <vt:lpstr>Transmission Encryption</vt:lpstr>
      <vt:lpstr>802.1X - 627</vt:lpstr>
      <vt:lpstr>Bluetooth</vt:lpstr>
      <vt:lpstr>Bluetooth (640)</vt:lpstr>
      <vt:lpstr>Bluetooth Attacks</vt:lpstr>
      <vt:lpstr>Bluetooth Countermeasures</vt:lpstr>
      <vt:lpstr>WAP (641)</vt:lpstr>
      <vt:lpstr>WAP</vt:lpstr>
      <vt:lpstr>WAP GAP</vt:lpstr>
      <vt:lpstr>Attacks against Networks and Software</vt:lpstr>
      <vt:lpstr>LOKI</vt:lpstr>
      <vt:lpstr>MAC flooding</vt:lpstr>
      <vt:lpstr>Buffer Overflows (chapter 11)</vt:lpstr>
      <vt:lpstr>Buffer Overflow</vt:lpstr>
      <vt:lpstr>Buffer Overflow</vt:lpstr>
      <vt:lpstr>Buffer Overflow</vt:lpstr>
      <vt:lpstr>Buffer Overflow</vt:lpstr>
      <vt:lpstr>Buffer Overflow</vt:lpstr>
      <vt:lpstr>Buffer Overflow</vt:lpstr>
      <vt:lpstr>Buffer Overflow</vt:lpstr>
      <vt:lpstr>Buffer Overflow</vt:lpstr>
      <vt:lpstr>Buffer Overflow</vt:lpstr>
      <vt:lpstr>Buffer Overflow</vt:lpstr>
      <vt:lpstr>Buffer Overflow </vt:lpstr>
      <vt:lpstr>Buffer Overflows</vt:lpstr>
      <vt:lpstr>Buffer Overflow</vt:lpstr>
      <vt:lpstr>Buffer Overflow</vt:lpstr>
      <vt:lpstr>Smurf Attack</vt:lpstr>
      <vt:lpstr>Smurf Attack (chapter 11 – 1031)</vt:lpstr>
      <vt:lpstr>Smurf Attack</vt:lpstr>
      <vt:lpstr>Fraggle </vt:lpstr>
      <vt:lpstr>Fraggle (like Fraggle rock)  (chapter 11 – 1031)</vt:lpstr>
      <vt:lpstr>SYN Flood (chapter 11 – 1033)</vt:lpstr>
      <vt:lpstr>SYN Flood</vt:lpstr>
      <vt:lpstr>Ping of Death</vt:lpstr>
      <vt:lpstr>Session Hijacking</vt:lpstr>
      <vt:lpstr>Tear Drop</vt:lpstr>
      <vt:lpstr>Tear Drop (chapter 11 – 1034)</vt:lpstr>
      <vt:lpstr>LAND attack</vt:lpstr>
      <vt:lpstr>DDoS (chapter 11 – 1034)</vt:lpstr>
      <vt:lpstr>DDoS</vt:lpstr>
      <vt:lpstr>DDoS</vt:lpstr>
      <vt:lpstr>Maintenance Hooks (382) (chapter 5)</vt:lpstr>
      <vt:lpstr>Time of Check/Time of Use Attack (383)</vt:lpstr>
      <vt:lpstr>Time of Check/Time of Use Attack (383)</vt:lpstr>
      <vt:lpstr>Root Kit (649)</vt:lpstr>
      <vt:lpstr>Chapter 7 - Review</vt:lpstr>
      <vt:lpstr>Chapter 7 - Review</vt:lpstr>
      <vt:lpstr>Chapter 7 - Review</vt:lpstr>
      <vt:lpstr>Chapter 7 - Review</vt:lpstr>
      <vt:lpstr>Chapter 7 - Review</vt:lpstr>
    </vt:vector>
  </TitlesOfParts>
  <Company>BEB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CISSP – Chapter 7</dc:title>
  <dc:creator>brianb</dc:creator>
  <cp:lastModifiedBy>Syed Yawar Abbas Zaidi</cp:lastModifiedBy>
  <cp:revision>322</cp:revision>
  <dcterms:created xsi:type="dcterms:W3CDTF">2010-02-12T22:34:26Z</dcterms:created>
  <dcterms:modified xsi:type="dcterms:W3CDTF">2026-05-22T03:16:56Z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0x0101009FE5C92F24E4244AAD2ED8B96D617959</vt:lpwstr>
  </property>
</Properties>
</file>