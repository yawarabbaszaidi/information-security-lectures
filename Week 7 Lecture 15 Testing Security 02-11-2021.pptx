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4"/>
  </p:sldMasterIdLst>
  <p:notesMasterIdLst>
    <p:notesMasterId r:id="rId39"/>
  </p:notesMasterIdLst>
  <p:handoutMasterIdLst>
    <p:handoutMasterId r:id="rId40"/>
  </p:handoutMasterIdLst>
  <p:sldIdLst>
    <p:sldId id="403" r:id="rId5"/>
    <p:sldId id="586" r:id="rId6"/>
    <p:sldId id="585" r:id="rId7"/>
    <p:sldId id="526" r:id="rId8"/>
    <p:sldId id="528" r:id="rId9"/>
    <p:sldId id="576" r:id="rId10"/>
    <p:sldId id="577" r:id="rId11"/>
    <p:sldId id="578" r:id="rId12"/>
    <p:sldId id="579" r:id="rId13"/>
    <p:sldId id="594" r:id="rId14"/>
    <p:sldId id="595" r:id="rId15"/>
    <p:sldId id="600" r:id="rId16"/>
    <p:sldId id="581" r:id="rId17"/>
    <p:sldId id="582" r:id="rId18"/>
    <p:sldId id="583" r:id="rId19"/>
    <p:sldId id="584" r:id="rId20"/>
    <p:sldId id="612" r:id="rId21"/>
    <p:sldId id="618" r:id="rId22"/>
    <p:sldId id="613" r:id="rId23"/>
    <p:sldId id="614" r:id="rId24"/>
    <p:sldId id="615" r:id="rId25"/>
    <p:sldId id="616" r:id="rId26"/>
    <p:sldId id="620" r:id="rId27"/>
    <p:sldId id="623" r:id="rId28"/>
    <p:sldId id="624" r:id="rId29"/>
    <p:sldId id="635" r:id="rId30"/>
    <p:sldId id="626" r:id="rId31"/>
    <p:sldId id="627" r:id="rId32"/>
    <p:sldId id="628" r:id="rId33"/>
    <p:sldId id="629" r:id="rId34"/>
    <p:sldId id="630" r:id="rId35"/>
    <p:sldId id="632" r:id="rId36"/>
    <p:sldId id="596" r:id="rId37"/>
    <p:sldId id="501" r:id="rId38"/>
  </p:sldIdLst>
  <p:sldSz cx="9144000" cy="6858000" type="screen4x3"/>
  <p:notesSz cx="6881813"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15:guide id="1" orient="horz" pos="2928">
          <p15:clr>
            <a:srgbClr val="A4A3A4"/>
          </p15:clr>
        </p15:guide>
        <p15:guide id="2" pos="2167">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6600"/>
    <a:srgbClr val="FF0000"/>
    <a:srgbClr val="CCECFF"/>
    <a:srgbClr val="66CCFF"/>
    <a:srgbClr val="CCFFFF"/>
    <a:srgbClr val="F8F8F8"/>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202" autoAdjust="0"/>
    <p:restoredTop sz="94637"/>
  </p:normalViewPr>
  <p:slideViewPr>
    <p:cSldViewPr snapToGrid="0">
      <p:cViewPr varScale="1">
        <p:scale>
          <a:sx n="108" d="100"/>
          <a:sy n="108" d="100"/>
        </p:scale>
        <p:origin x="1728" y="192"/>
      </p:cViewPr>
      <p:guideLst>
        <p:guide orient="horz" pos="816"/>
        <p:guide pos="4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varScale="1">
        <p:scale>
          <a:sx n="55" d="100"/>
          <a:sy n="55" d="100"/>
        </p:scale>
        <p:origin x="-1878" y="-90"/>
      </p:cViewPr>
      <p:guideLst>
        <p:guide orient="horz" pos="2928"/>
        <p:guide pos="2167"/>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3" name="Rectangle 3"/>
          <p:cNvSpPr>
            <a:spLocks noGrp="1" noChangeArrowheads="1"/>
          </p:cNvSpPr>
          <p:nvPr>
            <p:ph type="dt" sz="quarter" idx="1"/>
          </p:nvPr>
        </p:nvSpPr>
        <p:spPr bwMode="auto">
          <a:xfrm>
            <a:off x="3878263"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algn="r" defTabSz="876300">
              <a:defRPr sz="1100">
                <a:latin typeface="Helvetica" charset="0"/>
                <a:ea typeface="ＭＳ Ｐゴシック" charset="-128"/>
                <a:cs typeface="ＭＳ Ｐゴシック" charset="-128"/>
              </a:defRPr>
            </a:lvl1pPr>
          </a:lstStyle>
          <a:p>
            <a:pPr>
              <a:defRPr/>
            </a:pPr>
            <a:endParaRPr lang="en-US"/>
          </a:p>
        </p:txBody>
      </p:sp>
      <p:sp>
        <p:nvSpPr>
          <p:cNvPr id="46084" name="Rectangle 4"/>
          <p:cNvSpPr>
            <a:spLocks noGrp="1" noChangeArrowheads="1"/>
          </p:cNvSpPr>
          <p:nvPr>
            <p:ph type="ftr" sz="quarter" idx="2"/>
          </p:nvPr>
        </p:nvSpPr>
        <p:spPr bwMode="auto">
          <a:xfrm>
            <a:off x="0"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5" name="Rectangle 5"/>
          <p:cNvSpPr>
            <a:spLocks noGrp="1" noChangeArrowheads="1"/>
          </p:cNvSpPr>
          <p:nvPr>
            <p:ph type="sldNum" sz="quarter" idx="3"/>
          </p:nvPr>
        </p:nvSpPr>
        <p:spPr bwMode="auto">
          <a:xfrm>
            <a:off x="3878263"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algn="r" defTabSz="876300">
              <a:defRPr sz="1100" smtClean="0">
                <a:latin typeface="Helvetica" panose="020B0604020202020204" pitchFamily="34" charset="0"/>
              </a:defRPr>
            </a:lvl1pPr>
          </a:lstStyle>
          <a:p>
            <a:pPr>
              <a:defRPr/>
            </a:pPr>
            <a:fld id="{890DDA38-5E15-4458-AA02-5DB6EAB597AB}" type="slidenum">
              <a:rPr lang="en-US" altLang="en-US"/>
              <a:pPr>
                <a:defRPr/>
              </a:pPr>
              <a:t>‹#›</a:t>
            </a:fld>
            <a:endParaRPr lang="en-US" altLang="en-US"/>
          </a:p>
        </p:txBody>
      </p:sp>
    </p:spTree>
    <p:extLst>
      <p:ext uri="{BB962C8B-B14F-4D97-AF65-F5344CB8AC3E}">
        <p14:creationId xmlns:p14="http://schemas.microsoft.com/office/powerpoint/2010/main" val="1978650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47" name="Rectangle 3"/>
          <p:cNvSpPr>
            <a:spLocks noGrp="1" noChangeArrowheads="1"/>
          </p:cNvSpPr>
          <p:nvPr>
            <p:ph type="dt" idx="1"/>
          </p:nvPr>
        </p:nvSpPr>
        <p:spPr bwMode="auto">
          <a:xfrm>
            <a:off x="3900488"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algn="r" defTabSz="923925">
              <a:defRPr sz="1200">
                <a:latin typeface="Times New Roman" charset="0"/>
                <a:ea typeface="ＭＳ Ｐゴシック" charset="-128"/>
                <a:cs typeface="ＭＳ Ｐゴシック" charset="-128"/>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17600" y="698500"/>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17575" y="4416425"/>
            <a:ext cx="5046663" cy="4181475"/>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51" name="Rectangle 7"/>
          <p:cNvSpPr>
            <a:spLocks noGrp="1" noChangeArrowheads="1"/>
          </p:cNvSpPr>
          <p:nvPr>
            <p:ph type="sldNum" sz="quarter" idx="5"/>
          </p:nvPr>
        </p:nvSpPr>
        <p:spPr bwMode="auto">
          <a:xfrm>
            <a:off x="3900488"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algn="r" defTabSz="923925">
              <a:defRPr sz="1200" smtClean="0">
                <a:latin typeface="Times New Roman" panose="02020603050405020304" pitchFamily="18" charset="0"/>
              </a:defRPr>
            </a:lvl1pPr>
          </a:lstStyle>
          <a:p>
            <a:pPr>
              <a:defRPr/>
            </a:pPr>
            <a:fld id="{5B7D5C97-239A-4625-A264-D204ED0A6B82}" type="slidenum">
              <a:rPr lang="en-US" altLang="en-US"/>
              <a:pPr>
                <a:defRPr/>
              </a:pPr>
              <a:t>‹#›</a:t>
            </a:fld>
            <a:endParaRPr lang="en-US" altLang="en-US"/>
          </a:p>
        </p:txBody>
      </p:sp>
    </p:spTree>
    <p:extLst>
      <p:ext uri="{BB962C8B-B14F-4D97-AF65-F5344CB8AC3E}">
        <p14:creationId xmlns:p14="http://schemas.microsoft.com/office/powerpoint/2010/main" val="225626920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1229E829-6848-4D22-B254-E3821570B691}" type="slidenum">
              <a:rPr lang="en-US" altLang="en-US" sz="1300">
                <a:latin typeface="Helvetica" panose="020B0604020202020204" pitchFamily="34" charset="0"/>
              </a:rPr>
              <a:pPr>
                <a:spcBef>
                  <a:spcPct val="0"/>
                </a:spcBef>
              </a:pPr>
              <a:t>2</a:t>
            </a:fld>
            <a:endParaRPr lang="en-US" altLang="en-US" sz="1300">
              <a:latin typeface="Helvetica" panose="020B0604020202020204" pitchFamily="34"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155032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Grp="1" noChangeArrowheads="1"/>
          </p:cNvSpPr>
          <p:nvPr>
            <p:ph type="sldNum" sz="quarter" idx="5"/>
          </p:nvPr>
        </p:nvSpPr>
        <p:spPr>
          <a:ln/>
        </p:spPr>
        <p:txBody>
          <a:bodyPr/>
          <a:lstStyle/>
          <a:p>
            <a:fld id="{9855D0B3-EE91-4464-AC7F-1C1C3F928DF1}" type="slidenum">
              <a:rPr lang="en-US" altLang="en-US"/>
              <a:pPr/>
              <a:t>5</a:t>
            </a:fld>
            <a:endParaRPr lang="en-US" altLang="en-US"/>
          </a:p>
        </p:txBody>
      </p:sp>
      <p:sp>
        <p:nvSpPr>
          <p:cNvPr id="1060866" name="Rectangle 2"/>
          <p:cNvSpPr>
            <a:spLocks noGrp="1" noRot="1" noChangeAspect="1" noChangeArrowheads="1" noTextEdit="1"/>
          </p:cNvSpPr>
          <p:nvPr>
            <p:ph type="sldImg"/>
          </p:nvPr>
        </p:nvSpPr>
        <p:spPr>
          <a:xfrm>
            <a:off x="3216275" y="498475"/>
            <a:ext cx="3321050" cy="2490788"/>
          </a:xfrm>
          <a:ln/>
        </p:spPr>
      </p:sp>
    </p:spTree>
    <p:extLst>
      <p:ext uri="{BB962C8B-B14F-4D97-AF65-F5344CB8AC3E}">
        <p14:creationId xmlns:p14="http://schemas.microsoft.com/office/powerpoint/2010/main" val="3054972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Grp="1" noChangeArrowheads="1"/>
          </p:cNvSpPr>
          <p:nvPr>
            <p:ph type="sldNum" sz="quarter" idx="5"/>
          </p:nvPr>
        </p:nvSpPr>
        <p:spPr>
          <a:ln/>
        </p:spPr>
        <p:txBody>
          <a:bodyPr/>
          <a:lstStyle/>
          <a:p>
            <a:fld id="{7C0A1853-25F3-4790-A410-41EC8F15F295}" type="slidenum">
              <a:rPr lang="en-US" altLang="en-US"/>
              <a:pPr/>
              <a:t>6</a:t>
            </a:fld>
            <a:endParaRPr lang="en-US" altLang="en-US"/>
          </a:p>
        </p:txBody>
      </p:sp>
      <p:sp>
        <p:nvSpPr>
          <p:cNvPr id="1064962" name="Rectangle 2"/>
          <p:cNvSpPr>
            <a:spLocks noGrp="1" noRot="1" noChangeAspect="1" noChangeArrowheads="1" noTextEdit="1"/>
          </p:cNvSpPr>
          <p:nvPr>
            <p:ph type="sldImg"/>
          </p:nvPr>
        </p:nvSpPr>
        <p:spPr>
          <a:xfrm>
            <a:off x="3216275" y="498475"/>
            <a:ext cx="3321050" cy="2490788"/>
          </a:xfrm>
          <a:ln/>
        </p:spPr>
      </p:sp>
    </p:spTree>
    <p:extLst>
      <p:ext uri="{BB962C8B-B14F-4D97-AF65-F5344CB8AC3E}">
        <p14:creationId xmlns:p14="http://schemas.microsoft.com/office/powerpoint/2010/main" val="12308603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Grp="1" noChangeArrowheads="1"/>
          </p:cNvSpPr>
          <p:nvPr>
            <p:ph type="sldNum" sz="quarter" idx="5"/>
          </p:nvPr>
        </p:nvSpPr>
        <p:spPr>
          <a:ln/>
        </p:spPr>
        <p:txBody>
          <a:bodyPr/>
          <a:lstStyle/>
          <a:p>
            <a:fld id="{1445ABA3-A467-47CB-828D-C00A83402D3B}" type="slidenum">
              <a:rPr lang="en-US" altLang="en-US"/>
              <a:pPr/>
              <a:t>7</a:t>
            </a:fld>
            <a:endParaRPr lang="en-US" altLang="en-US"/>
          </a:p>
        </p:txBody>
      </p:sp>
      <p:sp>
        <p:nvSpPr>
          <p:cNvPr id="1071106" name="Rectangle 2"/>
          <p:cNvSpPr>
            <a:spLocks noGrp="1" noRot="1" noChangeAspect="1" noChangeArrowheads="1" noTextEdit="1"/>
          </p:cNvSpPr>
          <p:nvPr>
            <p:ph type="sldImg"/>
          </p:nvPr>
        </p:nvSpPr>
        <p:spPr>
          <a:xfrm>
            <a:off x="3216275" y="498475"/>
            <a:ext cx="3321050" cy="2490788"/>
          </a:xfrm>
          <a:ln/>
        </p:spPr>
      </p:sp>
    </p:spTree>
    <p:extLst>
      <p:ext uri="{BB962C8B-B14F-4D97-AF65-F5344CB8AC3E}">
        <p14:creationId xmlns:p14="http://schemas.microsoft.com/office/powerpoint/2010/main" val="22775502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Grp="1" noChangeArrowheads="1"/>
          </p:cNvSpPr>
          <p:nvPr>
            <p:ph type="sldNum" sz="quarter" idx="5"/>
          </p:nvPr>
        </p:nvSpPr>
        <p:spPr>
          <a:ln/>
        </p:spPr>
        <p:txBody>
          <a:bodyPr/>
          <a:lstStyle/>
          <a:p>
            <a:fld id="{F8DC9735-48D9-409E-B979-9806912B41A0}" type="slidenum">
              <a:rPr lang="en-US" altLang="en-US"/>
              <a:pPr/>
              <a:t>8</a:t>
            </a:fld>
            <a:endParaRPr lang="en-US" altLang="en-US"/>
          </a:p>
        </p:txBody>
      </p:sp>
      <p:sp>
        <p:nvSpPr>
          <p:cNvPr id="1073154" name="Rectangle 2"/>
          <p:cNvSpPr>
            <a:spLocks noGrp="1" noRot="1" noChangeAspect="1" noChangeArrowheads="1" noTextEdit="1"/>
          </p:cNvSpPr>
          <p:nvPr>
            <p:ph type="sldImg"/>
          </p:nvPr>
        </p:nvSpPr>
        <p:spPr>
          <a:xfrm>
            <a:off x="3216275" y="498475"/>
            <a:ext cx="3321050" cy="2490788"/>
          </a:xfrm>
          <a:ln/>
        </p:spPr>
      </p:sp>
    </p:spTree>
    <p:extLst>
      <p:ext uri="{BB962C8B-B14F-4D97-AF65-F5344CB8AC3E}">
        <p14:creationId xmlns:p14="http://schemas.microsoft.com/office/powerpoint/2010/main" val="38079884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Grp="1" noChangeArrowheads="1"/>
          </p:cNvSpPr>
          <p:nvPr>
            <p:ph type="sldNum" sz="quarter" idx="5"/>
          </p:nvPr>
        </p:nvSpPr>
        <p:spPr>
          <a:ln/>
        </p:spPr>
        <p:txBody>
          <a:bodyPr/>
          <a:lstStyle/>
          <a:p>
            <a:fld id="{DCCE7253-5001-49B8-BAB1-B9FC9FBCB7AB}" type="slidenum">
              <a:rPr lang="en-US" altLang="en-US"/>
              <a:pPr/>
              <a:t>9</a:t>
            </a:fld>
            <a:endParaRPr lang="en-US" altLang="en-US"/>
          </a:p>
        </p:txBody>
      </p:sp>
      <p:sp>
        <p:nvSpPr>
          <p:cNvPr id="1075202" name="Rectangle 2"/>
          <p:cNvSpPr>
            <a:spLocks noGrp="1" noRot="1" noChangeAspect="1" noChangeArrowheads="1" noTextEdit="1"/>
          </p:cNvSpPr>
          <p:nvPr>
            <p:ph type="sldImg"/>
          </p:nvPr>
        </p:nvSpPr>
        <p:spPr>
          <a:xfrm>
            <a:off x="3216275" y="498475"/>
            <a:ext cx="3321050" cy="2490788"/>
          </a:xfrm>
          <a:ln/>
        </p:spPr>
      </p:sp>
    </p:spTree>
    <p:extLst>
      <p:ext uri="{BB962C8B-B14F-4D97-AF65-F5344CB8AC3E}">
        <p14:creationId xmlns:p14="http://schemas.microsoft.com/office/powerpoint/2010/main" val="37702843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Grp="1" noChangeArrowheads="1"/>
          </p:cNvSpPr>
          <p:nvPr>
            <p:ph type="sldNum" sz="quarter" idx="5"/>
          </p:nvPr>
        </p:nvSpPr>
        <p:spPr>
          <a:ln/>
        </p:spPr>
        <p:txBody>
          <a:bodyPr/>
          <a:lstStyle/>
          <a:p>
            <a:fld id="{E2183944-E4FB-4596-92D1-FA277B8DAEA9}" type="slidenum">
              <a:rPr lang="en-US" altLang="en-US"/>
              <a:pPr/>
              <a:t>12</a:t>
            </a:fld>
            <a:endParaRPr lang="en-US" altLang="en-US"/>
          </a:p>
        </p:txBody>
      </p:sp>
      <p:sp>
        <p:nvSpPr>
          <p:cNvPr id="1077250" name="Rectangle 2"/>
          <p:cNvSpPr>
            <a:spLocks noGrp="1" noRot="1" noChangeAspect="1" noChangeArrowheads="1" noTextEdit="1"/>
          </p:cNvSpPr>
          <p:nvPr>
            <p:ph type="sldImg"/>
          </p:nvPr>
        </p:nvSpPr>
        <p:spPr>
          <a:xfrm>
            <a:off x="3216275" y="498475"/>
            <a:ext cx="3321050" cy="2490788"/>
          </a:xfrm>
          <a:ln/>
        </p:spPr>
      </p:sp>
    </p:spTree>
    <p:extLst>
      <p:ext uri="{BB962C8B-B14F-4D97-AF65-F5344CB8AC3E}">
        <p14:creationId xmlns:p14="http://schemas.microsoft.com/office/powerpoint/2010/main" val="42049982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Grp="1" noChangeArrowheads="1"/>
          </p:cNvSpPr>
          <p:nvPr>
            <p:ph type="sldNum" sz="quarter" idx="5"/>
          </p:nvPr>
        </p:nvSpPr>
        <p:spPr>
          <a:ln/>
        </p:spPr>
        <p:txBody>
          <a:bodyPr/>
          <a:lstStyle/>
          <a:p>
            <a:fld id="{4014808F-609D-4CB6-B32F-9A2AE65C7DCE}" type="slidenum">
              <a:rPr lang="en-US" altLang="en-US"/>
              <a:pPr/>
              <a:t>13</a:t>
            </a:fld>
            <a:endParaRPr lang="en-US" altLang="en-US"/>
          </a:p>
        </p:txBody>
      </p:sp>
      <p:sp>
        <p:nvSpPr>
          <p:cNvPr id="1079298" name="Rectangle 2"/>
          <p:cNvSpPr>
            <a:spLocks noGrp="1" noRot="1" noChangeAspect="1" noChangeArrowheads="1" noTextEdit="1"/>
          </p:cNvSpPr>
          <p:nvPr>
            <p:ph type="sldImg"/>
          </p:nvPr>
        </p:nvSpPr>
        <p:spPr>
          <a:xfrm>
            <a:off x="3216275" y="498475"/>
            <a:ext cx="3321050" cy="2490788"/>
          </a:xfrm>
          <a:ln/>
        </p:spPr>
      </p:sp>
    </p:spTree>
    <p:extLst>
      <p:ext uri="{BB962C8B-B14F-4D97-AF65-F5344CB8AC3E}">
        <p14:creationId xmlns:p14="http://schemas.microsoft.com/office/powerpoint/2010/main" val="16572196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Grp="1" noChangeArrowheads="1"/>
          </p:cNvSpPr>
          <p:nvPr>
            <p:ph type="sldNum" sz="quarter" idx="5"/>
          </p:nvPr>
        </p:nvSpPr>
        <p:spPr>
          <a:ln/>
        </p:spPr>
        <p:txBody>
          <a:bodyPr/>
          <a:lstStyle/>
          <a:p>
            <a:fld id="{945FC480-90B6-4554-B4B7-D77BBA1DCC50}" type="slidenum">
              <a:rPr lang="en-US" altLang="en-US"/>
              <a:pPr/>
              <a:t>14</a:t>
            </a:fld>
            <a:endParaRPr lang="en-US" altLang="en-US"/>
          </a:p>
        </p:txBody>
      </p:sp>
      <p:sp>
        <p:nvSpPr>
          <p:cNvPr id="1081346" name="Rectangle 2"/>
          <p:cNvSpPr>
            <a:spLocks noGrp="1" noRot="1" noChangeAspect="1" noChangeArrowheads="1" noTextEdit="1"/>
          </p:cNvSpPr>
          <p:nvPr>
            <p:ph type="sldImg"/>
          </p:nvPr>
        </p:nvSpPr>
        <p:spPr>
          <a:xfrm>
            <a:off x="3216275" y="498475"/>
            <a:ext cx="3321050" cy="2490788"/>
          </a:xfrm>
          <a:ln/>
        </p:spPr>
      </p:sp>
    </p:spTree>
    <p:extLst>
      <p:ext uri="{BB962C8B-B14F-4D97-AF65-F5344CB8AC3E}">
        <p14:creationId xmlns:p14="http://schemas.microsoft.com/office/powerpoint/2010/main" val="21241237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Grp="1" noChangeArrowheads="1"/>
          </p:cNvSpPr>
          <p:nvPr>
            <p:ph type="sldNum" sz="quarter" idx="5"/>
          </p:nvPr>
        </p:nvSpPr>
        <p:spPr>
          <a:ln/>
        </p:spPr>
        <p:txBody>
          <a:bodyPr/>
          <a:lstStyle/>
          <a:p>
            <a:fld id="{30462AF8-55C5-457A-9CF7-D38E8CED86B5}" type="slidenum">
              <a:rPr lang="en-US" altLang="en-US"/>
              <a:pPr/>
              <a:t>15</a:t>
            </a:fld>
            <a:endParaRPr lang="en-US" altLang="en-US"/>
          </a:p>
        </p:txBody>
      </p:sp>
      <p:sp>
        <p:nvSpPr>
          <p:cNvPr id="1083394" name="Rectangle 2"/>
          <p:cNvSpPr>
            <a:spLocks noGrp="1" noRot="1" noChangeAspect="1" noChangeArrowheads="1" noTextEdit="1"/>
          </p:cNvSpPr>
          <p:nvPr>
            <p:ph type="sldImg"/>
          </p:nvPr>
        </p:nvSpPr>
        <p:spPr>
          <a:xfrm>
            <a:off x="3216275" y="498475"/>
            <a:ext cx="3321050" cy="2490788"/>
          </a:xfrm>
          <a:ln/>
        </p:spPr>
      </p:sp>
    </p:spTree>
    <p:extLst>
      <p:ext uri="{BB962C8B-B14F-4D97-AF65-F5344CB8AC3E}">
        <p14:creationId xmlns:p14="http://schemas.microsoft.com/office/powerpoint/2010/main" val="42108451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Grp="1" noChangeArrowheads="1"/>
          </p:cNvSpPr>
          <p:nvPr>
            <p:ph type="sldNum" sz="quarter" idx="5"/>
          </p:nvPr>
        </p:nvSpPr>
        <p:spPr>
          <a:ln/>
        </p:spPr>
        <p:txBody>
          <a:bodyPr/>
          <a:lstStyle/>
          <a:p>
            <a:fld id="{E79C5F65-5830-41A0-8456-536F462C5A42}" type="slidenum">
              <a:rPr lang="en-US" altLang="en-US"/>
              <a:pPr/>
              <a:t>16</a:t>
            </a:fld>
            <a:endParaRPr lang="en-US" altLang="en-US"/>
          </a:p>
        </p:txBody>
      </p:sp>
      <p:sp>
        <p:nvSpPr>
          <p:cNvPr id="1087490" name="Rectangle 2"/>
          <p:cNvSpPr>
            <a:spLocks noGrp="1" noRot="1" noChangeAspect="1" noChangeArrowheads="1" noTextEdit="1"/>
          </p:cNvSpPr>
          <p:nvPr>
            <p:ph type="sldImg"/>
          </p:nvPr>
        </p:nvSpPr>
        <p:spPr>
          <a:xfrm>
            <a:off x="3216275" y="498475"/>
            <a:ext cx="3321050" cy="2490788"/>
          </a:xfrm>
          <a:ln/>
        </p:spPr>
      </p:sp>
    </p:spTree>
    <p:extLst>
      <p:ext uri="{BB962C8B-B14F-4D97-AF65-F5344CB8AC3E}">
        <p14:creationId xmlns:p14="http://schemas.microsoft.com/office/powerpoint/2010/main" val="27078213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latin typeface="Times-Roman" charset="0"/>
              </a:rPr>
              <a:t>The OSI security architecture focuses on security attacks,mechanisms,and services. </a:t>
            </a:r>
            <a:endParaRPr lang="en-US" altLang="en-US"/>
          </a:p>
        </p:txBody>
      </p:sp>
      <p:sp>
        <p:nvSpPr>
          <p:cNvPr id="2970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5E0E164-02C3-41BE-840D-C684BAFF618F}" type="slidenum">
              <a:rPr lang="en-US" altLang="en-US">
                <a:latin typeface="Calibri" panose="020F0502020204030204" pitchFamily="34" charset="0"/>
              </a:rPr>
              <a:pPr eaLnBrk="1" hangingPunct="1"/>
              <a:t>17</a:t>
            </a:fld>
            <a:endParaRPr lang="en-US" altLang="en-US">
              <a:latin typeface="Calibri" panose="020F0502020204030204" pitchFamily="34" charset="0"/>
            </a:endParaRPr>
          </a:p>
        </p:txBody>
      </p:sp>
    </p:spTree>
    <p:extLst>
      <p:ext uri="{BB962C8B-B14F-4D97-AF65-F5344CB8AC3E}">
        <p14:creationId xmlns:p14="http://schemas.microsoft.com/office/powerpoint/2010/main" val="19571381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International telecommunication union (ITU) telecommunication standardization sector (ITU-T)</a:t>
            </a:r>
          </a:p>
        </p:txBody>
      </p:sp>
      <p:sp>
        <p:nvSpPr>
          <p:cNvPr id="2867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09ECC39-4969-409B-9F83-837E8C38CE21}" type="slidenum">
              <a:rPr lang="en-US" altLang="en-US">
                <a:latin typeface="Calibri" panose="020F0502020204030204" pitchFamily="34" charset="0"/>
              </a:rPr>
              <a:pPr eaLnBrk="1" hangingPunct="1"/>
              <a:t>18</a:t>
            </a:fld>
            <a:endParaRPr lang="en-US" altLang="en-US">
              <a:latin typeface="Calibri" panose="020F0502020204030204" pitchFamily="34" charset="0"/>
            </a:endParaRPr>
          </a:p>
        </p:txBody>
      </p:sp>
    </p:spTree>
    <p:extLst>
      <p:ext uri="{BB962C8B-B14F-4D97-AF65-F5344CB8AC3E}">
        <p14:creationId xmlns:p14="http://schemas.microsoft.com/office/powerpoint/2010/main" val="10364776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A threat is a possible potential danger that might exploit a vulnerability.</a:t>
            </a:r>
          </a:p>
          <a:p>
            <a:pPr eaLnBrk="1" hangingPunct="1">
              <a:spcBef>
                <a:spcPct val="0"/>
              </a:spcBef>
            </a:pPr>
            <a:endParaRPr lang="en-US" altLang="en-US"/>
          </a:p>
          <a:p>
            <a:pPr eaLnBrk="1" hangingPunct="1">
              <a:spcBef>
                <a:spcPct val="0"/>
              </a:spcBef>
            </a:pPr>
            <a:r>
              <a:rPr lang="en-US" altLang="en-US"/>
              <a:t>Is a sequence of commands that take advantage of a vulnerability in order to cause</a:t>
            </a:r>
          </a:p>
          <a:p>
            <a:pPr eaLnBrk="1" hangingPunct="1">
              <a:spcBef>
                <a:spcPct val="0"/>
              </a:spcBef>
            </a:pPr>
            <a:r>
              <a:rPr lang="en-US" altLang="en-US" b="1"/>
              <a:t>vulnerability</a:t>
            </a:r>
            <a:r>
              <a:rPr lang="en-US" altLang="en-US"/>
              <a:t> is applied to a weakness in a system which allows an attacker to violate the integrity of that system.</a:t>
            </a:r>
          </a:p>
        </p:txBody>
      </p:sp>
      <p:sp>
        <p:nvSpPr>
          <p:cNvPr id="3072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98C85A4-B6BE-4598-A6CF-1B3287A49420}" type="slidenum">
              <a:rPr lang="en-US" altLang="en-US">
                <a:latin typeface="Calibri" panose="020F0502020204030204" pitchFamily="34" charset="0"/>
              </a:rPr>
              <a:pPr eaLnBrk="1" hangingPunct="1"/>
              <a:t>19</a:t>
            </a:fld>
            <a:endParaRPr lang="en-US" altLang="en-US">
              <a:latin typeface="Calibri" panose="020F0502020204030204" pitchFamily="34" charset="0"/>
            </a:endParaRPr>
          </a:p>
        </p:txBody>
      </p:sp>
    </p:spTree>
    <p:extLst>
      <p:ext uri="{BB962C8B-B14F-4D97-AF65-F5344CB8AC3E}">
        <p14:creationId xmlns:p14="http://schemas.microsoft.com/office/powerpoint/2010/main" val="36030060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latin typeface="Times-Roman" charset="0"/>
              </a:rPr>
              <a:t>Passive attacks attempt to learn or make use of information from the system but does not affect system resources.</a:t>
            </a:r>
          </a:p>
          <a:p>
            <a:pPr eaLnBrk="1" hangingPunct="1">
              <a:spcBef>
                <a:spcPct val="0"/>
              </a:spcBef>
            </a:pPr>
            <a:r>
              <a:rPr lang="en-US" altLang="en-US">
                <a:latin typeface="Times-Roman" charset="0"/>
              </a:rPr>
              <a:t>By </a:t>
            </a:r>
            <a:r>
              <a:rPr lang="en-AU" altLang="en-US"/>
              <a:t>eavesdropping on, or monitoring of, transmissions to:</a:t>
            </a:r>
          </a:p>
          <a:p>
            <a:pPr lvl="1" eaLnBrk="1" hangingPunct="1">
              <a:spcBef>
                <a:spcPct val="0"/>
              </a:spcBef>
            </a:pPr>
            <a:r>
              <a:rPr lang="en-US" altLang="en-US"/>
              <a:t>+ obtain message contents or</a:t>
            </a:r>
          </a:p>
          <a:p>
            <a:pPr lvl="1" eaLnBrk="1" hangingPunct="1">
              <a:spcBef>
                <a:spcPct val="0"/>
              </a:spcBef>
            </a:pPr>
            <a:r>
              <a:rPr lang="en-US" altLang="en-US"/>
              <a:t>+ monitor traffic flows ( … opponent could determine the frequency and length of messages being exchange this kind of information maybe helpful in determining the nature of communication that was taking place) </a:t>
            </a:r>
          </a:p>
          <a:p>
            <a:pPr eaLnBrk="1" hangingPunct="1">
              <a:spcBef>
                <a:spcPct val="0"/>
              </a:spcBef>
            </a:pPr>
            <a:r>
              <a:rPr lang="en-US" altLang="en-US"/>
              <a:t>Are difficult to detect </a:t>
            </a:r>
            <a:r>
              <a:rPr lang="en-US" altLang="en-US">
                <a:latin typeface="Times-Roman" charset="0"/>
              </a:rPr>
              <a:t>because they do not involve any alteration of the data.</a:t>
            </a:r>
            <a:endParaRPr lang="en-US" altLang="en-US"/>
          </a:p>
          <a:p>
            <a:pPr eaLnBrk="1" hangingPunct="1">
              <a:spcBef>
                <a:spcPct val="0"/>
              </a:spcBef>
            </a:pPr>
            <a:endParaRPr lang="en-US" altLang="en-US"/>
          </a:p>
        </p:txBody>
      </p:sp>
      <p:sp>
        <p:nvSpPr>
          <p:cNvPr id="317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7DB7A25-75D0-493D-A13B-50F350919990}" type="slidenum">
              <a:rPr lang="en-US" altLang="en-US">
                <a:latin typeface="Calibri" panose="020F0502020204030204" pitchFamily="34" charset="0"/>
              </a:rPr>
              <a:pPr eaLnBrk="1" hangingPunct="1"/>
              <a:t>20</a:t>
            </a:fld>
            <a:endParaRPr lang="en-US" altLang="en-US">
              <a:latin typeface="Calibri" panose="020F0502020204030204" pitchFamily="34" charset="0"/>
            </a:endParaRPr>
          </a:p>
        </p:txBody>
      </p:sp>
    </p:spTree>
    <p:extLst>
      <p:ext uri="{BB962C8B-B14F-4D97-AF65-F5344CB8AC3E}">
        <p14:creationId xmlns:p14="http://schemas.microsoft.com/office/powerpoint/2010/main" val="6937264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lnSpc>
                <a:spcPct val="90000"/>
              </a:lnSpc>
              <a:spcBef>
                <a:spcPct val="0"/>
              </a:spcBef>
            </a:pPr>
            <a:r>
              <a:rPr lang="en-AU" altLang="en-US" sz="1100"/>
              <a:t>Active attacks </a:t>
            </a:r>
            <a:r>
              <a:rPr lang="en-US" altLang="en-US">
                <a:latin typeface="Times-Roman" charset="0"/>
              </a:rPr>
              <a:t>attempt to alter system resources or affect their operation.</a:t>
            </a:r>
          </a:p>
          <a:p>
            <a:pPr eaLnBrk="1" hangingPunct="1">
              <a:lnSpc>
                <a:spcPct val="90000"/>
              </a:lnSpc>
              <a:spcBef>
                <a:spcPct val="0"/>
              </a:spcBef>
            </a:pPr>
            <a:r>
              <a:rPr lang="en-US" altLang="en-US">
                <a:latin typeface="Times-Roman" charset="0"/>
              </a:rPr>
              <a:t>By </a:t>
            </a:r>
            <a:r>
              <a:rPr lang="en-AU" altLang="en-US" sz="1100"/>
              <a:t>modification of data stream to:</a:t>
            </a:r>
          </a:p>
          <a:p>
            <a:pPr lvl="1" eaLnBrk="1" hangingPunct="1">
              <a:lnSpc>
                <a:spcPct val="90000"/>
              </a:lnSpc>
              <a:spcBef>
                <a:spcPct val="0"/>
              </a:spcBef>
            </a:pPr>
            <a:r>
              <a:rPr lang="en-US" altLang="en-US" sz="1100"/>
              <a:t>+ masquerade of one entity as some other</a:t>
            </a:r>
            <a:endParaRPr lang="en-AU" altLang="en-US" sz="1100"/>
          </a:p>
          <a:p>
            <a:pPr lvl="1" eaLnBrk="1" hangingPunct="1">
              <a:lnSpc>
                <a:spcPct val="90000"/>
              </a:lnSpc>
              <a:spcBef>
                <a:spcPct val="0"/>
              </a:spcBef>
            </a:pPr>
            <a:r>
              <a:rPr lang="en-US" altLang="en-US" sz="1100"/>
              <a:t>+ replay previous messages (as shown above in </a:t>
            </a:r>
            <a:r>
              <a:rPr lang="en-US" altLang="en-US"/>
              <a:t>Stallings </a:t>
            </a:r>
            <a:r>
              <a:rPr lang="en-US" altLang="en-US" sz="1100"/>
              <a:t>Figure 1.4b)</a:t>
            </a:r>
          </a:p>
          <a:p>
            <a:pPr lvl="1" eaLnBrk="1" hangingPunct="1">
              <a:lnSpc>
                <a:spcPct val="90000"/>
              </a:lnSpc>
              <a:spcBef>
                <a:spcPct val="0"/>
              </a:spcBef>
            </a:pPr>
            <a:r>
              <a:rPr lang="en-US" altLang="en-US" sz="1100"/>
              <a:t>+ modify messages in transit</a:t>
            </a:r>
          </a:p>
          <a:p>
            <a:pPr lvl="1" eaLnBrk="1" hangingPunct="1">
              <a:lnSpc>
                <a:spcPct val="90000"/>
              </a:lnSpc>
              <a:spcBef>
                <a:spcPct val="0"/>
              </a:spcBef>
            </a:pPr>
            <a:r>
              <a:rPr lang="en-US" altLang="en-US" sz="1100"/>
              <a:t>+ denial of service</a:t>
            </a:r>
            <a:endParaRPr lang="en-US" altLang="en-US">
              <a:latin typeface="Times-Roman" charset="0"/>
            </a:endParaRPr>
          </a:p>
          <a:p>
            <a:pPr eaLnBrk="1" hangingPunct="1">
              <a:lnSpc>
                <a:spcPct val="90000"/>
              </a:lnSpc>
              <a:spcBef>
                <a:spcPct val="0"/>
              </a:spcBef>
            </a:pPr>
            <a:r>
              <a:rPr lang="en-US" altLang="en-US">
                <a:latin typeface="Times-Roman" charset="0"/>
              </a:rPr>
              <a:t>Active attacks present the opposite characteristics of passive attacks. Whereas passive attacks are difficult to detect, measures are available to prevent their success. On the other hand, it is quite difficult to prevent active attacks absolutely, because of the wide variety of potential physical,software,and network vulnerabilities. Instead, the goal is to detect active attacks and to recover from any disruption or delays caused by them.</a:t>
            </a:r>
          </a:p>
          <a:p>
            <a:pPr eaLnBrk="1" hangingPunct="1">
              <a:spcBef>
                <a:spcPct val="0"/>
              </a:spcBef>
            </a:pPr>
            <a:endParaRPr lang="en-US" altLang="en-US"/>
          </a:p>
        </p:txBody>
      </p:sp>
      <p:sp>
        <p:nvSpPr>
          <p:cNvPr id="3277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47A0B86-6CDF-4190-B744-33BF7647DE82}" type="slidenum">
              <a:rPr lang="en-US" altLang="en-US">
                <a:latin typeface="Calibri" panose="020F0502020204030204" pitchFamily="34" charset="0"/>
              </a:rPr>
              <a:pPr eaLnBrk="1" hangingPunct="1"/>
              <a:t>21</a:t>
            </a:fld>
            <a:endParaRPr lang="en-US" altLang="en-US">
              <a:latin typeface="Calibri" panose="020F0502020204030204" pitchFamily="34" charset="0"/>
            </a:endParaRPr>
          </a:p>
        </p:txBody>
      </p:sp>
    </p:spTree>
    <p:extLst>
      <p:ext uri="{BB962C8B-B14F-4D97-AF65-F5344CB8AC3E}">
        <p14:creationId xmlns:p14="http://schemas.microsoft.com/office/powerpoint/2010/main" val="24724006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Verdana" panose="020B0604030504040204" pitchFamily="34" charset="0"/>
                <a:ea typeface="MS PGothic" panose="020B0600070205080204" pitchFamily="34" charset="-128"/>
              </a:defRPr>
            </a:lvl1pPr>
            <a:lvl2pPr marL="742950" indent="-285750" defTabSz="930275" eaLnBrk="0" hangingPunct="0">
              <a:defRPr sz="2400">
                <a:solidFill>
                  <a:schemeClr val="tx1"/>
                </a:solidFill>
                <a:latin typeface="Verdana" panose="020B0604030504040204" pitchFamily="34" charset="0"/>
                <a:ea typeface="MS PGothic" panose="020B0600070205080204" pitchFamily="34" charset="-128"/>
              </a:defRPr>
            </a:lvl2pPr>
            <a:lvl3pPr marL="1143000" indent="-228600" defTabSz="930275" eaLnBrk="0" hangingPunct="0">
              <a:defRPr sz="2400">
                <a:solidFill>
                  <a:schemeClr val="tx1"/>
                </a:solidFill>
                <a:latin typeface="Verdana" panose="020B0604030504040204" pitchFamily="34" charset="0"/>
                <a:ea typeface="MS PGothic" panose="020B0600070205080204" pitchFamily="34" charset="-128"/>
              </a:defRPr>
            </a:lvl3pPr>
            <a:lvl4pPr marL="1600200" indent="-228600" defTabSz="930275" eaLnBrk="0" hangingPunct="0">
              <a:defRPr sz="2400">
                <a:solidFill>
                  <a:schemeClr val="tx1"/>
                </a:solidFill>
                <a:latin typeface="Verdana" panose="020B0604030504040204" pitchFamily="34" charset="0"/>
                <a:ea typeface="MS PGothic" panose="020B0600070205080204" pitchFamily="34" charset="-128"/>
              </a:defRPr>
            </a:lvl4pPr>
            <a:lvl5pPr marL="2057400" indent="-228600" defTabSz="930275" eaLnBrk="0" hangingPunct="0">
              <a:defRPr sz="2400">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fld id="{3E95AD51-5532-4645-AC44-C2746C1744AF}" type="slidenum">
              <a:rPr lang="en-US" altLang="en-US" sz="1300">
                <a:latin typeface="Helvetica" panose="020B0604020202020204" pitchFamily="34" charset="0"/>
              </a:rPr>
              <a:pPr/>
              <a:t>23</a:t>
            </a:fld>
            <a:endParaRPr lang="en-US" altLang="en-US" sz="1300">
              <a:latin typeface="Helvetica" panose="020B0604020202020204" pitchFamily="34" charset="0"/>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0227281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Verdana" panose="020B0604030504040204" pitchFamily="34" charset="0"/>
                <a:ea typeface="MS PGothic" panose="020B0600070205080204" pitchFamily="34" charset="-128"/>
              </a:defRPr>
            </a:lvl1pPr>
            <a:lvl2pPr marL="742950" indent="-285750" defTabSz="930275" eaLnBrk="0" hangingPunct="0">
              <a:defRPr sz="2400">
                <a:solidFill>
                  <a:schemeClr val="tx1"/>
                </a:solidFill>
                <a:latin typeface="Verdana" panose="020B0604030504040204" pitchFamily="34" charset="0"/>
                <a:ea typeface="MS PGothic" panose="020B0600070205080204" pitchFamily="34" charset="-128"/>
              </a:defRPr>
            </a:lvl2pPr>
            <a:lvl3pPr marL="1143000" indent="-228600" defTabSz="930275" eaLnBrk="0" hangingPunct="0">
              <a:defRPr sz="2400">
                <a:solidFill>
                  <a:schemeClr val="tx1"/>
                </a:solidFill>
                <a:latin typeface="Verdana" panose="020B0604030504040204" pitchFamily="34" charset="0"/>
                <a:ea typeface="MS PGothic" panose="020B0600070205080204" pitchFamily="34" charset="-128"/>
              </a:defRPr>
            </a:lvl3pPr>
            <a:lvl4pPr marL="1600200" indent="-228600" defTabSz="930275" eaLnBrk="0" hangingPunct="0">
              <a:defRPr sz="2400">
                <a:solidFill>
                  <a:schemeClr val="tx1"/>
                </a:solidFill>
                <a:latin typeface="Verdana" panose="020B0604030504040204" pitchFamily="34" charset="0"/>
                <a:ea typeface="MS PGothic" panose="020B0600070205080204" pitchFamily="34" charset="-128"/>
              </a:defRPr>
            </a:lvl4pPr>
            <a:lvl5pPr marL="2057400" indent="-228600" defTabSz="930275" eaLnBrk="0" hangingPunct="0">
              <a:defRPr sz="2400">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fld id="{E59ADEAC-9D39-4F13-97F8-41C407BE9864}" type="slidenum">
              <a:rPr lang="en-US" altLang="en-US" sz="1300">
                <a:latin typeface="Helvetica" panose="020B0604020202020204" pitchFamily="34" charset="0"/>
              </a:rPr>
              <a:pPr/>
              <a:t>24</a:t>
            </a:fld>
            <a:endParaRPr lang="en-US" altLang="en-US" sz="1300">
              <a:latin typeface="Helvetica"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771576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Verdana" panose="020B0604030504040204" pitchFamily="34" charset="0"/>
                <a:ea typeface="MS PGothic" panose="020B0600070205080204" pitchFamily="34" charset="-128"/>
              </a:defRPr>
            </a:lvl1pPr>
            <a:lvl2pPr marL="742950" indent="-285750" defTabSz="930275" eaLnBrk="0" hangingPunct="0">
              <a:defRPr sz="2400">
                <a:solidFill>
                  <a:schemeClr val="tx1"/>
                </a:solidFill>
                <a:latin typeface="Verdana" panose="020B0604030504040204" pitchFamily="34" charset="0"/>
                <a:ea typeface="MS PGothic" panose="020B0600070205080204" pitchFamily="34" charset="-128"/>
              </a:defRPr>
            </a:lvl2pPr>
            <a:lvl3pPr marL="1143000" indent="-228600" defTabSz="930275" eaLnBrk="0" hangingPunct="0">
              <a:defRPr sz="2400">
                <a:solidFill>
                  <a:schemeClr val="tx1"/>
                </a:solidFill>
                <a:latin typeface="Verdana" panose="020B0604030504040204" pitchFamily="34" charset="0"/>
                <a:ea typeface="MS PGothic" panose="020B0600070205080204" pitchFamily="34" charset="-128"/>
              </a:defRPr>
            </a:lvl3pPr>
            <a:lvl4pPr marL="1600200" indent="-228600" defTabSz="930275" eaLnBrk="0" hangingPunct="0">
              <a:defRPr sz="2400">
                <a:solidFill>
                  <a:schemeClr val="tx1"/>
                </a:solidFill>
                <a:latin typeface="Verdana" panose="020B0604030504040204" pitchFamily="34" charset="0"/>
                <a:ea typeface="MS PGothic" panose="020B0600070205080204" pitchFamily="34" charset="-128"/>
              </a:defRPr>
            </a:lvl4pPr>
            <a:lvl5pPr marL="2057400" indent="-228600" defTabSz="930275" eaLnBrk="0" hangingPunct="0">
              <a:defRPr sz="2400">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fld id="{0880E5B7-C1BA-4AEF-8910-57D4AE928DBC}" type="slidenum">
              <a:rPr lang="en-US" altLang="en-US" sz="1300">
                <a:latin typeface="Helvetica" panose="020B0604020202020204" pitchFamily="34" charset="0"/>
              </a:rPr>
              <a:pPr/>
              <a:t>25</a:t>
            </a:fld>
            <a:endParaRPr lang="en-US" altLang="en-US" sz="1300">
              <a:latin typeface="Helvetica" panose="020B0604020202020204" pitchFamily="34"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067205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Verdana" panose="020B0604030504040204" pitchFamily="34" charset="0"/>
                <a:ea typeface="MS PGothic" panose="020B0600070205080204" pitchFamily="34" charset="-128"/>
              </a:defRPr>
            </a:lvl1pPr>
            <a:lvl2pPr marL="742950" indent="-285750" defTabSz="930275" eaLnBrk="0" hangingPunct="0">
              <a:defRPr sz="2400">
                <a:solidFill>
                  <a:schemeClr val="tx1"/>
                </a:solidFill>
                <a:latin typeface="Verdana" panose="020B0604030504040204" pitchFamily="34" charset="0"/>
                <a:ea typeface="MS PGothic" panose="020B0600070205080204" pitchFamily="34" charset="-128"/>
              </a:defRPr>
            </a:lvl2pPr>
            <a:lvl3pPr marL="1143000" indent="-228600" defTabSz="930275" eaLnBrk="0" hangingPunct="0">
              <a:defRPr sz="2400">
                <a:solidFill>
                  <a:schemeClr val="tx1"/>
                </a:solidFill>
                <a:latin typeface="Verdana" panose="020B0604030504040204" pitchFamily="34" charset="0"/>
                <a:ea typeface="MS PGothic" panose="020B0600070205080204" pitchFamily="34" charset="-128"/>
              </a:defRPr>
            </a:lvl3pPr>
            <a:lvl4pPr marL="1600200" indent="-228600" defTabSz="930275" eaLnBrk="0" hangingPunct="0">
              <a:defRPr sz="2400">
                <a:solidFill>
                  <a:schemeClr val="tx1"/>
                </a:solidFill>
                <a:latin typeface="Verdana" panose="020B0604030504040204" pitchFamily="34" charset="0"/>
                <a:ea typeface="MS PGothic" panose="020B0600070205080204" pitchFamily="34" charset="-128"/>
              </a:defRPr>
            </a:lvl4pPr>
            <a:lvl5pPr marL="2057400" indent="-228600" defTabSz="930275" eaLnBrk="0" hangingPunct="0">
              <a:defRPr sz="2400">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fld id="{9268C5F2-EF4C-49BD-8E55-98E49C31B1DE}" type="slidenum">
              <a:rPr lang="en-US" altLang="en-US" sz="1300">
                <a:latin typeface="Helvetica" panose="020B0604020202020204" pitchFamily="34" charset="0"/>
              </a:rPr>
              <a:pPr/>
              <a:t>27</a:t>
            </a:fld>
            <a:endParaRPr lang="en-US" altLang="en-US" sz="1300">
              <a:latin typeface="Helvetica" panose="020B0604020202020204" pitchFamily="34" charset="0"/>
            </a:endParaRPr>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2671085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Verdana" panose="020B0604030504040204" pitchFamily="34" charset="0"/>
                <a:ea typeface="MS PGothic" panose="020B0600070205080204" pitchFamily="34" charset="-128"/>
              </a:defRPr>
            </a:lvl1pPr>
            <a:lvl2pPr marL="742950" indent="-285750" defTabSz="930275" eaLnBrk="0" hangingPunct="0">
              <a:defRPr sz="2400">
                <a:solidFill>
                  <a:schemeClr val="tx1"/>
                </a:solidFill>
                <a:latin typeface="Verdana" panose="020B0604030504040204" pitchFamily="34" charset="0"/>
                <a:ea typeface="MS PGothic" panose="020B0600070205080204" pitchFamily="34" charset="-128"/>
              </a:defRPr>
            </a:lvl2pPr>
            <a:lvl3pPr marL="1143000" indent="-228600" defTabSz="930275" eaLnBrk="0" hangingPunct="0">
              <a:defRPr sz="2400">
                <a:solidFill>
                  <a:schemeClr val="tx1"/>
                </a:solidFill>
                <a:latin typeface="Verdana" panose="020B0604030504040204" pitchFamily="34" charset="0"/>
                <a:ea typeface="MS PGothic" panose="020B0600070205080204" pitchFamily="34" charset="-128"/>
              </a:defRPr>
            </a:lvl3pPr>
            <a:lvl4pPr marL="1600200" indent="-228600" defTabSz="930275" eaLnBrk="0" hangingPunct="0">
              <a:defRPr sz="2400">
                <a:solidFill>
                  <a:schemeClr val="tx1"/>
                </a:solidFill>
                <a:latin typeface="Verdana" panose="020B0604030504040204" pitchFamily="34" charset="0"/>
                <a:ea typeface="MS PGothic" panose="020B0600070205080204" pitchFamily="34" charset="-128"/>
              </a:defRPr>
            </a:lvl4pPr>
            <a:lvl5pPr marL="2057400" indent="-228600" defTabSz="930275" eaLnBrk="0" hangingPunct="0">
              <a:defRPr sz="2400">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fld id="{71EB55DD-80D6-414E-9C54-07E3167C0E39}" type="slidenum">
              <a:rPr lang="en-US" altLang="en-US" sz="1300">
                <a:latin typeface="Helvetica" panose="020B0604020202020204" pitchFamily="34" charset="0"/>
              </a:rPr>
              <a:pPr/>
              <a:t>28</a:t>
            </a:fld>
            <a:endParaRPr lang="en-US" altLang="en-US" sz="1300">
              <a:latin typeface="Helvetica" panose="020B0604020202020204" pitchFamily="34" charset="0"/>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16845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Verdana" panose="020B0604030504040204" pitchFamily="34" charset="0"/>
                <a:ea typeface="MS PGothic" panose="020B0600070205080204" pitchFamily="34" charset="-128"/>
              </a:defRPr>
            </a:lvl1pPr>
            <a:lvl2pPr marL="742950" indent="-285750" defTabSz="930275" eaLnBrk="0" hangingPunct="0">
              <a:defRPr sz="2400">
                <a:solidFill>
                  <a:schemeClr val="tx1"/>
                </a:solidFill>
                <a:latin typeface="Verdana" panose="020B0604030504040204" pitchFamily="34" charset="0"/>
                <a:ea typeface="MS PGothic" panose="020B0600070205080204" pitchFamily="34" charset="-128"/>
              </a:defRPr>
            </a:lvl2pPr>
            <a:lvl3pPr marL="1143000" indent="-228600" defTabSz="930275" eaLnBrk="0" hangingPunct="0">
              <a:defRPr sz="2400">
                <a:solidFill>
                  <a:schemeClr val="tx1"/>
                </a:solidFill>
                <a:latin typeface="Verdana" panose="020B0604030504040204" pitchFamily="34" charset="0"/>
                <a:ea typeface="MS PGothic" panose="020B0600070205080204" pitchFamily="34" charset="-128"/>
              </a:defRPr>
            </a:lvl3pPr>
            <a:lvl4pPr marL="1600200" indent="-228600" defTabSz="930275" eaLnBrk="0" hangingPunct="0">
              <a:defRPr sz="2400">
                <a:solidFill>
                  <a:schemeClr val="tx1"/>
                </a:solidFill>
                <a:latin typeface="Verdana" panose="020B0604030504040204" pitchFamily="34" charset="0"/>
                <a:ea typeface="MS PGothic" panose="020B0600070205080204" pitchFamily="34" charset="-128"/>
              </a:defRPr>
            </a:lvl4pPr>
            <a:lvl5pPr marL="2057400" indent="-228600" defTabSz="930275" eaLnBrk="0" hangingPunct="0">
              <a:defRPr sz="2400">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fld id="{A0A13447-D2F7-4F2D-A03C-3E5A0DB65A7A}" type="slidenum">
              <a:rPr lang="en-US" altLang="en-US" sz="1300">
                <a:latin typeface="Helvetica" panose="020B0604020202020204" pitchFamily="34" charset="0"/>
              </a:rPr>
              <a:pPr/>
              <a:t>29</a:t>
            </a:fld>
            <a:endParaRPr lang="en-US" altLang="en-US" sz="1300">
              <a:latin typeface="Helvetica" panose="020B0604020202020204" pitchFamily="34"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165721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Verdana" panose="020B0604030504040204" pitchFamily="34" charset="0"/>
                <a:ea typeface="MS PGothic" panose="020B0600070205080204" pitchFamily="34" charset="-128"/>
              </a:defRPr>
            </a:lvl1pPr>
            <a:lvl2pPr marL="742950" indent="-285750" defTabSz="930275" eaLnBrk="0" hangingPunct="0">
              <a:defRPr sz="2400">
                <a:solidFill>
                  <a:schemeClr val="tx1"/>
                </a:solidFill>
                <a:latin typeface="Verdana" panose="020B0604030504040204" pitchFamily="34" charset="0"/>
                <a:ea typeface="MS PGothic" panose="020B0600070205080204" pitchFamily="34" charset="-128"/>
              </a:defRPr>
            </a:lvl2pPr>
            <a:lvl3pPr marL="1143000" indent="-228600" defTabSz="930275" eaLnBrk="0" hangingPunct="0">
              <a:defRPr sz="2400">
                <a:solidFill>
                  <a:schemeClr val="tx1"/>
                </a:solidFill>
                <a:latin typeface="Verdana" panose="020B0604030504040204" pitchFamily="34" charset="0"/>
                <a:ea typeface="MS PGothic" panose="020B0600070205080204" pitchFamily="34" charset="-128"/>
              </a:defRPr>
            </a:lvl3pPr>
            <a:lvl4pPr marL="1600200" indent="-228600" defTabSz="930275" eaLnBrk="0" hangingPunct="0">
              <a:defRPr sz="2400">
                <a:solidFill>
                  <a:schemeClr val="tx1"/>
                </a:solidFill>
                <a:latin typeface="Verdana" panose="020B0604030504040204" pitchFamily="34" charset="0"/>
                <a:ea typeface="MS PGothic" panose="020B0600070205080204" pitchFamily="34" charset="-128"/>
              </a:defRPr>
            </a:lvl4pPr>
            <a:lvl5pPr marL="2057400" indent="-228600" defTabSz="930275" eaLnBrk="0" hangingPunct="0">
              <a:defRPr sz="2400">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fld id="{B55DE79E-4B62-4032-83DE-80B9F73C220E}" type="slidenum">
              <a:rPr lang="en-US" altLang="en-US" sz="1300">
                <a:latin typeface="Helvetica" panose="020B0604020202020204" pitchFamily="34" charset="0"/>
              </a:rPr>
              <a:pPr/>
              <a:t>30</a:t>
            </a:fld>
            <a:endParaRPr lang="en-US" altLang="en-US" sz="1300">
              <a:latin typeface="Helvetica" panose="020B0604020202020204" pitchFamily="34"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114692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Verdana" panose="020B0604030504040204" pitchFamily="34" charset="0"/>
                <a:ea typeface="MS PGothic" panose="020B0600070205080204" pitchFamily="34" charset="-128"/>
              </a:defRPr>
            </a:lvl1pPr>
            <a:lvl2pPr marL="742950" indent="-285750" defTabSz="930275" eaLnBrk="0" hangingPunct="0">
              <a:defRPr sz="2400">
                <a:solidFill>
                  <a:schemeClr val="tx1"/>
                </a:solidFill>
                <a:latin typeface="Verdana" panose="020B0604030504040204" pitchFamily="34" charset="0"/>
                <a:ea typeface="MS PGothic" panose="020B0600070205080204" pitchFamily="34" charset="-128"/>
              </a:defRPr>
            </a:lvl2pPr>
            <a:lvl3pPr marL="1143000" indent="-228600" defTabSz="930275" eaLnBrk="0" hangingPunct="0">
              <a:defRPr sz="2400">
                <a:solidFill>
                  <a:schemeClr val="tx1"/>
                </a:solidFill>
                <a:latin typeface="Verdana" panose="020B0604030504040204" pitchFamily="34" charset="0"/>
                <a:ea typeface="MS PGothic" panose="020B0600070205080204" pitchFamily="34" charset="-128"/>
              </a:defRPr>
            </a:lvl3pPr>
            <a:lvl4pPr marL="1600200" indent="-228600" defTabSz="930275" eaLnBrk="0" hangingPunct="0">
              <a:defRPr sz="2400">
                <a:solidFill>
                  <a:schemeClr val="tx1"/>
                </a:solidFill>
                <a:latin typeface="Verdana" panose="020B0604030504040204" pitchFamily="34" charset="0"/>
                <a:ea typeface="MS PGothic" panose="020B0600070205080204" pitchFamily="34" charset="-128"/>
              </a:defRPr>
            </a:lvl4pPr>
            <a:lvl5pPr marL="2057400" indent="-228600" defTabSz="930275" eaLnBrk="0" hangingPunct="0">
              <a:defRPr sz="2400">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fld id="{02D07D5A-BF1B-45D6-A105-BBB6CCE4CCC2}" type="slidenum">
              <a:rPr lang="en-US" altLang="en-US" sz="1300">
                <a:latin typeface="Helvetica" panose="020B0604020202020204" pitchFamily="34" charset="0"/>
              </a:rPr>
              <a:pPr/>
              <a:t>32</a:t>
            </a:fld>
            <a:endParaRPr lang="en-US" altLang="en-US" sz="1300">
              <a:latin typeface="Helvetica" panose="020B0604020202020204" pitchFamily="34" charset="0"/>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1923470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2EBA187-3F9C-4A31-ABE2-454C7EF753BC}" type="slidenum">
              <a:rPr lang="en-US" altLang="en-US" sz="1300">
                <a:latin typeface="Helvetica" panose="020B0604020202020204" pitchFamily="34" charset="0"/>
              </a:rPr>
              <a:pPr>
                <a:spcBef>
                  <a:spcPct val="0"/>
                </a:spcBef>
              </a:pPr>
              <a:t>34</a:t>
            </a:fld>
            <a:endParaRPr lang="en-US" altLang="en-US" sz="1300">
              <a:latin typeface="Helvetica" panose="020B0604020202020204" pitchFamily="34" charset="0"/>
            </a:endParaRPr>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0468433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p:cNvGrpSpPr>
            <a:grpSpLocks/>
          </p:cNvGrpSpPr>
          <p:nvPr/>
        </p:nvGrpSpPr>
        <p:grpSpPr bwMode="auto">
          <a:xfrm>
            <a:off x="198438" y="2960688"/>
            <a:ext cx="8610600" cy="201612"/>
            <a:chOff x="125" y="1865"/>
            <a:chExt cx="5424" cy="127"/>
          </a:xfrm>
        </p:grpSpPr>
        <p:sp>
          <p:nvSpPr>
            <p:cNvPr id="4" name="Rectangle 4"/>
            <p:cNvSpPr>
              <a:spLocks noChangeArrowheads="1"/>
            </p:cNvSpPr>
            <p:nvPr/>
          </p:nvSpPr>
          <p:spPr bwMode="auto">
            <a:xfrm>
              <a:off x="125"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cy-GB" altLang="en-US"/>
            </a:p>
          </p:txBody>
        </p:sp>
        <p:sp>
          <p:nvSpPr>
            <p:cNvPr id="5" name="Rectangle 5"/>
            <p:cNvSpPr>
              <a:spLocks noChangeArrowheads="1"/>
            </p:cNvSpPr>
            <p:nvPr/>
          </p:nvSpPr>
          <p:spPr bwMode="auto">
            <a:xfrm>
              <a:off x="1933" y="1865"/>
              <a:ext cx="1808" cy="127"/>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cy-GB" altLang="en-US"/>
            </a:p>
          </p:txBody>
        </p:sp>
        <p:sp>
          <p:nvSpPr>
            <p:cNvPr id="6" name="Rectangle 6"/>
            <p:cNvSpPr>
              <a:spLocks noChangeArrowheads="1"/>
            </p:cNvSpPr>
            <p:nvPr/>
          </p:nvSpPr>
          <p:spPr bwMode="auto">
            <a:xfrm>
              <a:off x="3741"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cy-GB" altLang="en-US"/>
            </a:p>
          </p:txBody>
        </p:sp>
      </p:gr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a:t>Click to edit Master title style</a:t>
            </a:r>
          </a:p>
        </p:txBody>
      </p:sp>
    </p:spTree>
    <p:extLst>
      <p:ext uri="{BB962C8B-B14F-4D97-AF65-F5344CB8AC3E}">
        <p14:creationId xmlns:p14="http://schemas.microsoft.com/office/powerpoint/2010/main" val="8847552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59859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7453630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71620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4086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83910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44770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537571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073826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427913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788334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title"/>
          </p:nvPr>
        </p:nvSpPr>
        <p:spPr bwMode="auto">
          <a:xfrm>
            <a:off x="457200" y="27781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Rectangle 4"/>
          <p:cNvSpPr>
            <a:spLocks noGrp="1" noChangeArrowheads="1"/>
          </p:cNvSpPr>
          <p:nvPr>
            <p:ph type="body" idx="1"/>
          </p:nvPr>
        </p:nvSpPr>
        <p:spPr bwMode="auto">
          <a:xfrm>
            <a:off x="806450" y="1233488"/>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5"/>
          <p:cNvSpPr>
            <a:spLocks noChangeArrowheads="1"/>
          </p:cNvSpPr>
          <p:nvPr/>
        </p:nvSpPr>
        <p:spPr bwMode="auto">
          <a:xfrm>
            <a:off x="0" y="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cy-GB" altLang="en-US" sz="2400">
              <a:latin typeface="Times New Roman" panose="02020603050405020304" pitchFamily="18" charset="0"/>
            </a:endParaRPr>
          </a:p>
        </p:txBody>
      </p:sp>
      <p:sp>
        <p:nvSpPr>
          <p:cNvPr id="1029" name="Line 6"/>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0" name="Rectangle 7"/>
          <p:cNvSpPr>
            <a:spLocks noChangeArrowheads="1"/>
          </p:cNvSpPr>
          <p:nvPr/>
        </p:nvSpPr>
        <p:spPr bwMode="auto">
          <a:xfrm>
            <a:off x="0" y="2286000"/>
            <a:ext cx="228600" cy="22860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cy-GB" altLang="en-US" sz="2400">
              <a:latin typeface="Times New Roman" panose="02020603050405020304" pitchFamily="18" charset="0"/>
            </a:endParaRPr>
          </a:p>
        </p:txBody>
      </p:sp>
      <p:sp>
        <p:nvSpPr>
          <p:cNvPr id="1031" name="Rectangle 8"/>
          <p:cNvSpPr>
            <a:spLocks noChangeArrowheads="1"/>
          </p:cNvSpPr>
          <p:nvPr/>
        </p:nvSpPr>
        <p:spPr bwMode="auto">
          <a:xfrm>
            <a:off x="0" y="457200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cy-GB" altLang="en-US" sz="240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890" r:id="rId1"/>
    <p:sldLayoutId id="2147483880" r:id="rId2"/>
    <p:sldLayoutId id="2147483881" r:id="rId3"/>
    <p:sldLayoutId id="2147483882" r:id="rId4"/>
    <p:sldLayoutId id="2147483883" r:id="rId5"/>
    <p:sldLayoutId id="2147483884" r:id="rId6"/>
    <p:sldLayoutId id="2147483885" r:id="rId7"/>
    <p:sldLayoutId id="2147483886" r:id="rId8"/>
    <p:sldLayoutId id="2147483887" r:id="rId9"/>
    <p:sldLayoutId id="2147483888" r:id="rId10"/>
    <p:sldLayoutId id="2147483889"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endParaRPr lang="cy-GB" altLang="en-US"/>
          </a:p>
        </p:txBody>
      </p:sp>
      <p:sp>
        <p:nvSpPr>
          <p:cNvPr id="3" name="Content Placeholder 2"/>
          <p:cNvSpPr>
            <a:spLocks noGrp="1"/>
          </p:cNvSpPr>
          <p:nvPr>
            <p:ph idx="1"/>
          </p:nvPr>
        </p:nvSpPr>
        <p:spPr>
          <a:xfrm>
            <a:off x="457200" y="746600"/>
            <a:ext cx="8229600" cy="4530725"/>
          </a:xfrm>
        </p:spPr>
        <p:txBody>
          <a:bodyPr/>
          <a:lstStyle/>
          <a:p>
            <a:pPr marL="0" indent="0">
              <a:buFont typeface="Monotype Sorts" pitchFamily="-84" charset="2"/>
              <a:buNone/>
              <a:defRPr/>
            </a:pPr>
            <a:endParaRPr lang="en-GB" sz="4400" dirty="0"/>
          </a:p>
          <a:p>
            <a:pPr marL="0" indent="0" algn="ctr">
              <a:buFont typeface="Monotype Sorts" pitchFamily="-84" charset="2"/>
              <a:buNone/>
              <a:defRPr/>
            </a:pPr>
            <a:r>
              <a:rPr lang="en-GB" sz="5400" dirty="0">
                <a:solidFill>
                  <a:schemeClr val="bg2">
                    <a:lumMod val="75000"/>
                  </a:schemeClr>
                </a:solidFill>
              </a:rPr>
              <a:t>Information Security Essentials </a:t>
            </a:r>
          </a:p>
          <a:p>
            <a:pPr marL="0" indent="0" algn="ctr">
              <a:lnSpc>
                <a:spcPct val="150000"/>
              </a:lnSpc>
              <a:buFont typeface="Monotype Sorts" pitchFamily="-84" charset="2"/>
              <a:buNone/>
              <a:defRPr/>
            </a:pPr>
            <a:r>
              <a:rPr lang="en-GB" sz="3600" dirty="0">
                <a:solidFill>
                  <a:schemeClr val="bg2">
                    <a:lumMod val="75000"/>
                  </a:schemeClr>
                </a:solidFill>
              </a:rPr>
              <a:t>Week 7 – Lecture 15, </a:t>
            </a:r>
          </a:p>
          <a:p>
            <a:pPr marL="0" indent="0" algn="ctr">
              <a:lnSpc>
                <a:spcPct val="150000"/>
              </a:lnSpc>
              <a:buFont typeface="Monotype Sorts" pitchFamily="-84" charset="2"/>
              <a:buNone/>
              <a:defRPr/>
            </a:pPr>
            <a:r>
              <a:rPr lang="en-GB" sz="3600" dirty="0">
                <a:solidFill>
                  <a:schemeClr val="bg2">
                    <a:lumMod val="75000"/>
                  </a:schemeClr>
                </a:solidFill>
              </a:rPr>
              <a:t>02-11-2021</a:t>
            </a:r>
          </a:p>
          <a:p>
            <a:pPr marL="0" indent="0" algn="ctr">
              <a:lnSpc>
                <a:spcPct val="150000"/>
              </a:lnSpc>
              <a:buFont typeface="Monotype Sorts" pitchFamily="-84" charset="2"/>
              <a:buNone/>
              <a:defRPr/>
            </a:pPr>
            <a:r>
              <a:rPr lang="en-GB" sz="2800" dirty="0">
                <a:solidFill>
                  <a:schemeClr val="bg2">
                    <a:lumMod val="75000"/>
                  </a:schemeClr>
                </a:solidFill>
              </a:rPr>
              <a:t>Presented by: Syed </a:t>
            </a:r>
            <a:r>
              <a:rPr lang="en-GB" sz="2800" dirty="0" err="1">
                <a:solidFill>
                  <a:schemeClr val="bg2">
                    <a:lumMod val="75000"/>
                  </a:schemeClr>
                </a:solidFill>
              </a:rPr>
              <a:t>Yawar</a:t>
            </a:r>
            <a:r>
              <a:rPr lang="en-GB" sz="2800" dirty="0">
                <a:solidFill>
                  <a:schemeClr val="bg2">
                    <a:lumMod val="75000"/>
                  </a:schemeClr>
                </a:solidFill>
              </a:rPr>
              <a:t> </a:t>
            </a:r>
            <a:r>
              <a:rPr lang="en-GB" sz="2800">
                <a:solidFill>
                  <a:schemeClr val="bg2">
                    <a:lumMod val="75000"/>
                  </a:schemeClr>
                </a:solidFill>
              </a:rPr>
              <a:t>Abbas Zaidi</a:t>
            </a:r>
            <a:endParaRPr lang="en-GB" sz="2800" dirty="0"/>
          </a:p>
          <a:p>
            <a:pPr marL="0" indent="0" algn="ctr">
              <a:buFont typeface="Monotype Sorts" pitchFamily="-84" charset="2"/>
              <a:buNone/>
              <a:defRPr/>
            </a:pPr>
            <a:endParaRPr lang="en-GB" sz="3200" dirty="0"/>
          </a:p>
          <a:p>
            <a:pPr marL="0" indent="0">
              <a:buFont typeface="Monotype Sorts" pitchFamily="-84" charset="2"/>
              <a:buNone/>
              <a:defRPr/>
            </a:pPr>
            <a:endParaRPr lang="cy-GB" dirty="0"/>
          </a:p>
        </p:txBody>
      </p:sp>
      <p:sp>
        <p:nvSpPr>
          <p:cNvPr id="4" name="Rectangle 3"/>
          <p:cNvSpPr/>
          <p:nvPr/>
        </p:nvSpPr>
        <p:spPr bwMode="auto">
          <a:xfrm>
            <a:off x="5854700" y="6230938"/>
            <a:ext cx="3275013" cy="612775"/>
          </a:xfrm>
          <a:prstGeom prst="rect">
            <a:avLst/>
          </a:prstGeom>
          <a:solidFill>
            <a:schemeClr val="accent3"/>
          </a:solidFill>
          <a:ln w="9525" cap="flat" cmpd="sng" algn="ctr">
            <a:solidFill>
              <a:schemeClr val="accent3"/>
            </a:solidFill>
            <a:prstDash val="solid"/>
            <a:round/>
            <a:headEnd type="none" w="med" len="med"/>
            <a:tailEnd type="none" w="med" len="med"/>
          </a:ln>
          <a:effectLst/>
        </p:spPr>
        <p:txBody>
          <a:bodyPr wrap="none"/>
          <a:lstStyle/>
          <a:p>
            <a:pPr>
              <a:defRPr/>
            </a:pPr>
            <a:endParaRPr lang="cy-GB">
              <a:latin typeface="Verdana" charset="0"/>
            </a:endParaRPr>
          </a:p>
        </p:txBody>
      </p:sp>
      <p:sp>
        <p:nvSpPr>
          <p:cNvPr id="5" name="Rectangle 4"/>
          <p:cNvSpPr/>
          <p:nvPr/>
        </p:nvSpPr>
        <p:spPr bwMode="auto">
          <a:xfrm>
            <a:off x="274638" y="6243638"/>
            <a:ext cx="3276600" cy="614362"/>
          </a:xfrm>
          <a:prstGeom prst="rect">
            <a:avLst/>
          </a:prstGeom>
          <a:solidFill>
            <a:schemeClr val="accent3"/>
          </a:solidFill>
          <a:ln w="9525" cap="flat" cmpd="sng" algn="ctr">
            <a:solidFill>
              <a:schemeClr val="accent3"/>
            </a:solidFill>
            <a:prstDash val="solid"/>
            <a:round/>
            <a:headEnd type="none" w="med" len="med"/>
            <a:tailEnd type="none" w="med" len="med"/>
          </a:ln>
          <a:effectLst/>
        </p:spPr>
        <p:txBody>
          <a:bodyPr wrap="none"/>
          <a:lstStyle/>
          <a:p>
            <a:pPr>
              <a:defRPr/>
            </a:pPr>
            <a:endParaRPr lang="cy-GB">
              <a:latin typeface="Verdana"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ltLang="en-US" dirty="0"/>
              <a:t>Another case study </a:t>
            </a:r>
          </a:p>
        </p:txBody>
      </p:sp>
      <p:sp>
        <p:nvSpPr>
          <p:cNvPr id="28675" name="Rectangle 3"/>
          <p:cNvSpPr>
            <a:spLocks noGrp="1" noChangeArrowheads="1"/>
          </p:cNvSpPr>
          <p:nvPr>
            <p:ph type="body" idx="1"/>
          </p:nvPr>
        </p:nvSpPr>
        <p:spPr>
          <a:xfrm>
            <a:off x="457200" y="854075"/>
            <a:ext cx="8466463" cy="5712246"/>
          </a:xfrm>
        </p:spPr>
        <p:txBody>
          <a:bodyPr/>
          <a:lstStyle/>
          <a:p>
            <a:pPr marL="0" indent="0">
              <a:buFont typeface="Monotype Sorts" pitchFamily="-84" charset="2"/>
              <a:buNone/>
            </a:pPr>
            <a:r>
              <a:rPr lang="en-US" altLang="en-US" sz="2400" dirty="0"/>
              <a:t>Read the following incident and try to find which security breach/breaches occurred, and what can go wrong.</a:t>
            </a:r>
          </a:p>
          <a:p>
            <a:pPr marL="0" indent="0">
              <a:buFont typeface="Monotype Sorts" pitchFamily="-84" charset="2"/>
              <a:buNone/>
            </a:pPr>
            <a:endParaRPr lang="en-US" altLang="en-US" sz="2400" dirty="0"/>
          </a:p>
          <a:p>
            <a:pPr marL="0" indent="0">
              <a:buNone/>
            </a:pPr>
            <a:r>
              <a:rPr lang="en-GB" sz="2000" dirty="0">
                <a:solidFill>
                  <a:srgbClr val="002060"/>
                </a:solidFill>
              </a:rPr>
              <a:t>"</a:t>
            </a:r>
            <a:r>
              <a:rPr lang="en-US" sz="2000" i="1" dirty="0">
                <a:solidFill>
                  <a:srgbClr val="002060"/>
                </a:solidFill>
              </a:rPr>
              <a:t>In early February, a hotel franchise management company that manages 168 hotels in 21 states suffered a data breach that exposed hundreds of guests’ debit and credit cards information in 2013. </a:t>
            </a:r>
          </a:p>
          <a:p>
            <a:pPr marL="0" indent="0">
              <a:buNone/>
            </a:pPr>
            <a:r>
              <a:rPr lang="en-US" sz="2000" i="1" dirty="0">
                <a:solidFill>
                  <a:srgbClr val="002060"/>
                </a:solidFill>
              </a:rPr>
              <a:t>White Lodging Services Corporation maintains hotel franchises for some of the top names in lodging such as Hilton, Marriott, Westin and Sheraton. Sources reported that the data breach centered mainly around the gift shops and restaurants within these hotels managed by White Lodging, not necessarily the front desk computers where guests pay for their rooms”.</a:t>
            </a:r>
          </a:p>
          <a:p>
            <a:pPr marL="0" indent="0">
              <a:buNone/>
            </a:pPr>
            <a:endParaRPr lang="en-US" sz="1900" i="1" dirty="0">
              <a:solidFill>
                <a:srgbClr val="002060"/>
              </a:solidFill>
            </a:endParaRPr>
          </a:p>
          <a:p>
            <a:pPr marL="0" indent="0" algn="r">
              <a:buNone/>
            </a:pPr>
            <a:r>
              <a:rPr lang="en-GB" sz="1400" dirty="0"/>
              <a:t>[</a:t>
            </a:r>
            <a:r>
              <a:rPr lang="cy-GB" sz="1400" u="sng" dirty="0"/>
              <a:t>http://www.forbes.com/sites/moneybuilder/2015/01/13/the-big-data-breaches-of-2014/</a:t>
            </a:r>
            <a:r>
              <a:rPr lang="cy-GB" sz="1400" dirty="0"/>
              <a:t>]</a:t>
            </a:r>
            <a:endParaRPr lang="en-US" sz="1400" dirty="0"/>
          </a:p>
          <a:p>
            <a:pPr marL="0" indent="0">
              <a:buFont typeface="Monotype Sorts" pitchFamily="-84" charset="2"/>
              <a:buNone/>
            </a:pPr>
            <a:endParaRPr lang="en-US" altLang="en-US" sz="2400" dirty="0"/>
          </a:p>
          <a:p>
            <a:pPr marL="0" indent="0">
              <a:buFont typeface="Monotype Sorts" pitchFamily="-84" charset="2"/>
              <a:buNone/>
            </a:pPr>
            <a:endParaRPr lang="en-US" altLang="en-US" sz="2400" i="1" dirty="0"/>
          </a:p>
          <a:p>
            <a:pPr marL="0" indent="0" algn="r">
              <a:buFont typeface="Monotype Sorts" pitchFamily="-84" charset="2"/>
              <a:buNone/>
            </a:pPr>
            <a:r>
              <a:rPr lang="en-US" altLang="en-US" dirty="0"/>
              <a:t>				</a:t>
            </a:r>
          </a:p>
        </p:txBody>
      </p:sp>
    </p:spTree>
    <p:extLst>
      <p:ext uri="{BB962C8B-B14F-4D97-AF65-F5344CB8AC3E}">
        <p14:creationId xmlns:p14="http://schemas.microsoft.com/office/powerpoint/2010/main" val="502393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7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67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Finding about the case studies</a:t>
            </a:r>
          </a:p>
        </p:txBody>
      </p:sp>
      <p:sp>
        <p:nvSpPr>
          <p:cNvPr id="3" name="Content Placeholder 2"/>
          <p:cNvSpPr>
            <a:spLocks noGrp="1"/>
          </p:cNvSpPr>
          <p:nvPr>
            <p:ph idx="1"/>
          </p:nvPr>
        </p:nvSpPr>
        <p:spPr/>
        <p:txBody>
          <a:bodyPr/>
          <a:lstStyle/>
          <a:p>
            <a:r>
              <a:rPr lang="en-US" sz="2400" dirty="0"/>
              <a:t>There are hundreds and hundreds of security breaches accruing around us.</a:t>
            </a:r>
          </a:p>
          <a:p>
            <a:r>
              <a:rPr lang="en-US" sz="2400" dirty="0"/>
              <a:t>All companies, organizations and individual needs to be vigilant.</a:t>
            </a:r>
          </a:p>
          <a:p>
            <a:r>
              <a:rPr lang="en-US" sz="2400" dirty="0"/>
              <a:t>Security must be deployed at multiple levels </a:t>
            </a:r>
          </a:p>
          <a:p>
            <a:endParaRPr lang="en-US" dirty="0"/>
          </a:p>
        </p:txBody>
      </p:sp>
      <p:pic>
        <p:nvPicPr>
          <p:cNvPr id="5" name="Picture 4"/>
          <p:cNvPicPr>
            <a:picLocks noChangeAspect="1"/>
          </p:cNvPicPr>
          <p:nvPr/>
        </p:nvPicPr>
        <p:blipFill>
          <a:blip r:embed="rId2"/>
          <a:stretch>
            <a:fillRect/>
          </a:stretch>
        </p:blipFill>
        <p:spPr>
          <a:xfrm>
            <a:off x="4503421" y="3769905"/>
            <a:ext cx="4640580" cy="3088095"/>
          </a:xfrm>
          <a:prstGeom prst="rect">
            <a:avLst/>
          </a:prstGeom>
        </p:spPr>
      </p:pic>
    </p:spTree>
    <p:extLst>
      <p:ext uri="{BB962C8B-B14F-4D97-AF65-F5344CB8AC3E}">
        <p14:creationId xmlns:p14="http://schemas.microsoft.com/office/powerpoint/2010/main" val="31965198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Security needs and objectives</a:t>
            </a:r>
          </a:p>
        </p:txBody>
      </p:sp>
      <p:sp>
        <p:nvSpPr>
          <p:cNvPr id="3" name="Content Placeholder 2"/>
          <p:cNvSpPr>
            <a:spLocks noGrp="1"/>
          </p:cNvSpPr>
          <p:nvPr>
            <p:ph idx="1"/>
          </p:nvPr>
        </p:nvSpPr>
        <p:spPr>
          <a:xfrm>
            <a:off x="543560" y="1530668"/>
            <a:ext cx="8229600" cy="4530725"/>
          </a:xfrm>
        </p:spPr>
        <p:txBody>
          <a:bodyPr/>
          <a:lstStyle/>
          <a:p>
            <a:pPr marL="285750" lvl="1"/>
            <a:r>
              <a:rPr lang="en-US" altLang="en-US" sz="2400" dirty="0">
                <a:solidFill>
                  <a:srgbClr val="CC3300"/>
                </a:solidFill>
              </a:rPr>
              <a:t>Authentication</a:t>
            </a:r>
            <a:r>
              <a:rPr lang="en-US" altLang="en-US" sz="2400" dirty="0"/>
              <a:t> (who is the person, server, software etc.)</a:t>
            </a:r>
          </a:p>
          <a:p>
            <a:pPr marL="285750" lvl="1"/>
            <a:r>
              <a:rPr lang="en-US" altLang="en-US" sz="2400" dirty="0">
                <a:solidFill>
                  <a:srgbClr val="CC3300"/>
                </a:solidFill>
              </a:rPr>
              <a:t>Authorization</a:t>
            </a:r>
            <a:r>
              <a:rPr lang="en-US" altLang="en-US" sz="2400" dirty="0"/>
              <a:t> (what is that person allowed to do)</a:t>
            </a:r>
          </a:p>
          <a:p>
            <a:pPr marL="285750" lvl="1"/>
            <a:r>
              <a:rPr lang="en-US" altLang="en-US" sz="2400" dirty="0">
                <a:solidFill>
                  <a:srgbClr val="CC3300"/>
                </a:solidFill>
              </a:rPr>
              <a:t>Privacy</a:t>
            </a:r>
            <a:r>
              <a:rPr lang="en-US" altLang="en-US" sz="2400" dirty="0"/>
              <a:t> (controlling one’s personal information)</a:t>
            </a:r>
          </a:p>
          <a:p>
            <a:pPr marL="285750" lvl="1"/>
            <a:r>
              <a:rPr lang="en-US" altLang="en-US" sz="2400" dirty="0">
                <a:solidFill>
                  <a:srgbClr val="CC3300"/>
                </a:solidFill>
              </a:rPr>
              <a:t>Anonymity</a:t>
            </a:r>
            <a:r>
              <a:rPr lang="en-US" altLang="en-US" sz="2400" dirty="0"/>
              <a:t> (remaining unidentified to others)</a:t>
            </a:r>
          </a:p>
          <a:p>
            <a:pPr marL="285750" lvl="1"/>
            <a:r>
              <a:rPr lang="en-US" altLang="en-US" sz="2400" dirty="0">
                <a:solidFill>
                  <a:srgbClr val="CC3300"/>
                </a:solidFill>
              </a:rPr>
              <a:t>Non-repudiation</a:t>
            </a:r>
            <a:r>
              <a:rPr lang="en-US" altLang="en-US" sz="2400" dirty="0"/>
              <a:t> (user can’t deny having taken an action)</a:t>
            </a:r>
          </a:p>
          <a:p>
            <a:pPr marL="285750" lvl="1"/>
            <a:r>
              <a:rPr lang="en-US" altLang="en-US" sz="2400" dirty="0">
                <a:solidFill>
                  <a:srgbClr val="CC3300"/>
                </a:solidFill>
              </a:rPr>
              <a:t>Audit</a:t>
            </a:r>
            <a:r>
              <a:rPr lang="en-US" altLang="en-US" sz="2400" dirty="0"/>
              <a:t> (having traces of actions in separate systems/places)</a:t>
            </a:r>
          </a:p>
          <a:p>
            <a:endParaRPr lang="en-US" dirty="0"/>
          </a:p>
        </p:txBody>
      </p:sp>
    </p:spTree>
    <p:extLst>
      <p:ext uri="{BB962C8B-B14F-4D97-AF65-F5344CB8AC3E}">
        <p14:creationId xmlns:p14="http://schemas.microsoft.com/office/powerpoint/2010/main" val="1334042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9842" name="Rectangle 2"/>
          <p:cNvSpPr>
            <a:spLocks noGrp="1" noChangeArrowheads="1"/>
          </p:cNvSpPr>
          <p:nvPr>
            <p:ph type="title"/>
          </p:nvPr>
        </p:nvSpPr>
        <p:spPr/>
        <p:txBody>
          <a:bodyPr/>
          <a:lstStyle/>
          <a:p>
            <a:r>
              <a:rPr lang="en-US" altLang="en-US"/>
              <a:t>Safety vs. security</a:t>
            </a:r>
          </a:p>
        </p:txBody>
      </p:sp>
      <p:sp>
        <p:nvSpPr>
          <p:cNvPr id="1059843" name="Rectangle 3"/>
          <p:cNvSpPr>
            <a:spLocks noGrp="1" noChangeArrowheads="1"/>
          </p:cNvSpPr>
          <p:nvPr>
            <p:ph type="body" idx="1"/>
          </p:nvPr>
        </p:nvSpPr>
        <p:spPr/>
        <p:txBody>
          <a:bodyPr/>
          <a:lstStyle/>
          <a:p>
            <a:r>
              <a:rPr lang="en-US" altLang="en-US" dirty="0">
                <a:solidFill>
                  <a:srgbClr val="CC3300"/>
                </a:solidFill>
              </a:rPr>
              <a:t>Safety</a:t>
            </a:r>
            <a:r>
              <a:rPr lang="en-US" altLang="en-US" dirty="0"/>
              <a:t> is about protecting from </a:t>
            </a:r>
            <a:r>
              <a:rPr lang="en-US" altLang="en-US" dirty="0">
                <a:solidFill>
                  <a:srgbClr val="CC3300"/>
                </a:solidFill>
              </a:rPr>
              <a:t>accidental</a:t>
            </a:r>
            <a:r>
              <a:rPr lang="en-US" altLang="en-US" dirty="0"/>
              <a:t> risks</a:t>
            </a:r>
          </a:p>
          <a:p>
            <a:pPr lvl="1"/>
            <a:r>
              <a:rPr lang="en-US" altLang="en-US" dirty="0"/>
              <a:t>road safety</a:t>
            </a:r>
          </a:p>
          <a:p>
            <a:pPr lvl="1"/>
            <a:r>
              <a:rPr lang="en-US" altLang="en-US" dirty="0"/>
              <a:t>air travel safety</a:t>
            </a:r>
          </a:p>
          <a:p>
            <a:pPr lvl="1"/>
            <a:endParaRPr lang="en-US" altLang="en-US" dirty="0"/>
          </a:p>
          <a:p>
            <a:r>
              <a:rPr lang="en-US" altLang="en-US" dirty="0">
                <a:solidFill>
                  <a:srgbClr val="CC3300"/>
                </a:solidFill>
              </a:rPr>
              <a:t>Security</a:t>
            </a:r>
            <a:r>
              <a:rPr lang="en-US" altLang="en-US" dirty="0"/>
              <a:t> is about mitigating risks of dangers </a:t>
            </a:r>
            <a:br>
              <a:rPr lang="en-US" altLang="en-US" dirty="0"/>
            </a:br>
            <a:r>
              <a:rPr lang="en-US" altLang="en-US" dirty="0"/>
              <a:t>caused by </a:t>
            </a:r>
            <a:r>
              <a:rPr lang="en-US" altLang="en-US" dirty="0">
                <a:solidFill>
                  <a:srgbClr val="CC3300"/>
                </a:solidFill>
              </a:rPr>
              <a:t>intentional, malicious actions</a:t>
            </a:r>
          </a:p>
          <a:p>
            <a:pPr lvl="1"/>
            <a:r>
              <a:rPr lang="en-US" altLang="en-US" dirty="0"/>
              <a:t>homeland security</a:t>
            </a:r>
          </a:p>
          <a:p>
            <a:pPr lvl="1"/>
            <a:r>
              <a:rPr lang="en-US" altLang="en-US" dirty="0"/>
              <a:t>airport and aircraft security</a:t>
            </a:r>
          </a:p>
          <a:p>
            <a:pPr lvl="1"/>
            <a:r>
              <a:rPr lang="en-US" altLang="en-US" dirty="0"/>
              <a:t>information and computer security</a:t>
            </a:r>
          </a:p>
          <a:p>
            <a:pPr lvl="1"/>
            <a:endParaRPr lang="en-US" altLang="en-US" dirty="0"/>
          </a:p>
          <a:p>
            <a:pPr marL="57150" lvl="1" indent="0">
              <a:buNone/>
            </a:pPr>
            <a:r>
              <a:rPr lang="en-US" altLang="en-US" dirty="0"/>
              <a:t>Easier to protect against accidental than malicious misuse</a:t>
            </a:r>
          </a:p>
          <a:p>
            <a:pPr marL="457200" lvl="1" indent="0">
              <a:buNone/>
            </a:pPr>
            <a:endParaRPr lang="en-US" altLang="en-US" dirty="0"/>
          </a:p>
          <a:p>
            <a:pPr lvl="1"/>
            <a:endParaRPr lang="en-US" altLang="en-US" dirty="0"/>
          </a:p>
        </p:txBody>
      </p:sp>
    </p:spTree>
    <p:extLst>
      <p:ext uri="{BB962C8B-B14F-4D97-AF65-F5344CB8AC3E}">
        <p14:creationId xmlns:p14="http://schemas.microsoft.com/office/powerpoint/2010/main" val="3495016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3938" name="Rectangle 2"/>
          <p:cNvSpPr>
            <a:spLocks noGrp="1" noChangeArrowheads="1"/>
          </p:cNvSpPr>
          <p:nvPr>
            <p:ph type="title"/>
          </p:nvPr>
        </p:nvSpPr>
        <p:spPr/>
        <p:txBody>
          <a:bodyPr/>
          <a:lstStyle/>
          <a:p>
            <a:r>
              <a:rPr lang="en-US" altLang="en-US" dirty="0"/>
              <a:t>Why security is difficult to achieve?</a:t>
            </a:r>
          </a:p>
        </p:txBody>
      </p:sp>
      <p:sp>
        <p:nvSpPr>
          <p:cNvPr id="1063939" name="Rectangle 3"/>
          <p:cNvSpPr>
            <a:spLocks noGrp="1" noChangeArrowheads="1"/>
          </p:cNvSpPr>
          <p:nvPr>
            <p:ph type="body" idx="1"/>
          </p:nvPr>
        </p:nvSpPr>
        <p:spPr>
          <a:xfrm>
            <a:off x="600075" y="1131529"/>
            <a:ext cx="7943850" cy="3876435"/>
          </a:xfrm>
        </p:spPr>
        <p:txBody>
          <a:bodyPr>
            <a:noAutofit/>
          </a:bodyPr>
          <a:lstStyle/>
          <a:p>
            <a:r>
              <a:rPr lang="en-US" altLang="en-US" sz="2400" dirty="0"/>
              <a:t>Security in computer systems – even </a:t>
            </a:r>
            <a:r>
              <a:rPr lang="en-US" altLang="en-US" sz="2400" dirty="0">
                <a:solidFill>
                  <a:srgbClr val="CC3300"/>
                </a:solidFill>
              </a:rPr>
              <a:t>harder</a:t>
            </a:r>
            <a:r>
              <a:rPr lang="en-US" altLang="en-US" sz="2400" dirty="0"/>
              <a:t>: </a:t>
            </a:r>
          </a:p>
          <a:p>
            <a:pPr lvl="1"/>
            <a:r>
              <a:rPr lang="en-US" altLang="en-US" sz="2400" dirty="0"/>
              <a:t>great complexity</a:t>
            </a:r>
          </a:p>
          <a:p>
            <a:pPr lvl="1"/>
            <a:r>
              <a:rPr lang="en-US" altLang="en-US" sz="2400" dirty="0"/>
              <a:t>dependency on the Operating System, </a:t>
            </a:r>
            <a:br>
              <a:rPr lang="en-US" altLang="en-US" sz="2400" dirty="0"/>
            </a:br>
            <a:r>
              <a:rPr lang="en-US" altLang="en-US" sz="2400" dirty="0"/>
              <a:t>File System, network, physical access etc.</a:t>
            </a:r>
          </a:p>
          <a:p>
            <a:r>
              <a:rPr lang="en-US" altLang="en-US" sz="2400" dirty="0"/>
              <a:t>Software/system security is </a:t>
            </a:r>
            <a:r>
              <a:rPr lang="en-US" altLang="en-US" sz="2400" dirty="0">
                <a:solidFill>
                  <a:srgbClr val="CC3300"/>
                </a:solidFill>
              </a:rPr>
              <a:t>difficult to measure</a:t>
            </a:r>
            <a:r>
              <a:rPr lang="en-US" altLang="en-US" sz="2400" dirty="0"/>
              <a:t> </a:t>
            </a:r>
          </a:p>
          <a:p>
            <a:pPr lvl="1"/>
            <a:r>
              <a:rPr lang="en-US" altLang="en-US" sz="2400" i="1" dirty="0"/>
              <a:t>function a() is 30% more secure than function b() </a:t>
            </a:r>
            <a:r>
              <a:rPr lang="en-US" altLang="en-US" sz="2400" dirty="0"/>
              <a:t>?</a:t>
            </a:r>
          </a:p>
          <a:p>
            <a:pPr lvl="1"/>
            <a:r>
              <a:rPr lang="en-US" altLang="en-US" sz="2400" dirty="0"/>
              <a:t>there are no security metrics</a:t>
            </a:r>
          </a:p>
          <a:p>
            <a:r>
              <a:rPr lang="en-US" altLang="en-US" sz="2400" dirty="0"/>
              <a:t>How to test security?</a:t>
            </a:r>
          </a:p>
          <a:p>
            <a:r>
              <a:rPr lang="en-US" altLang="en-US" sz="2400" dirty="0"/>
              <a:t>Deadline pressure</a:t>
            </a:r>
          </a:p>
          <a:p>
            <a:r>
              <a:rPr lang="en-US" altLang="en-US" sz="2400" dirty="0"/>
              <a:t>Clients don’t demand security</a:t>
            </a:r>
          </a:p>
          <a:p>
            <a:r>
              <a:rPr lang="en-US" altLang="en-US" sz="2400" dirty="0"/>
              <a:t>… and can’t sue a vendor </a:t>
            </a:r>
          </a:p>
        </p:txBody>
      </p:sp>
    </p:spTree>
    <p:extLst>
      <p:ext uri="{BB962C8B-B14F-4D97-AF65-F5344CB8AC3E}">
        <p14:creationId xmlns:p14="http://schemas.microsoft.com/office/powerpoint/2010/main" val="15901142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0082" name="Rectangle 2"/>
          <p:cNvSpPr>
            <a:spLocks noGrp="1" noChangeArrowheads="1"/>
          </p:cNvSpPr>
          <p:nvPr>
            <p:ph type="title"/>
          </p:nvPr>
        </p:nvSpPr>
        <p:spPr/>
        <p:txBody>
          <a:bodyPr/>
          <a:lstStyle/>
          <a:p>
            <a:r>
              <a:rPr lang="en-US" altLang="en-US" dirty="0"/>
              <a:t>Threat Modeling and Risk Assessment </a:t>
            </a:r>
          </a:p>
        </p:txBody>
      </p:sp>
      <p:sp>
        <p:nvSpPr>
          <p:cNvPr id="1070083" name="Rectangle 3"/>
          <p:cNvSpPr>
            <a:spLocks noGrp="1" noChangeArrowheads="1"/>
          </p:cNvSpPr>
          <p:nvPr>
            <p:ph type="body" idx="1"/>
          </p:nvPr>
        </p:nvSpPr>
        <p:spPr/>
        <p:txBody>
          <a:bodyPr/>
          <a:lstStyle/>
          <a:p>
            <a:r>
              <a:rPr lang="en-US" altLang="en-US" sz="2400" dirty="0">
                <a:solidFill>
                  <a:srgbClr val="CC3300"/>
                </a:solidFill>
              </a:rPr>
              <a:t>Threat modeling</a:t>
            </a:r>
            <a:r>
              <a:rPr lang="en-US" altLang="en-US" sz="2400" dirty="0"/>
              <a:t>: what threats will the system face?</a:t>
            </a:r>
          </a:p>
          <a:p>
            <a:pPr lvl="1"/>
            <a:r>
              <a:rPr lang="en-US" altLang="en-US" sz="2400" dirty="0"/>
              <a:t>what could go wrong? </a:t>
            </a:r>
          </a:p>
          <a:p>
            <a:pPr lvl="1"/>
            <a:r>
              <a:rPr lang="en-US" altLang="en-US" sz="2400" dirty="0"/>
              <a:t>how could the system be attacked and by whom?</a:t>
            </a:r>
          </a:p>
          <a:p>
            <a:endParaRPr lang="en-US" altLang="en-US" sz="2400" dirty="0">
              <a:solidFill>
                <a:srgbClr val="CC3300"/>
              </a:solidFill>
            </a:endParaRPr>
          </a:p>
          <a:p>
            <a:r>
              <a:rPr lang="en-US" altLang="en-US" sz="2400" dirty="0">
                <a:solidFill>
                  <a:srgbClr val="CC3300"/>
                </a:solidFill>
              </a:rPr>
              <a:t>Risk assessment</a:t>
            </a:r>
            <a:r>
              <a:rPr lang="en-US" altLang="en-US" sz="2400" dirty="0"/>
              <a:t>: how much to worry about them?</a:t>
            </a:r>
          </a:p>
          <a:p>
            <a:pPr lvl="1"/>
            <a:r>
              <a:rPr lang="en-US" altLang="en-US" sz="2400" dirty="0"/>
              <a:t>calculate or estimate potential loss and its likelihood </a:t>
            </a:r>
          </a:p>
          <a:p>
            <a:pPr lvl="1"/>
            <a:r>
              <a:rPr lang="en-US" altLang="en-US" sz="2400" dirty="0"/>
              <a:t>risk management – reduce both probability </a:t>
            </a:r>
            <a:r>
              <a:rPr lang="en-US" altLang="en-US" sz="2400" i="1" dirty="0"/>
              <a:t>and </a:t>
            </a:r>
            <a:r>
              <a:rPr lang="en-US" altLang="en-US" sz="2400" dirty="0"/>
              <a:t>consequences of a security breach</a:t>
            </a:r>
          </a:p>
        </p:txBody>
      </p:sp>
    </p:spTree>
    <p:extLst>
      <p:ext uri="{BB962C8B-B14F-4D97-AF65-F5344CB8AC3E}">
        <p14:creationId xmlns:p14="http://schemas.microsoft.com/office/powerpoint/2010/main" val="29403806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2130" name="Rectangle 2"/>
          <p:cNvSpPr>
            <a:spLocks noGrp="1" noChangeArrowheads="1"/>
          </p:cNvSpPr>
          <p:nvPr>
            <p:ph type="body" idx="1"/>
          </p:nvPr>
        </p:nvSpPr>
        <p:spPr/>
        <p:txBody>
          <a:bodyPr/>
          <a:lstStyle/>
          <a:p>
            <a:r>
              <a:rPr lang="en-US" altLang="en-US" sz="2400" i="1" dirty="0"/>
              <a:t>Secure against what and from whom</a:t>
            </a:r>
            <a:r>
              <a:rPr lang="en-US" altLang="en-US" sz="2400" dirty="0"/>
              <a:t>?</a:t>
            </a:r>
          </a:p>
          <a:p>
            <a:pPr lvl="1"/>
            <a:r>
              <a:rPr lang="en-US" altLang="en-US" sz="2400" dirty="0"/>
              <a:t>who will be using the application?</a:t>
            </a:r>
          </a:p>
          <a:p>
            <a:pPr lvl="1"/>
            <a:r>
              <a:rPr lang="en-US" altLang="en-US" sz="2400" dirty="0"/>
              <a:t>what does the user (and the admin) care about?</a:t>
            </a:r>
          </a:p>
          <a:p>
            <a:pPr lvl="1"/>
            <a:r>
              <a:rPr lang="en-US" altLang="en-US" sz="2400" dirty="0"/>
              <a:t>where will the application run?</a:t>
            </a:r>
            <a:br>
              <a:rPr lang="en-US" altLang="en-US" sz="2400" dirty="0"/>
            </a:br>
            <a:r>
              <a:rPr lang="en-US" altLang="en-US" sz="2400" dirty="0"/>
              <a:t>(on a local system as Administrator/root? An intranet application? As a web service available to the public? On a mobile phone?)</a:t>
            </a:r>
          </a:p>
          <a:p>
            <a:pPr lvl="1"/>
            <a:r>
              <a:rPr lang="en-US" altLang="en-US" sz="2400" dirty="0"/>
              <a:t>what are you trying to protect and against whom?</a:t>
            </a:r>
          </a:p>
          <a:p>
            <a:r>
              <a:rPr lang="en-US" altLang="en-US" sz="2400" dirty="0"/>
              <a:t>Steps to take</a:t>
            </a:r>
          </a:p>
          <a:p>
            <a:pPr lvl="1"/>
            <a:r>
              <a:rPr lang="en-US" altLang="en-US" sz="2400" dirty="0">
                <a:solidFill>
                  <a:srgbClr val="CC3300"/>
                </a:solidFill>
              </a:rPr>
              <a:t>Evaluate</a:t>
            </a:r>
            <a:r>
              <a:rPr lang="en-US" altLang="en-US" sz="2400" dirty="0"/>
              <a:t> threats, risks and consequences</a:t>
            </a:r>
          </a:p>
          <a:p>
            <a:pPr lvl="1"/>
            <a:r>
              <a:rPr lang="en-US" altLang="en-US" sz="2400" dirty="0">
                <a:solidFill>
                  <a:srgbClr val="CC3300"/>
                </a:solidFill>
              </a:rPr>
              <a:t>Address</a:t>
            </a:r>
            <a:r>
              <a:rPr lang="en-US" altLang="en-US" sz="2400" dirty="0"/>
              <a:t> the threats and </a:t>
            </a:r>
            <a:r>
              <a:rPr lang="en-US" altLang="en-US" sz="2400" dirty="0">
                <a:solidFill>
                  <a:srgbClr val="CC3300"/>
                </a:solidFill>
              </a:rPr>
              <a:t>mitigate</a:t>
            </a:r>
            <a:r>
              <a:rPr lang="en-US" altLang="en-US" sz="2400" dirty="0"/>
              <a:t> the risks</a:t>
            </a:r>
          </a:p>
        </p:txBody>
      </p:sp>
      <p:sp>
        <p:nvSpPr>
          <p:cNvPr id="1072131" name="Rectangle 3"/>
          <p:cNvSpPr>
            <a:spLocks noGrp="1" noChangeArrowheads="1"/>
          </p:cNvSpPr>
          <p:nvPr>
            <p:ph type="title"/>
          </p:nvPr>
        </p:nvSpPr>
        <p:spPr/>
        <p:txBody>
          <a:bodyPr/>
          <a:lstStyle/>
          <a:p>
            <a:r>
              <a:rPr lang="en-US" altLang="en-US" dirty="0"/>
              <a:t>Threat Modeling and Risk Assessment</a:t>
            </a:r>
          </a:p>
        </p:txBody>
      </p:sp>
    </p:spTree>
    <p:extLst>
      <p:ext uri="{BB962C8B-B14F-4D97-AF65-F5344CB8AC3E}">
        <p14:creationId xmlns:p14="http://schemas.microsoft.com/office/powerpoint/2010/main" val="1095938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4178" name="Rectangle 2"/>
          <p:cNvSpPr>
            <a:spLocks noGrp="1" noChangeArrowheads="1"/>
          </p:cNvSpPr>
          <p:nvPr>
            <p:ph type="title"/>
          </p:nvPr>
        </p:nvSpPr>
        <p:spPr/>
        <p:txBody>
          <a:bodyPr/>
          <a:lstStyle/>
          <a:p>
            <a:r>
              <a:rPr lang="en-US" altLang="en-US"/>
              <a:t>How much security?</a:t>
            </a:r>
          </a:p>
        </p:txBody>
      </p:sp>
      <p:sp>
        <p:nvSpPr>
          <p:cNvPr id="1074179" name="Rectangle 3"/>
          <p:cNvSpPr>
            <a:spLocks noGrp="1" noChangeArrowheads="1"/>
          </p:cNvSpPr>
          <p:nvPr>
            <p:ph type="body" idx="1"/>
          </p:nvPr>
        </p:nvSpPr>
        <p:spPr>
          <a:xfrm>
            <a:off x="811530" y="1108710"/>
            <a:ext cx="7692390" cy="5303519"/>
          </a:xfrm>
        </p:spPr>
        <p:txBody>
          <a:bodyPr>
            <a:noAutofit/>
          </a:bodyPr>
          <a:lstStyle/>
          <a:p>
            <a:r>
              <a:rPr lang="en-US" altLang="en-US" dirty="0">
                <a:solidFill>
                  <a:srgbClr val="CC3300"/>
                </a:solidFill>
              </a:rPr>
              <a:t>Total</a:t>
            </a:r>
            <a:r>
              <a:rPr lang="en-US" altLang="en-US" dirty="0"/>
              <a:t> security is unachievable</a:t>
            </a:r>
          </a:p>
          <a:p>
            <a:endParaRPr lang="en-US" altLang="en-US" sz="1100" dirty="0">
              <a:solidFill>
                <a:srgbClr val="CC3300"/>
              </a:solidFill>
            </a:endParaRPr>
          </a:p>
          <a:p>
            <a:r>
              <a:rPr lang="en-US" altLang="en-US" dirty="0"/>
              <a:t>A </a:t>
            </a:r>
            <a:r>
              <a:rPr lang="en-US" altLang="en-US" dirty="0">
                <a:solidFill>
                  <a:srgbClr val="CC3300"/>
                </a:solidFill>
              </a:rPr>
              <a:t>trade-off</a:t>
            </a:r>
            <a:r>
              <a:rPr lang="en-US" altLang="en-US" dirty="0"/>
              <a:t>: more security often means</a:t>
            </a:r>
          </a:p>
          <a:p>
            <a:pPr lvl="1"/>
            <a:r>
              <a:rPr lang="en-US" altLang="en-US" dirty="0"/>
              <a:t>higher cost</a:t>
            </a:r>
          </a:p>
          <a:p>
            <a:pPr lvl="1"/>
            <a:r>
              <a:rPr lang="en-US" altLang="en-US" dirty="0"/>
              <a:t>less convenience / productivity / functionality</a:t>
            </a:r>
          </a:p>
          <a:p>
            <a:pPr lvl="1">
              <a:buFont typeface="Wingdings" panose="05000000000000000000" pitchFamily="2" charset="2"/>
              <a:buNone/>
            </a:pPr>
            <a:endParaRPr lang="en-US" altLang="en-US" sz="1200" dirty="0"/>
          </a:p>
          <a:p>
            <a:r>
              <a:rPr lang="en-US" altLang="en-US" dirty="0"/>
              <a:t>Security measures should be as </a:t>
            </a:r>
            <a:r>
              <a:rPr lang="en-US" altLang="en-US" dirty="0">
                <a:solidFill>
                  <a:srgbClr val="CC3300"/>
                </a:solidFill>
              </a:rPr>
              <a:t>invisible</a:t>
            </a:r>
            <a:r>
              <a:rPr lang="en-US" altLang="en-US" dirty="0"/>
              <a:t> as possible</a:t>
            </a:r>
          </a:p>
          <a:p>
            <a:pPr lvl="1"/>
            <a:r>
              <a:rPr lang="en-US" altLang="en-US" dirty="0"/>
              <a:t>cannot irritate users or slow down the software (too much) </a:t>
            </a:r>
          </a:p>
          <a:p>
            <a:pPr lvl="1"/>
            <a:r>
              <a:rPr lang="en-US" altLang="en-US" dirty="0"/>
              <a:t>example: forcing a password change everyday </a:t>
            </a:r>
          </a:p>
          <a:p>
            <a:pPr lvl="1"/>
            <a:r>
              <a:rPr lang="en-US" altLang="en-US" dirty="0"/>
              <a:t>users will find a workaround, or just stop using it</a:t>
            </a:r>
          </a:p>
          <a:p>
            <a:pPr lvl="1"/>
            <a:endParaRPr lang="en-US" altLang="en-US" sz="1200" dirty="0"/>
          </a:p>
          <a:p>
            <a:r>
              <a:rPr lang="en-US" altLang="en-US" dirty="0"/>
              <a:t>Choose security level </a:t>
            </a:r>
            <a:r>
              <a:rPr lang="en-US" altLang="en-US" dirty="0">
                <a:solidFill>
                  <a:srgbClr val="CC3300"/>
                </a:solidFill>
              </a:rPr>
              <a:t>relevant </a:t>
            </a:r>
            <a:r>
              <a:rPr lang="en-US" altLang="en-US" dirty="0"/>
              <a:t>to your needs</a:t>
            </a:r>
          </a:p>
        </p:txBody>
      </p:sp>
    </p:spTree>
    <p:extLst>
      <p:ext uri="{BB962C8B-B14F-4D97-AF65-F5344CB8AC3E}">
        <p14:creationId xmlns:p14="http://schemas.microsoft.com/office/powerpoint/2010/main" val="42398132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Testing Security </a:t>
            </a:r>
          </a:p>
        </p:txBody>
      </p:sp>
      <p:sp>
        <p:nvSpPr>
          <p:cNvPr id="3" name="Content Placeholder 2"/>
          <p:cNvSpPr>
            <a:spLocks noGrp="1"/>
          </p:cNvSpPr>
          <p:nvPr>
            <p:ph idx="1"/>
          </p:nvPr>
        </p:nvSpPr>
        <p:spPr/>
        <p:txBody>
          <a:bodyPr/>
          <a:lstStyle/>
          <a:p>
            <a:r>
              <a:rPr lang="en-US" sz="2400" dirty="0"/>
              <a:t>Penetration Testing:</a:t>
            </a:r>
          </a:p>
          <a:p>
            <a:r>
              <a:rPr lang="en-US" sz="2400" dirty="0"/>
              <a:t>Penetration test is a proactive and authorized attempt to evaluate the security of an IT infrastructure by safely attempting to exploit system vulnerabilities, including OS, service and application flaws, improper configurations, and even risky end-user behavior. Such assessments are also useful in validating the efficacy of defensive mechanisms, as well as end-users’ adherence to security policies. – </a:t>
            </a:r>
          </a:p>
          <a:p>
            <a:endParaRPr lang="en-US" dirty="0"/>
          </a:p>
          <a:p>
            <a:endParaRPr lang="en-US" dirty="0"/>
          </a:p>
          <a:p>
            <a:r>
              <a:rPr lang="en-US" dirty="0"/>
              <a:t>See more at: http://www.coresecurity.com/penetration-testing-overview#sthash.B23EFh9Z.dpuf</a:t>
            </a:r>
          </a:p>
        </p:txBody>
      </p:sp>
    </p:spTree>
    <p:extLst>
      <p:ext uri="{BB962C8B-B14F-4D97-AF65-F5344CB8AC3E}">
        <p14:creationId xmlns:p14="http://schemas.microsoft.com/office/powerpoint/2010/main" val="3645667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Penetration Testing Tools</a:t>
            </a:r>
          </a:p>
        </p:txBody>
      </p:sp>
      <p:pic>
        <p:nvPicPr>
          <p:cNvPr id="5" name="Content Placeholder 4"/>
          <p:cNvPicPr>
            <a:picLocks noGrp="1" noChangeAspect="1"/>
          </p:cNvPicPr>
          <p:nvPr>
            <p:ph idx="1"/>
          </p:nvPr>
        </p:nvPicPr>
        <p:blipFill>
          <a:blip r:embed="rId2"/>
          <a:stretch>
            <a:fillRect/>
          </a:stretch>
        </p:blipFill>
        <p:spPr>
          <a:xfrm>
            <a:off x="6176962" y="3149283"/>
            <a:ext cx="1247775" cy="1133475"/>
          </a:xfrm>
          <a:prstGeom prst="rect">
            <a:avLst/>
          </a:prstGeom>
        </p:spPr>
      </p:pic>
      <p:pic>
        <p:nvPicPr>
          <p:cNvPr id="4" name="Picture 3"/>
          <p:cNvPicPr>
            <a:picLocks noChangeAspect="1"/>
          </p:cNvPicPr>
          <p:nvPr/>
        </p:nvPicPr>
        <p:blipFill>
          <a:blip r:embed="rId3"/>
          <a:stretch>
            <a:fillRect/>
          </a:stretch>
        </p:blipFill>
        <p:spPr>
          <a:xfrm>
            <a:off x="5724525" y="1579245"/>
            <a:ext cx="2152650" cy="1047750"/>
          </a:xfrm>
          <a:prstGeom prst="rect">
            <a:avLst/>
          </a:prstGeom>
        </p:spPr>
      </p:pic>
      <p:pic>
        <p:nvPicPr>
          <p:cNvPr id="6" name="Picture 5"/>
          <p:cNvPicPr>
            <a:picLocks noChangeAspect="1"/>
          </p:cNvPicPr>
          <p:nvPr/>
        </p:nvPicPr>
        <p:blipFill>
          <a:blip r:embed="rId4"/>
          <a:stretch>
            <a:fillRect/>
          </a:stretch>
        </p:blipFill>
        <p:spPr>
          <a:xfrm>
            <a:off x="6086474" y="4932045"/>
            <a:ext cx="1428750" cy="1428750"/>
          </a:xfrm>
          <a:prstGeom prst="rect">
            <a:avLst/>
          </a:prstGeom>
        </p:spPr>
      </p:pic>
      <p:sp>
        <p:nvSpPr>
          <p:cNvPr id="7" name="Rectangle 4"/>
          <p:cNvSpPr txBox="1">
            <a:spLocks noChangeArrowheads="1"/>
          </p:cNvSpPr>
          <p:nvPr/>
        </p:nvSpPr>
        <p:spPr bwMode="auto">
          <a:xfrm>
            <a:off x="571500" y="1162050"/>
            <a:ext cx="5292090" cy="519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67866" indent="0" defTabSz="342900">
              <a:lnSpc>
                <a:spcPct val="83000"/>
              </a:lnSpc>
              <a:buFont typeface="Monotype Sorts" pitchFamily="-84" charset="2"/>
              <a:buNone/>
            </a:pPr>
            <a:r>
              <a:rPr lang="en-US" altLang="en-US" sz="2600" kern="0" dirty="0" err="1">
                <a:solidFill>
                  <a:srgbClr val="CC6600"/>
                </a:solidFill>
              </a:rPr>
              <a:t>Aircrak</a:t>
            </a:r>
            <a:r>
              <a:rPr lang="en-US" altLang="en-US" sz="2600" kern="0" dirty="0">
                <a:solidFill>
                  <a:srgbClr val="CC6600"/>
                </a:solidFill>
              </a:rPr>
              <a:t>: </a:t>
            </a:r>
          </a:p>
          <a:p>
            <a:pPr marL="67866" indent="0" defTabSz="342900">
              <a:lnSpc>
                <a:spcPct val="83000"/>
              </a:lnSpc>
              <a:buNone/>
            </a:pPr>
            <a:endParaRPr lang="en-US" dirty="0"/>
          </a:p>
          <a:p>
            <a:pPr marL="67866" indent="0" defTabSz="342900">
              <a:lnSpc>
                <a:spcPct val="83000"/>
              </a:lnSpc>
              <a:buNone/>
            </a:pPr>
            <a:r>
              <a:rPr lang="en-US" dirty="0"/>
              <a:t>802.11 WEP and WPA-PSK keys cracking program</a:t>
            </a:r>
            <a:endParaRPr lang="en-US" altLang="en-US" kern="0" dirty="0"/>
          </a:p>
          <a:p>
            <a:pPr marL="67866" indent="0" defTabSz="342900">
              <a:lnSpc>
                <a:spcPct val="83000"/>
              </a:lnSpc>
              <a:buFont typeface="Monotype Sorts" pitchFamily="-84" charset="2"/>
              <a:buNone/>
            </a:pPr>
            <a:endParaRPr lang="en-US" altLang="en-US" kern="0" dirty="0"/>
          </a:p>
          <a:p>
            <a:pPr marL="67866" indent="0" defTabSz="342900">
              <a:lnSpc>
                <a:spcPct val="83000"/>
              </a:lnSpc>
              <a:buFont typeface="Monotype Sorts" pitchFamily="-84" charset="2"/>
              <a:buNone/>
            </a:pPr>
            <a:endParaRPr lang="en-US" altLang="en-US" kern="0" dirty="0"/>
          </a:p>
          <a:p>
            <a:pPr marL="67866" indent="0" defTabSz="342900">
              <a:lnSpc>
                <a:spcPct val="83000"/>
              </a:lnSpc>
              <a:buFont typeface="Monotype Sorts" pitchFamily="-84" charset="2"/>
              <a:buNone/>
            </a:pPr>
            <a:r>
              <a:rPr lang="en-US" altLang="en-US" sz="2600" kern="0" dirty="0">
                <a:solidFill>
                  <a:srgbClr val="CC6600"/>
                </a:solidFill>
              </a:rPr>
              <a:t>Angry IP Scanner:</a:t>
            </a:r>
          </a:p>
          <a:p>
            <a:pPr marL="67866" indent="0" defTabSz="342900">
              <a:lnSpc>
                <a:spcPct val="83000"/>
              </a:lnSpc>
              <a:buNone/>
            </a:pPr>
            <a:r>
              <a:rPr lang="en-US" dirty="0"/>
              <a:t>It scans IP addresses and ports as well as has many other features. It is widely used by network administrators</a:t>
            </a:r>
            <a:endParaRPr lang="en-US" altLang="en-US" kern="0" dirty="0">
              <a:solidFill>
                <a:srgbClr val="CC3300"/>
              </a:solidFill>
            </a:endParaRPr>
          </a:p>
          <a:p>
            <a:pPr marL="67866" indent="0" defTabSz="342900">
              <a:lnSpc>
                <a:spcPct val="83000"/>
              </a:lnSpc>
              <a:buFont typeface="Monotype Sorts" pitchFamily="-84" charset="2"/>
              <a:buNone/>
            </a:pPr>
            <a:endParaRPr lang="en-US" altLang="en-US" kern="0" dirty="0">
              <a:solidFill>
                <a:srgbClr val="CC3300"/>
              </a:solidFill>
            </a:endParaRPr>
          </a:p>
          <a:p>
            <a:pPr marL="67866" indent="0" defTabSz="342900">
              <a:lnSpc>
                <a:spcPct val="83000"/>
              </a:lnSpc>
              <a:buFont typeface="Monotype Sorts" pitchFamily="-84" charset="2"/>
              <a:buNone/>
            </a:pPr>
            <a:endParaRPr lang="en-US" altLang="en-US" kern="0" dirty="0"/>
          </a:p>
          <a:p>
            <a:pPr marL="67866" indent="0" defTabSz="342900">
              <a:lnSpc>
                <a:spcPct val="83000"/>
              </a:lnSpc>
              <a:buFont typeface="Monotype Sorts" pitchFamily="-84" charset="2"/>
              <a:buNone/>
            </a:pPr>
            <a:r>
              <a:rPr lang="en-US" altLang="en-US" sz="2600" kern="0" dirty="0" err="1">
                <a:solidFill>
                  <a:srgbClr val="CC6600"/>
                </a:solidFill>
              </a:rPr>
              <a:t>BackBox</a:t>
            </a:r>
            <a:r>
              <a:rPr lang="en-US" altLang="en-US" sz="2600" kern="0" dirty="0">
                <a:solidFill>
                  <a:srgbClr val="CC6600"/>
                </a:solidFill>
              </a:rPr>
              <a:t>:</a:t>
            </a:r>
          </a:p>
          <a:p>
            <a:pPr marL="67866" indent="0" defTabSz="342900">
              <a:lnSpc>
                <a:spcPct val="83000"/>
              </a:lnSpc>
              <a:buNone/>
            </a:pPr>
            <a:r>
              <a:rPr lang="en-US" dirty="0" err="1"/>
              <a:t>BackBox</a:t>
            </a:r>
            <a:r>
              <a:rPr lang="en-US" dirty="0"/>
              <a:t> is an Ubuntu-based distribution developed to perform penetration tests and security assessments for desktop environments</a:t>
            </a:r>
            <a:endParaRPr lang="en-US" altLang="en-US" kern="0" dirty="0"/>
          </a:p>
          <a:p>
            <a:pPr marL="67866" indent="0" defTabSz="342900">
              <a:lnSpc>
                <a:spcPct val="83000"/>
              </a:lnSpc>
              <a:buFont typeface="Monotype Sorts" pitchFamily="-84" charset="2"/>
              <a:buNone/>
            </a:pPr>
            <a:endParaRPr lang="en-US" altLang="en-US" kern="0" dirty="0"/>
          </a:p>
          <a:p>
            <a:pPr marL="67866" indent="0" defTabSz="342900">
              <a:lnSpc>
                <a:spcPct val="83000"/>
              </a:lnSpc>
              <a:buFont typeface="Monotype Sorts" pitchFamily="-84" charset="2"/>
              <a:buNone/>
            </a:pPr>
            <a:endParaRPr lang="en-US" altLang="en-US" kern="0" dirty="0"/>
          </a:p>
          <a:p>
            <a:pPr marL="67866" indent="0" defTabSz="342900">
              <a:lnSpc>
                <a:spcPct val="83000"/>
              </a:lnSpc>
              <a:buFont typeface="Monotype Sorts" pitchFamily="-84" charset="2"/>
              <a:buNone/>
            </a:pPr>
            <a:endParaRPr lang="en-US" altLang="en-US" kern="0" dirty="0"/>
          </a:p>
        </p:txBody>
      </p:sp>
      <p:sp>
        <p:nvSpPr>
          <p:cNvPr id="8" name="Rectangle 7"/>
          <p:cNvSpPr/>
          <p:nvPr/>
        </p:nvSpPr>
        <p:spPr>
          <a:xfrm>
            <a:off x="2883217" y="6579534"/>
            <a:ext cx="6406514" cy="271164"/>
          </a:xfrm>
          <a:prstGeom prst="rect">
            <a:avLst/>
          </a:prstGeom>
        </p:spPr>
        <p:txBody>
          <a:bodyPr wrap="square">
            <a:spAutoFit/>
          </a:bodyPr>
          <a:lstStyle/>
          <a:p>
            <a:pPr marL="67866" indent="0" defTabSz="342900">
              <a:lnSpc>
                <a:spcPct val="83000"/>
              </a:lnSpc>
              <a:buNone/>
            </a:pPr>
            <a:r>
              <a:rPr lang="en-US" altLang="en-US" sz="1400" kern="0" dirty="0"/>
              <a:t>More details on : https://www.concise-courses.com/hacking-tools/</a:t>
            </a:r>
          </a:p>
        </p:txBody>
      </p:sp>
    </p:spTree>
    <p:extLst>
      <p:ext uri="{BB962C8B-B14F-4D97-AF65-F5344CB8AC3E}">
        <p14:creationId xmlns:p14="http://schemas.microsoft.com/office/powerpoint/2010/main" val="35705154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6226" name="Rectangle 2"/>
          <p:cNvSpPr>
            <a:spLocks noGrp="1" noChangeArrowheads="1"/>
          </p:cNvSpPr>
          <p:nvPr>
            <p:ph type="title"/>
          </p:nvPr>
        </p:nvSpPr>
        <p:spPr/>
        <p:txBody>
          <a:bodyPr/>
          <a:lstStyle/>
          <a:p>
            <a:r>
              <a:rPr lang="en-US" altLang="en-US"/>
              <a:t>How to get secure?</a:t>
            </a:r>
          </a:p>
        </p:txBody>
      </p:sp>
      <p:sp>
        <p:nvSpPr>
          <p:cNvPr id="1076227" name="Rectangle 3"/>
          <p:cNvSpPr>
            <a:spLocks noGrp="1" noChangeArrowheads="1"/>
          </p:cNvSpPr>
          <p:nvPr>
            <p:ph type="body" idx="1"/>
          </p:nvPr>
        </p:nvSpPr>
        <p:spPr>
          <a:xfrm>
            <a:off x="948690" y="960121"/>
            <a:ext cx="7852410" cy="5109210"/>
          </a:xfrm>
        </p:spPr>
        <p:txBody>
          <a:bodyPr>
            <a:noAutofit/>
          </a:bodyPr>
          <a:lstStyle/>
          <a:p>
            <a:r>
              <a:rPr lang="en-US" altLang="en-US" sz="2400" dirty="0">
                <a:solidFill>
                  <a:srgbClr val="CC3300"/>
                </a:solidFill>
              </a:rPr>
              <a:t>Protection, detection, reaction</a:t>
            </a:r>
          </a:p>
          <a:p>
            <a:r>
              <a:rPr lang="en-US" altLang="en-US" sz="2400" dirty="0">
                <a:solidFill>
                  <a:srgbClr val="CC3300"/>
                </a:solidFill>
              </a:rPr>
              <a:t>Know your enemy</a:t>
            </a:r>
            <a:r>
              <a:rPr lang="en-US" altLang="en-US" sz="2400" dirty="0"/>
              <a:t>: types of attacks, typical tricks, </a:t>
            </a:r>
            <a:br>
              <a:rPr lang="en-US" altLang="en-US" sz="2400" dirty="0"/>
            </a:br>
            <a:r>
              <a:rPr lang="en-US" altLang="en-US" sz="2400" dirty="0"/>
              <a:t>commonly exploited vulnerabilities</a:t>
            </a:r>
          </a:p>
          <a:p>
            <a:r>
              <a:rPr lang="en-US" altLang="en-US" sz="2400" dirty="0"/>
              <a:t>Attackers don’t create security holes and vulnerabilities </a:t>
            </a:r>
          </a:p>
          <a:p>
            <a:pPr lvl="1"/>
            <a:r>
              <a:rPr lang="en-US" altLang="en-US" sz="2400" dirty="0"/>
              <a:t>they exploit existing ones</a:t>
            </a:r>
          </a:p>
          <a:p>
            <a:r>
              <a:rPr lang="en-US" altLang="en-US" sz="2400" dirty="0"/>
              <a:t>Software security:</a:t>
            </a:r>
          </a:p>
          <a:p>
            <a:pPr lvl="1"/>
            <a:r>
              <a:rPr lang="en-US" altLang="en-US" sz="2400" dirty="0"/>
              <a:t>Two main sources of software security holes: </a:t>
            </a:r>
            <a:br>
              <a:rPr lang="en-US" altLang="en-US" sz="2400" dirty="0"/>
            </a:br>
            <a:r>
              <a:rPr lang="en-US" altLang="en-US" sz="2400" dirty="0">
                <a:solidFill>
                  <a:srgbClr val="CC3300"/>
                </a:solidFill>
              </a:rPr>
              <a:t>architectural flaws </a:t>
            </a:r>
            <a:r>
              <a:rPr lang="en-US" altLang="en-US" sz="2400" dirty="0"/>
              <a:t>and </a:t>
            </a:r>
            <a:r>
              <a:rPr lang="en-US" altLang="en-US" sz="2400" dirty="0">
                <a:solidFill>
                  <a:srgbClr val="CC3300"/>
                </a:solidFill>
              </a:rPr>
              <a:t>implementation bugs</a:t>
            </a:r>
          </a:p>
          <a:p>
            <a:pPr lvl="1"/>
            <a:r>
              <a:rPr lang="en-US" altLang="en-US" sz="2400" dirty="0">
                <a:solidFill>
                  <a:srgbClr val="CC3300"/>
                </a:solidFill>
              </a:rPr>
              <a:t>Think about security </a:t>
            </a:r>
            <a:r>
              <a:rPr lang="en-US" altLang="en-US" sz="2400" dirty="0"/>
              <a:t>in all phases </a:t>
            </a:r>
            <a:br>
              <a:rPr lang="en-US" altLang="en-US" sz="2400" dirty="0"/>
            </a:br>
            <a:r>
              <a:rPr lang="en-US" altLang="en-US" sz="2400" dirty="0"/>
              <a:t>of software development</a:t>
            </a:r>
          </a:p>
          <a:p>
            <a:pPr lvl="1"/>
            <a:r>
              <a:rPr lang="en-US" altLang="en-US" sz="2400" dirty="0"/>
              <a:t>Follow standard </a:t>
            </a:r>
            <a:r>
              <a:rPr lang="en-US" altLang="en-US" sz="2400" dirty="0">
                <a:solidFill>
                  <a:srgbClr val="CC3300"/>
                </a:solidFill>
              </a:rPr>
              <a:t>software development procedures</a:t>
            </a:r>
          </a:p>
        </p:txBody>
      </p:sp>
    </p:spTree>
    <p:extLst>
      <p:ext uri="{BB962C8B-B14F-4D97-AF65-F5344CB8AC3E}">
        <p14:creationId xmlns:p14="http://schemas.microsoft.com/office/powerpoint/2010/main" val="1324985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8275" name="Rectangle 3"/>
          <p:cNvSpPr>
            <a:spLocks noGrp="1" noChangeArrowheads="1"/>
          </p:cNvSpPr>
          <p:nvPr>
            <p:ph type="title"/>
          </p:nvPr>
        </p:nvSpPr>
        <p:spPr/>
        <p:txBody>
          <a:bodyPr/>
          <a:lstStyle/>
          <a:p>
            <a:r>
              <a:rPr lang="en-US" altLang="en-US"/>
              <a:t>Protection, detection, reaction</a:t>
            </a:r>
          </a:p>
        </p:txBody>
      </p:sp>
      <p:sp>
        <p:nvSpPr>
          <p:cNvPr id="1078276" name="Rectangle 4"/>
          <p:cNvSpPr>
            <a:spLocks noGrp="1" noChangeArrowheads="1"/>
          </p:cNvSpPr>
          <p:nvPr>
            <p:ph type="body" idx="1"/>
          </p:nvPr>
        </p:nvSpPr>
        <p:spPr>
          <a:xfrm>
            <a:off x="628650" y="1538289"/>
            <a:ext cx="7829550" cy="3788569"/>
          </a:xfrm>
        </p:spPr>
        <p:txBody>
          <a:bodyPr>
            <a:noAutofit/>
          </a:bodyPr>
          <a:lstStyle/>
          <a:p>
            <a:pPr marL="67866" indent="0" defTabSz="342900">
              <a:lnSpc>
                <a:spcPct val="83000"/>
              </a:lnSpc>
              <a:buNone/>
            </a:pPr>
            <a:r>
              <a:rPr lang="en-US" altLang="en-US" sz="2400" i="1" dirty="0"/>
              <a:t>An ounce of </a:t>
            </a:r>
            <a:r>
              <a:rPr lang="en-US" altLang="en-US" sz="2400" i="1" dirty="0">
                <a:solidFill>
                  <a:srgbClr val="CC3300"/>
                </a:solidFill>
              </a:rPr>
              <a:t>prevention </a:t>
            </a:r>
            <a:r>
              <a:rPr lang="en-US" altLang="en-US" sz="2400" i="1" dirty="0"/>
              <a:t>is worth a pound of cure</a:t>
            </a:r>
            <a:r>
              <a:rPr lang="en-US" altLang="en-US" sz="2400" dirty="0"/>
              <a:t> </a:t>
            </a:r>
          </a:p>
          <a:p>
            <a:pPr marL="406004" lvl="1" indent="-203597" defTabSz="342900">
              <a:lnSpc>
                <a:spcPct val="83000"/>
              </a:lnSpc>
            </a:pPr>
            <a:r>
              <a:rPr lang="en-US" altLang="en-US" sz="2400" dirty="0"/>
              <a:t>better to protect than to recover</a:t>
            </a:r>
          </a:p>
          <a:p>
            <a:pPr marL="67866" indent="0" defTabSz="342900">
              <a:lnSpc>
                <a:spcPct val="153000"/>
              </a:lnSpc>
              <a:buNone/>
            </a:pPr>
            <a:endParaRPr lang="en-US" altLang="en-US" sz="2400" dirty="0"/>
          </a:p>
          <a:p>
            <a:pPr marL="67866" indent="0" defTabSz="342900">
              <a:lnSpc>
                <a:spcPct val="83000"/>
              </a:lnSpc>
              <a:buNone/>
            </a:pPr>
            <a:r>
              <a:rPr lang="en-US" altLang="en-US" sz="2400" dirty="0">
                <a:solidFill>
                  <a:srgbClr val="CC3300"/>
                </a:solidFill>
              </a:rPr>
              <a:t>Detection </a:t>
            </a:r>
            <a:r>
              <a:rPr lang="en-US" altLang="en-US" sz="2400" dirty="0"/>
              <a:t>is necessary because total prevention </a:t>
            </a:r>
            <a:br>
              <a:rPr lang="en-US" altLang="en-US" sz="2400" dirty="0"/>
            </a:br>
            <a:r>
              <a:rPr lang="en-US" altLang="en-US" sz="2400" dirty="0"/>
              <a:t>is impossible to achieve</a:t>
            </a:r>
          </a:p>
          <a:p>
            <a:pPr marL="67866" indent="0" defTabSz="342900">
              <a:lnSpc>
                <a:spcPct val="83000"/>
              </a:lnSpc>
              <a:buNone/>
            </a:pPr>
            <a:endParaRPr lang="en-US" altLang="en-US" sz="2400" dirty="0"/>
          </a:p>
          <a:p>
            <a:pPr marL="67866" indent="0" defTabSz="342900">
              <a:lnSpc>
                <a:spcPct val="83000"/>
              </a:lnSpc>
              <a:buNone/>
            </a:pPr>
            <a:r>
              <a:rPr lang="en-US" altLang="en-US" sz="2400" dirty="0"/>
              <a:t>Without some kind of </a:t>
            </a:r>
            <a:r>
              <a:rPr lang="en-US" altLang="en-US" sz="2400" dirty="0">
                <a:solidFill>
                  <a:srgbClr val="CC3300"/>
                </a:solidFill>
              </a:rPr>
              <a:t>reaction</a:t>
            </a:r>
            <a:r>
              <a:rPr lang="en-US" altLang="en-US" sz="2400" dirty="0"/>
              <a:t>, detection is useless </a:t>
            </a:r>
          </a:p>
          <a:p>
            <a:pPr marL="406004" lvl="1" indent="-203597" defTabSz="342900">
              <a:lnSpc>
                <a:spcPct val="83000"/>
              </a:lnSpc>
            </a:pPr>
            <a:r>
              <a:rPr lang="en-US" altLang="en-US" sz="2400" dirty="0"/>
              <a:t>like a burglar alarm that no-one listens and responds to</a:t>
            </a:r>
          </a:p>
        </p:txBody>
      </p:sp>
    </p:spTree>
    <p:extLst>
      <p:ext uri="{BB962C8B-B14F-4D97-AF65-F5344CB8AC3E}">
        <p14:creationId xmlns:p14="http://schemas.microsoft.com/office/powerpoint/2010/main" val="2672477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0322" name="Rectangle 2"/>
          <p:cNvSpPr>
            <a:spLocks noGrp="1" noChangeArrowheads="1"/>
          </p:cNvSpPr>
          <p:nvPr>
            <p:ph type="title"/>
          </p:nvPr>
        </p:nvSpPr>
        <p:spPr/>
        <p:txBody>
          <a:bodyPr/>
          <a:lstStyle/>
          <a:p>
            <a:r>
              <a:rPr lang="en-US" altLang="en-US"/>
              <a:t>Protection, detection, reaction</a:t>
            </a:r>
          </a:p>
        </p:txBody>
      </p:sp>
      <p:sp>
        <p:nvSpPr>
          <p:cNvPr id="1080323" name="Rectangle 3"/>
          <p:cNvSpPr>
            <a:spLocks noGrp="1" noChangeArrowheads="1"/>
          </p:cNvSpPr>
          <p:nvPr>
            <p:ph type="body" idx="1"/>
          </p:nvPr>
        </p:nvSpPr>
        <p:spPr>
          <a:xfrm>
            <a:off x="457200" y="1646634"/>
            <a:ext cx="8515350" cy="4319825"/>
          </a:xfrm>
        </p:spPr>
        <p:txBody>
          <a:bodyPr/>
          <a:lstStyle/>
          <a:p>
            <a:pPr>
              <a:lnSpc>
                <a:spcPct val="113000"/>
              </a:lnSpc>
            </a:pPr>
            <a:r>
              <a:rPr lang="en-US" altLang="en-US" sz="2400" dirty="0"/>
              <a:t>Each and every of the three elements is </a:t>
            </a:r>
            <a:r>
              <a:rPr lang="en-US" altLang="en-US" sz="2400" dirty="0">
                <a:solidFill>
                  <a:srgbClr val="CC3300"/>
                </a:solidFill>
              </a:rPr>
              <a:t>very important</a:t>
            </a:r>
            <a:r>
              <a:rPr lang="en-US" altLang="en-US" sz="2400" dirty="0"/>
              <a:t> </a:t>
            </a:r>
          </a:p>
          <a:p>
            <a:pPr>
              <a:lnSpc>
                <a:spcPct val="113000"/>
              </a:lnSpc>
            </a:pPr>
            <a:r>
              <a:rPr lang="en-US" altLang="en-US" sz="2400" dirty="0"/>
              <a:t>Security solutions focus too often on prevention only</a:t>
            </a:r>
          </a:p>
          <a:p>
            <a:pPr>
              <a:lnSpc>
                <a:spcPct val="113000"/>
              </a:lnSpc>
            </a:pPr>
            <a:r>
              <a:rPr lang="en-US" altLang="en-US" sz="2400" dirty="0"/>
              <a:t>(Network/Host) </a:t>
            </a:r>
            <a:r>
              <a:rPr lang="en-US" altLang="en-US" sz="2400" dirty="0">
                <a:solidFill>
                  <a:srgbClr val="CC3300"/>
                </a:solidFill>
              </a:rPr>
              <a:t>Intrusion Detection Systems</a:t>
            </a:r>
            <a:r>
              <a:rPr lang="en-US" altLang="en-US" sz="2400" dirty="0"/>
              <a:t> – </a:t>
            </a:r>
            <a:br>
              <a:rPr lang="en-US" altLang="en-US" sz="2400" dirty="0"/>
            </a:br>
            <a:r>
              <a:rPr lang="en-US" altLang="en-US" sz="2400" dirty="0"/>
              <a:t>tools for detecting network and system level attacks</a:t>
            </a:r>
          </a:p>
          <a:p>
            <a:pPr>
              <a:lnSpc>
                <a:spcPct val="113000"/>
              </a:lnSpc>
            </a:pPr>
            <a:r>
              <a:rPr lang="en-US" altLang="en-US" sz="2400" dirty="0"/>
              <a:t>For some threats, detection (and therefore reaction) </a:t>
            </a:r>
            <a:br>
              <a:rPr lang="en-US" altLang="en-US" sz="2400" dirty="0"/>
            </a:br>
            <a:r>
              <a:rPr lang="en-US" altLang="en-US" sz="2400" dirty="0"/>
              <a:t>is not possible, so </a:t>
            </a:r>
            <a:r>
              <a:rPr lang="en-US" altLang="en-US" sz="2400" dirty="0">
                <a:solidFill>
                  <a:srgbClr val="CC3300"/>
                </a:solidFill>
              </a:rPr>
              <a:t>strong protection</a:t>
            </a:r>
            <a:r>
              <a:rPr lang="en-US" altLang="en-US" sz="2400" dirty="0"/>
              <a:t> is crucial</a:t>
            </a:r>
          </a:p>
          <a:p>
            <a:pPr lvl="1">
              <a:lnSpc>
                <a:spcPct val="113000"/>
              </a:lnSpc>
            </a:pPr>
            <a:r>
              <a:rPr lang="en-US" altLang="en-US" sz="2400" dirty="0"/>
              <a:t>example: eavesdropping on Internet transmission</a:t>
            </a:r>
          </a:p>
        </p:txBody>
      </p:sp>
    </p:spTree>
    <p:extLst>
      <p:ext uri="{BB962C8B-B14F-4D97-AF65-F5344CB8AC3E}">
        <p14:creationId xmlns:p14="http://schemas.microsoft.com/office/powerpoint/2010/main" val="33280524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2370" name="Rectangle 2"/>
          <p:cNvSpPr>
            <a:spLocks noGrp="1" noChangeArrowheads="1"/>
          </p:cNvSpPr>
          <p:nvPr>
            <p:ph type="title"/>
          </p:nvPr>
        </p:nvSpPr>
        <p:spPr/>
        <p:txBody>
          <a:bodyPr/>
          <a:lstStyle/>
          <a:p>
            <a:r>
              <a:rPr lang="en-US" altLang="en-US"/>
              <a:t>Is a particular security measure good?</a:t>
            </a:r>
          </a:p>
        </p:txBody>
      </p:sp>
      <p:sp>
        <p:nvSpPr>
          <p:cNvPr id="1082371" name="Rectangle 3"/>
          <p:cNvSpPr>
            <a:spLocks noGrp="1" noChangeArrowheads="1"/>
          </p:cNvSpPr>
          <p:nvPr>
            <p:ph type="body" idx="1"/>
          </p:nvPr>
        </p:nvSpPr>
        <p:spPr>
          <a:xfrm>
            <a:off x="674370" y="1538289"/>
            <a:ext cx="8012430" cy="4416741"/>
          </a:xfrm>
        </p:spPr>
        <p:txBody>
          <a:bodyPr/>
          <a:lstStyle/>
          <a:p>
            <a:pPr>
              <a:lnSpc>
                <a:spcPct val="83000"/>
              </a:lnSpc>
              <a:buFont typeface="Wingdings" panose="05000000000000000000" pitchFamily="2" charset="2"/>
              <a:buNone/>
            </a:pPr>
            <a:r>
              <a:rPr lang="en-US" altLang="en-US" sz="2400" dirty="0"/>
              <a:t>(Questions proposed by Bruce </a:t>
            </a:r>
            <a:r>
              <a:rPr lang="en-US" altLang="en-US" sz="2400" dirty="0" err="1"/>
              <a:t>Schneier</a:t>
            </a:r>
            <a:r>
              <a:rPr lang="en-US" altLang="en-US" sz="2400" dirty="0"/>
              <a:t>)</a:t>
            </a:r>
          </a:p>
          <a:p>
            <a:pPr>
              <a:lnSpc>
                <a:spcPct val="83000"/>
              </a:lnSpc>
            </a:pPr>
            <a:r>
              <a:rPr lang="en-US" altLang="en-US" sz="2400" dirty="0">
                <a:solidFill>
                  <a:srgbClr val="CC3300"/>
                </a:solidFill>
              </a:rPr>
              <a:t>What problem does it solve?</a:t>
            </a:r>
            <a:r>
              <a:rPr lang="en-US" altLang="en-US" sz="2400" dirty="0"/>
              <a:t> </a:t>
            </a:r>
          </a:p>
          <a:p>
            <a:pPr lvl="1">
              <a:lnSpc>
                <a:spcPct val="83000"/>
              </a:lnSpc>
            </a:pPr>
            <a:r>
              <a:rPr lang="en-US" altLang="en-US" sz="2400" dirty="0"/>
              <a:t>whether it really solves the problem you have</a:t>
            </a:r>
          </a:p>
          <a:p>
            <a:pPr>
              <a:lnSpc>
                <a:spcPct val="83000"/>
              </a:lnSpc>
            </a:pPr>
            <a:r>
              <a:rPr lang="en-US" altLang="en-US" sz="2400" dirty="0">
                <a:solidFill>
                  <a:srgbClr val="CC3300"/>
                </a:solidFill>
              </a:rPr>
              <a:t>How well does it solve the problem?</a:t>
            </a:r>
          </a:p>
          <a:p>
            <a:pPr lvl="1">
              <a:lnSpc>
                <a:spcPct val="83000"/>
              </a:lnSpc>
            </a:pPr>
            <a:r>
              <a:rPr lang="en-US" altLang="en-US" sz="2400" dirty="0"/>
              <a:t>will it work as expected?</a:t>
            </a:r>
          </a:p>
          <a:p>
            <a:pPr>
              <a:lnSpc>
                <a:spcPct val="83000"/>
              </a:lnSpc>
            </a:pPr>
            <a:r>
              <a:rPr lang="en-US" altLang="en-US" sz="2400" dirty="0">
                <a:solidFill>
                  <a:srgbClr val="CC3300"/>
                </a:solidFill>
              </a:rPr>
              <a:t>What new problems does it add?</a:t>
            </a:r>
          </a:p>
          <a:p>
            <a:pPr lvl="1">
              <a:lnSpc>
                <a:spcPct val="83000"/>
              </a:lnSpc>
            </a:pPr>
            <a:r>
              <a:rPr lang="en-US" altLang="en-US" sz="2400" dirty="0"/>
              <a:t>it adds some for sure</a:t>
            </a:r>
          </a:p>
          <a:p>
            <a:pPr>
              <a:lnSpc>
                <a:spcPct val="83000"/>
              </a:lnSpc>
            </a:pPr>
            <a:r>
              <a:rPr lang="en-US" altLang="en-US" sz="2400" dirty="0">
                <a:solidFill>
                  <a:srgbClr val="CC3300"/>
                </a:solidFill>
              </a:rPr>
              <a:t>What are the economic and social costs? </a:t>
            </a:r>
          </a:p>
          <a:p>
            <a:pPr lvl="1">
              <a:lnSpc>
                <a:spcPct val="83000"/>
              </a:lnSpc>
            </a:pPr>
            <a:r>
              <a:rPr lang="en-US" altLang="en-US" sz="2400" dirty="0"/>
              <a:t>cost of implementation, lost functionality or productivity</a:t>
            </a:r>
          </a:p>
          <a:p>
            <a:pPr>
              <a:lnSpc>
                <a:spcPct val="83000"/>
              </a:lnSpc>
            </a:pPr>
            <a:r>
              <a:rPr lang="en-US" altLang="en-US" sz="2400" dirty="0">
                <a:solidFill>
                  <a:srgbClr val="CC3300"/>
                </a:solidFill>
              </a:rPr>
              <a:t>Given the above, is it worth the costs?</a:t>
            </a:r>
          </a:p>
        </p:txBody>
      </p:sp>
    </p:spTree>
    <p:extLst>
      <p:ext uri="{BB962C8B-B14F-4D97-AF65-F5344CB8AC3E}">
        <p14:creationId xmlns:p14="http://schemas.microsoft.com/office/powerpoint/2010/main" val="6491391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6466" name="Rectangle 2"/>
          <p:cNvSpPr>
            <a:spLocks noGrp="1" noChangeArrowheads="1"/>
          </p:cNvSpPr>
          <p:nvPr>
            <p:ph type="title"/>
          </p:nvPr>
        </p:nvSpPr>
        <p:spPr/>
        <p:txBody>
          <a:bodyPr/>
          <a:lstStyle/>
          <a:p>
            <a:r>
              <a:rPr lang="en-US" altLang="en-US" dirty="0"/>
              <a:t>Security through obscurity … ?</a:t>
            </a:r>
          </a:p>
        </p:txBody>
      </p:sp>
      <p:sp>
        <p:nvSpPr>
          <p:cNvPr id="1086467" name="Rectangle 3"/>
          <p:cNvSpPr>
            <a:spLocks noGrp="1" noChangeArrowheads="1"/>
          </p:cNvSpPr>
          <p:nvPr>
            <p:ph type="body" idx="1"/>
          </p:nvPr>
        </p:nvSpPr>
        <p:spPr>
          <a:xfrm>
            <a:off x="674370" y="1143000"/>
            <a:ext cx="8012430" cy="5017770"/>
          </a:xfrm>
        </p:spPr>
        <p:txBody>
          <a:bodyPr/>
          <a:lstStyle/>
          <a:p>
            <a:r>
              <a:rPr lang="en-US" altLang="en-US" sz="2000" i="1" dirty="0"/>
              <a:t>Security through obscurity</a:t>
            </a:r>
            <a:r>
              <a:rPr lang="en-US" altLang="en-US" sz="2000" dirty="0"/>
              <a:t> – hiding design </a:t>
            </a:r>
            <a:br>
              <a:rPr lang="en-US" altLang="en-US" sz="2000" dirty="0"/>
            </a:br>
            <a:r>
              <a:rPr lang="en-US" altLang="en-US" sz="2000" dirty="0"/>
              <a:t>or implementation details to gain security:</a:t>
            </a:r>
          </a:p>
          <a:p>
            <a:pPr lvl="1"/>
            <a:r>
              <a:rPr lang="en-US" altLang="en-US" sz="2000" dirty="0"/>
              <a:t>keeping secret not the key, but the encryption </a:t>
            </a:r>
            <a:br>
              <a:rPr lang="en-US" altLang="en-US" sz="2000" dirty="0"/>
            </a:br>
            <a:r>
              <a:rPr lang="en-US" altLang="en-US" sz="2000" dirty="0"/>
              <a:t>algorithm,</a:t>
            </a:r>
          </a:p>
          <a:p>
            <a:pPr lvl="1"/>
            <a:r>
              <a:rPr lang="en-US" altLang="en-US" sz="2000" dirty="0"/>
              <a:t>hiding a DB server under a name different from “</a:t>
            </a:r>
            <a:r>
              <a:rPr lang="en-US" altLang="en-US" sz="2000" dirty="0" err="1"/>
              <a:t>db</a:t>
            </a:r>
            <a:r>
              <a:rPr lang="en-US" altLang="en-US" sz="2000" dirty="0"/>
              <a:t>”, etc.</a:t>
            </a:r>
          </a:p>
          <a:p>
            <a:r>
              <a:rPr lang="en-US" altLang="en-US" sz="2000" dirty="0"/>
              <a:t>The idea </a:t>
            </a:r>
            <a:r>
              <a:rPr lang="en-US" altLang="en-US" sz="2000" dirty="0">
                <a:solidFill>
                  <a:srgbClr val="CC3300"/>
                </a:solidFill>
              </a:rPr>
              <a:t>doesn’t work</a:t>
            </a:r>
            <a:endParaRPr lang="en-US" altLang="en-US" sz="2000" dirty="0"/>
          </a:p>
          <a:p>
            <a:pPr lvl="1"/>
            <a:r>
              <a:rPr lang="en-US" altLang="en-US" sz="2000" dirty="0"/>
              <a:t>it’s difficult to keep </a:t>
            </a:r>
            <a:r>
              <a:rPr lang="en-US" altLang="en-US" sz="2000" dirty="0">
                <a:solidFill>
                  <a:srgbClr val="CC3300"/>
                </a:solidFill>
              </a:rPr>
              <a:t>secrets </a:t>
            </a:r>
            <a:r>
              <a:rPr lang="en-US" altLang="en-US" sz="2000" dirty="0"/>
              <a:t>(e.g. source code gets </a:t>
            </a:r>
            <a:r>
              <a:rPr lang="en-US" altLang="en-US" sz="2000" dirty="0">
                <a:solidFill>
                  <a:srgbClr val="CC3300"/>
                </a:solidFill>
              </a:rPr>
              <a:t>stolen</a:t>
            </a:r>
            <a:r>
              <a:rPr lang="en-US" altLang="en-US" sz="2000" dirty="0"/>
              <a:t>)</a:t>
            </a:r>
          </a:p>
          <a:p>
            <a:pPr lvl="1"/>
            <a:r>
              <a:rPr lang="en-US" altLang="en-US" sz="2000" dirty="0"/>
              <a:t>if security of a system depends on one secret, then, </a:t>
            </a:r>
            <a:br>
              <a:rPr lang="en-US" altLang="en-US" sz="2000" dirty="0"/>
            </a:br>
            <a:r>
              <a:rPr lang="en-US" altLang="en-US" sz="2000" dirty="0"/>
              <a:t>once it’s no longer a secret, the whole system is </a:t>
            </a:r>
            <a:r>
              <a:rPr lang="en-US" altLang="en-US" sz="2000" dirty="0">
                <a:solidFill>
                  <a:srgbClr val="CC3300"/>
                </a:solidFill>
              </a:rPr>
              <a:t>compromised</a:t>
            </a:r>
          </a:p>
          <a:p>
            <a:pPr lvl="1"/>
            <a:r>
              <a:rPr lang="en-US" altLang="en-US" sz="2000" dirty="0"/>
              <a:t>secret algorithms, protocols etc. will </a:t>
            </a:r>
            <a:r>
              <a:rPr lang="en-US" altLang="en-US" sz="2000" dirty="0">
                <a:solidFill>
                  <a:srgbClr val="CC3300"/>
                </a:solidFill>
              </a:rPr>
              <a:t>not</a:t>
            </a:r>
            <a:r>
              <a:rPr lang="en-US" altLang="en-US" sz="2000" dirty="0"/>
              <a:t> get </a:t>
            </a:r>
            <a:r>
              <a:rPr lang="en-US" altLang="en-US" sz="2000" dirty="0">
                <a:solidFill>
                  <a:srgbClr val="CC3300"/>
                </a:solidFill>
              </a:rPr>
              <a:t>reviewed</a:t>
            </a:r>
            <a:r>
              <a:rPr lang="en-US" altLang="en-US" sz="2000" dirty="0"/>
              <a:t> </a:t>
            </a:r>
            <a:r>
              <a:rPr lang="en-US" altLang="en-US" sz="2000" dirty="0">
                <a:sym typeface="Wingdings" panose="05000000000000000000" pitchFamily="2" charset="2"/>
              </a:rPr>
              <a:t></a:t>
            </a:r>
            <a:r>
              <a:rPr lang="en-US" altLang="en-US" sz="2000" dirty="0"/>
              <a:t> flaws won’t be spotted and fixed </a:t>
            </a:r>
            <a:r>
              <a:rPr lang="en-US" altLang="en-US" sz="2000" dirty="0">
                <a:sym typeface="Wingdings" panose="05000000000000000000" pitchFamily="2" charset="2"/>
              </a:rPr>
              <a:t> </a:t>
            </a:r>
            <a:r>
              <a:rPr lang="en-US" altLang="en-US" sz="2000" dirty="0">
                <a:solidFill>
                  <a:srgbClr val="CC3300"/>
                </a:solidFill>
                <a:sym typeface="Wingdings" panose="05000000000000000000" pitchFamily="2" charset="2"/>
              </a:rPr>
              <a:t>less security</a:t>
            </a:r>
            <a:endParaRPr lang="en-US" altLang="en-US" sz="2000" dirty="0">
              <a:solidFill>
                <a:srgbClr val="CC3300"/>
              </a:solidFill>
            </a:endParaRPr>
          </a:p>
          <a:p>
            <a:r>
              <a:rPr lang="en-US" altLang="en-US" sz="2000" dirty="0"/>
              <a:t>Systems should be secure </a:t>
            </a:r>
            <a:r>
              <a:rPr lang="en-US" altLang="en-US" sz="2000" dirty="0">
                <a:solidFill>
                  <a:srgbClr val="CC3300"/>
                </a:solidFill>
              </a:rPr>
              <a:t>by design</a:t>
            </a:r>
            <a:r>
              <a:rPr lang="en-US" altLang="en-US" sz="2000" dirty="0"/>
              <a:t>, not by obfuscation</a:t>
            </a:r>
          </a:p>
          <a:p>
            <a:pPr>
              <a:lnSpc>
                <a:spcPct val="210000"/>
              </a:lnSpc>
            </a:pPr>
            <a:r>
              <a:rPr lang="en-US" altLang="en-US" sz="2000" dirty="0"/>
              <a:t>Security </a:t>
            </a:r>
            <a:r>
              <a:rPr lang="en-US" altLang="en-US" sz="2000" dirty="0">
                <a:solidFill>
                  <a:srgbClr val="CC3300"/>
                </a:solidFill>
              </a:rPr>
              <a:t>AND</a:t>
            </a:r>
            <a:r>
              <a:rPr lang="en-US" altLang="en-US" sz="2000" dirty="0"/>
              <a:t> obscurity</a:t>
            </a:r>
          </a:p>
        </p:txBody>
      </p:sp>
    </p:spTree>
    <p:extLst>
      <p:ext uri="{BB962C8B-B14F-4D97-AF65-F5344CB8AC3E}">
        <p14:creationId xmlns:p14="http://schemas.microsoft.com/office/powerpoint/2010/main" val="42476963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pPr eaLnBrk="1" hangingPunct="1"/>
            <a:r>
              <a:rPr lang="en-US" altLang="en-US"/>
              <a:t>Aspects of Security </a:t>
            </a:r>
          </a:p>
        </p:txBody>
      </p:sp>
      <p:sp>
        <p:nvSpPr>
          <p:cNvPr id="3" name="Content Placeholder 2"/>
          <p:cNvSpPr>
            <a:spLocks noGrp="1"/>
          </p:cNvSpPr>
          <p:nvPr>
            <p:ph idx="1"/>
          </p:nvPr>
        </p:nvSpPr>
        <p:spPr>
          <a:xfrm>
            <a:off x="354330" y="1014412"/>
            <a:ext cx="8229600" cy="5181600"/>
          </a:xfrm>
        </p:spPr>
        <p:txBody>
          <a:bodyPr rtlCol="0">
            <a:noAutofit/>
          </a:bodyPr>
          <a:lstStyle/>
          <a:p>
            <a:pPr eaLnBrk="1" fontAlgn="auto" hangingPunct="1">
              <a:spcAft>
                <a:spcPts val="0"/>
              </a:spcAft>
              <a:defRPr/>
            </a:pPr>
            <a:r>
              <a:rPr lang="en-US" sz="2400" dirty="0">
                <a:solidFill>
                  <a:srgbClr val="FF0000"/>
                </a:solidFill>
              </a:rPr>
              <a:t>Security attack</a:t>
            </a:r>
          </a:p>
          <a:p>
            <a:pPr lvl="1" eaLnBrk="1" fontAlgn="auto" hangingPunct="1">
              <a:spcAft>
                <a:spcPts val="0"/>
              </a:spcAft>
              <a:buFont typeface="Arial" panose="020B0604020202020204" pitchFamily="34" charset="0"/>
              <a:buNone/>
              <a:defRPr/>
            </a:pPr>
            <a:r>
              <a:rPr lang="en-US" sz="2400" dirty="0">
                <a:latin typeface="Times-Roman" charset="0"/>
              </a:rPr>
              <a:t>	Any action that compromises the security of information owned by an organization. </a:t>
            </a:r>
          </a:p>
          <a:p>
            <a:pPr eaLnBrk="1" fontAlgn="auto" hangingPunct="1">
              <a:spcAft>
                <a:spcPts val="0"/>
              </a:spcAft>
              <a:defRPr/>
            </a:pPr>
            <a:r>
              <a:rPr lang="en-US" sz="2400" dirty="0">
                <a:solidFill>
                  <a:schemeClr val="bg2">
                    <a:lumMod val="75000"/>
                  </a:schemeClr>
                </a:solidFill>
              </a:rPr>
              <a:t>Security mechanism</a:t>
            </a:r>
          </a:p>
          <a:p>
            <a:pPr lvl="1" indent="0" eaLnBrk="1" fontAlgn="auto" hangingPunct="1">
              <a:spcAft>
                <a:spcPts val="0"/>
              </a:spcAft>
              <a:buNone/>
              <a:defRPr/>
            </a:pPr>
            <a:r>
              <a:rPr lang="en-US" sz="2400" dirty="0"/>
              <a:t>A process that is designed to detect, prevent or recover from a security attack. </a:t>
            </a:r>
          </a:p>
          <a:p>
            <a:pPr eaLnBrk="1" fontAlgn="auto" hangingPunct="1">
              <a:spcAft>
                <a:spcPts val="0"/>
              </a:spcAft>
              <a:defRPr/>
            </a:pPr>
            <a:r>
              <a:rPr lang="en-US" sz="2400" dirty="0">
                <a:solidFill>
                  <a:schemeClr val="accent1">
                    <a:lumMod val="50000"/>
                  </a:schemeClr>
                </a:solidFill>
              </a:rPr>
              <a:t>Security service</a:t>
            </a:r>
          </a:p>
          <a:p>
            <a:pPr lvl="1" eaLnBrk="1" fontAlgn="auto" hangingPunct="1">
              <a:spcAft>
                <a:spcPts val="0"/>
              </a:spcAft>
              <a:buFont typeface="Arial" panose="020B0604020202020204" pitchFamily="34" charset="0"/>
              <a:buNone/>
              <a:defRPr/>
            </a:pPr>
            <a:r>
              <a:rPr lang="en-US" sz="2400" dirty="0">
                <a:latin typeface="Times-Roman" charset="0"/>
              </a:rPr>
              <a:t>   Services that enhances the security of the data processing systems and the information transfers of an organization. </a:t>
            </a:r>
          </a:p>
          <a:p>
            <a:pPr lvl="1" eaLnBrk="1" fontAlgn="auto" hangingPunct="1">
              <a:spcAft>
                <a:spcPts val="0"/>
              </a:spcAft>
              <a:buFont typeface="Arial" panose="020B0604020202020204" pitchFamily="34" charset="0"/>
              <a:buNone/>
              <a:defRPr/>
            </a:pPr>
            <a:r>
              <a:rPr lang="en-US" sz="2400" dirty="0">
                <a:latin typeface="Times-Roman" charset="0"/>
              </a:rPr>
              <a:t>   These services are intended to counter security attacks, and they make use of one or more security mechanisms to provide the service. </a:t>
            </a:r>
            <a:endParaRPr lang="en-US" sz="2400" dirty="0"/>
          </a:p>
        </p:txBody>
      </p:sp>
    </p:spTree>
    <p:extLst>
      <p:ext uri="{BB962C8B-B14F-4D97-AF65-F5344CB8AC3E}">
        <p14:creationId xmlns:p14="http://schemas.microsoft.com/office/powerpoint/2010/main" val="5542312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blinds(horizontal)">
                                      <p:cBhvr>
                                        <p:cTn id="12" dur="500"/>
                                        <p:tgtEl>
                                          <p:spTgt spid="3">
                                            <p:txEl>
                                              <p:pRg st="5" end="5"/>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Effect transition="in" filter="blinds(horizontal)">
                                      <p:cBhvr>
                                        <p:cTn id="1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US" altLang="en-US"/>
              <a:t>OSI Security Architecture</a:t>
            </a:r>
          </a:p>
        </p:txBody>
      </p:sp>
      <p:sp>
        <p:nvSpPr>
          <p:cNvPr id="11267" name="Content Placeholder 2"/>
          <p:cNvSpPr>
            <a:spLocks noGrp="1"/>
          </p:cNvSpPr>
          <p:nvPr>
            <p:ph idx="1"/>
          </p:nvPr>
        </p:nvSpPr>
        <p:spPr>
          <a:xfrm>
            <a:off x="457200" y="1600200"/>
            <a:ext cx="8332470" cy="4038600"/>
          </a:xfrm>
        </p:spPr>
        <p:txBody>
          <a:bodyPr/>
          <a:lstStyle/>
          <a:p>
            <a:pPr eaLnBrk="1" hangingPunct="1"/>
            <a:r>
              <a:rPr lang="en-US" sz="2400" dirty="0"/>
              <a:t> International Telecommunication Union (</a:t>
            </a:r>
            <a:r>
              <a:rPr lang="en-US" altLang="en-US" sz="2400" dirty="0"/>
              <a:t>ITU-T) recommends X.800, the security architecture for OSI</a:t>
            </a:r>
          </a:p>
          <a:p>
            <a:pPr eaLnBrk="1" hangingPunct="1"/>
            <a:r>
              <a:rPr lang="en-US" altLang="en-US" sz="2400" dirty="0"/>
              <a:t>Defines a systematic way of defining and providing security requirements</a:t>
            </a:r>
          </a:p>
        </p:txBody>
      </p:sp>
    </p:spTree>
    <p:extLst>
      <p:ext uri="{BB962C8B-B14F-4D97-AF65-F5344CB8AC3E}">
        <p14:creationId xmlns:p14="http://schemas.microsoft.com/office/powerpoint/2010/main" val="13666230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pPr eaLnBrk="1" hangingPunct="1"/>
            <a:r>
              <a:rPr lang="en-US" altLang="en-US" dirty="0"/>
              <a:t>Security Attacks Classification</a:t>
            </a:r>
          </a:p>
        </p:txBody>
      </p:sp>
      <p:sp>
        <p:nvSpPr>
          <p:cNvPr id="14339" name="Content Placeholder 2"/>
          <p:cNvSpPr>
            <a:spLocks noGrp="1"/>
          </p:cNvSpPr>
          <p:nvPr>
            <p:ph idx="1"/>
          </p:nvPr>
        </p:nvSpPr>
        <p:spPr>
          <a:xfrm>
            <a:off x="457200" y="1570038"/>
            <a:ext cx="8229600" cy="4525962"/>
          </a:xfrm>
        </p:spPr>
        <p:txBody>
          <a:bodyPr/>
          <a:lstStyle/>
          <a:p>
            <a:pPr eaLnBrk="1" hangingPunct="1"/>
            <a:r>
              <a:rPr lang="en-AU" altLang="en-US" sz="2400" dirty="0"/>
              <a:t>Any action that compromises the security of information owned by an organization</a:t>
            </a:r>
          </a:p>
          <a:p>
            <a:pPr eaLnBrk="1" hangingPunct="1"/>
            <a:r>
              <a:rPr lang="en-AU" altLang="en-US" sz="2400" dirty="0"/>
              <a:t>Information security is about how to prevent attacks, or failing that, to detect attacks</a:t>
            </a:r>
          </a:p>
          <a:p>
            <a:pPr eaLnBrk="1" hangingPunct="1"/>
            <a:r>
              <a:rPr lang="en-US" altLang="en-US" sz="2400" dirty="0"/>
              <a:t>Classification according to X.800</a:t>
            </a:r>
          </a:p>
          <a:p>
            <a:pPr lvl="1" eaLnBrk="1" hangingPunct="1"/>
            <a:r>
              <a:rPr lang="en-US" altLang="en-US" sz="2000" dirty="0"/>
              <a:t>Passive attack</a:t>
            </a:r>
          </a:p>
          <a:p>
            <a:pPr lvl="1" eaLnBrk="1" hangingPunct="1"/>
            <a:r>
              <a:rPr lang="en-US" altLang="en-US" sz="2000" dirty="0"/>
              <a:t>Active attack</a:t>
            </a:r>
          </a:p>
        </p:txBody>
      </p:sp>
    </p:spTree>
    <p:extLst>
      <p:ext uri="{BB962C8B-B14F-4D97-AF65-F5344CB8AC3E}">
        <p14:creationId xmlns:p14="http://schemas.microsoft.com/office/powerpoint/2010/main" val="29899402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US" altLang="en-US" sz="4000"/>
              <a:t>Passive attack</a:t>
            </a:r>
          </a:p>
        </p:txBody>
      </p:sp>
      <p:grpSp>
        <p:nvGrpSpPr>
          <p:cNvPr id="15363" name="Group 6"/>
          <p:cNvGrpSpPr>
            <a:grpSpLocks/>
          </p:cNvGrpSpPr>
          <p:nvPr/>
        </p:nvGrpSpPr>
        <p:grpSpPr bwMode="auto">
          <a:xfrm>
            <a:off x="433388" y="2384425"/>
            <a:ext cx="8177212" cy="4321175"/>
            <a:chOff x="433387" y="2384425"/>
            <a:chExt cx="8177213" cy="4321175"/>
          </a:xfrm>
        </p:grpSpPr>
        <p:pic>
          <p:nvPicPr>
            <p:cNvPr id="15366" name="Picture 102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387" y="2384425"/>
              <a:ext cx="8177213" cy="432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4724400" y="3886200"/>
              <a:ext cx="1371600" cy="609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15364" name="Content Placeholder 2"/>
          <p:cNvSpPr>
            <a:spLocks noGrp="1"/>
          </p:cNvSpPr>
          <p:nvPr>
            <p:ph idx="1"/>
          </p:nvPr>
        </p:nvSpPr>
        <p:spPr>
          <a:xfrm>
            <a:off x="457200" y="1447800"/>
            <a:ext cx="8001000" cy="1524000"/>
          </a:xfrm>
        </p:spPr>
        <p:txBody>
          <a:bodyPr/>
          <a:lstStyle/>
          <a:p>
            <a:pPr eaLnBrk="1" hangingPunct="1"/>
            <a:r>
              <a:rPr lang="en-US" altLang="en-US"/>
              <a:t>Obtaining message content</a:t>
            </a:r>
          </a:p>
          <a:p>
            <a:pPr eaLnBrk="1" hangingPunct="1"/>
            <a:r>
              <a:rPr lang="en-US" altLang="en-US"/>
              <a:t>Traffic analysis</a:t>
            </a:r>
          </a:p>
        </p:txBody>
      </p:sp>
    </p:spTree>
    <p:extLst>
      <p:ext uri="{BB962C8B-B14F-4D97-AF65-F5344CB8AC3E}">
        <p14:creationId xmlns:p14="http://schemas.microsoft.com/office/powerpoint/2010/main" val="23752237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altLang="en-US" sz="4000"/>
              <a:t>Active attack</a:t>
            </a:r>
          </a:p>
        </p:txBody>
      </p:sp>
      <p:grpSp>
        <p:nvGrpSpPr>
          <p:cNvPr id="16387" name="Group 5"/>
          <p:cNvGrpSpPr>
            <a:grpSpLocks/>
          </p:cNvGrpSpPr>
          <p:nvPr/>
        </p:nvGrpSpPr>
        <p:grpSpPr bwMode="auto">
          <a:xfrm>
            <a:off x="457200" y="2478088"/>
            <a:ext cx="8205788" cy="4227512"/>
            <a:chOff x="457200" y="1828800"/>
            <a:chExt cx="8205788" cy="4227513"/>
          </a:xfrm>
        </p:grpSpPr>
        <p:pic>
          <p:nvPicPr>
            <p:cNvPr id="16390" name="Picture 10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828800"/>
              <a:ext cx="8205788" cy="422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4724400" y="3429000"/>
              <a:ext cx="1905000" cy="60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7" name="Content Placeholder 2"/>
          <p:cNvSpPr>
            <a:spLocks noGrp="1"/>
          </p:cNvSpPr>
          <p:nvPr>
            <p:ph idx="1"/>
          </p:nvPr>
        </p:nvSpPr>
        <p:spPr>
          <a:xfrm>
            <a:off x="457200" y="1295400"/>
            <a:ext cx="8001000" cy="1752600"/>
          </a:xfrm>
        </p:spPr>
        <p:txBody>
          <a:bodyPr rtlCol="0">
            <a:normAutofit/>
          </a:bodyPr>
          <a:lstStyle/>
          <a:p>
            <a:pPr eaLnBrk="1" fontAlgn="auto" hangingPunct="1">
              <a:spcAft>
                <a:spcPts val="0"/>
              </a:spcAft>
              <a:defRPr/>
            </a:pPr>
            <a:r>
              <a:rPr lang="en-US" dirty="0"/>
              <a:t>Masquerade</a:t>
            </a:r>
          </a:p>
          <a:p>
            <a:pPr eaLnBrk="1" fontAlgn="auto" hangingPunct="1">
              <a:spcAft>
                <a:spcPts val="0"/>
              </a:spcAft>
              <a:defRPr/>
            </a:pPr>
            <a:r>
              <a:rPr lang="en-US" dirty="0"/>
              <a:t>Replay previous messages </a:t>
            </a:r>
          </a:p>
          <a:p>
            <a:pPr eaLnBrk="1" fontAlgn="auto" hangingPunct="1">
              <a:spcAft>
                <a:spcPts val="0"/>
              </a:spcAft>
              <a:defRPr/>
            </a:pPr>
            <a:r>
              <a:rPr lang="en-US" dirty="0"/>
              <a:t>Modify messages in transit</a:t>
            </a:r>
          </a:p>
          <a:p>
            <a:pPr eaLnBrk="1" fontAlgn="auto" hangingPunct="1">
              <a:spcAft>
                <a:spcPts val="0"/>
              </a:spcAft>
              <a:defRPr/>
            </a:pPr>
            <a:r>
              <a:rPr lang="en-US" dirty="0"/>
              <a:t>Denial of service</a:t>
            </a:r>
          </a:p>
        </p:txBody>
      </p:sp>
    </p:spTree>
    <p:extLst>
      <p:ext uri="{BB962C8B-B14F-4D97-AF65-F5344CB8AC3E}">
        <p14:creationId xmlns:p14="http://schemas.microsoft.com/office/powerpoint/2010/main" val="1169286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US" altLang="en-US"/>
              <a:t>Security Service</a:t>
            </a:r>
          </a:p>
        </p:txBody>
      </p:sp>
      <p:sp>
        <p:nvSpPr>
          <p:cNvPr id="16387" name="Content Placeholder 2"/>
          <p:cNvSpPr>
            <a:spLocks noGrp="1"/>
          </p:cNvSpPr>
          <p:nvPr>
            <p:ph idx="1"/>
          </p:nvPr>
        </p:nvSpPr>
        <p:spPr>
          <a:xfrm>
            <a:off x="457200" y="1447800"/>
            <a:ext cx="8229600" cy="4876800"/>
          </a:xfrm>
        </p:spPr>
        <p:txBody>
          <a:bodyPr/>
          <a:lstStyle/>
          <a:p>
            <a:pPr eaLnBrk="1" hangingPunct="1"/>
            <a:r>
              <a:rPr lang="en-US" altLang="en-US" sz="2400" dirty="0"/>
              <a:t>Enhance security of data processing systems and information transfers of an organization</a:t>
            </a:r>
          </a:p>
          <a:p>
            <a:pPr eaLnBrk="1" hangingPunct="1"/>
            <a:r>
              <a:rPr lang="en-US" altLang="en-US" sz="2400" dirty="0"/>
              <a:t>Intended to counter security attacks</a:t>
            </a:r>
          </a:p>
          <a:p>
            <a:pPr eaLnBrk="1" hangingPunct="1"/>
            <a:r>
              <a:rPr lang="en-US" altLang="en-US" sz="2400" dirty="0"/>
              <a:t>Using one or more security mechanisms </a:t>
            </a:r>
          </a:p>
          <a:p>
            <a:pPr eaLnBrk="1" hangingPunct="1"/>
            <a:r>
              <a:rPr lang="en-US" altLang="en-US" sz="2400" dirty="0"/>
              <a:t>X.800 defines a security service as </a:t>
            </a:r>
          </a:p>
          <a:p>
            <a:pPr eaLnBrk="1" hangingPunct="1">
              <a:buFont typeface="Arial" panose="020B0604020202020204" pitchFamily="34" charset="0"/>
              <a:buNone/>
            </a:pPr>
            <a:r>
              <a:rPr lang="en-US" altLang="en-US" sz="2400" dirty="0"/>
              <a:t>	“</a:t>
            </a:r>
            <a:r>
              <a:rPr lang="en-AU" altLang="en-US" sz="2400" dirty="0"/>
              <a:t>a service provided by a protocol layer of communicating open systems, which ensures adequate security of the systems or of data transfers”</a:t>
            </a:r>
            <a:endParaRPr lang="en-US" altLang="en-US" sz="2400" dirty="0"/>
          </a:p>
        </p:txBody>
      </p:sp>
      <p:sp>
        <p:nvSpPr>
          <p:cNvPr id="4" name="Slide Number Placeholder 3"/>
          <p:cNvSpPr>
            <a:spLocks noGrp="1"/>
          </p:cNvSpPr>
          <p:nvPr>
            <p:ph type="sldNum" sz="quarter" idx="4294967295"/>
          </p:nvPr>
        </p:nvSpPr>
        <p:spPr>
          <a:xfrm>
            <a:off x="6553200" y="6356350"/>
            <a:ext cx="2133600" cy="365125"/>
          </a:xfrm>
          <a:prstGeom prst="rect">
            <a:avLst/>
          </a:prstGeom>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588F940-6754-4F5C-BAF4-7AFAF1521F39}" type="slidenum">
              <a:rPr lang="en-US" altLang="en-US">
                <a:solidFill>
                  <a:srgbClr val="898989"/>
                </a:solidFill>
                <a:latin typeface="Calibri" panose="020F0502020204030204" pitchFamily="34" charset="0"/>
              </a:rPr>
              <a:pPr eaLnBrk="1" hangingPunct="1"/>
              <a:t>22</a:t>
            </a:fld>
            <a:endParaRPr lang="en-US" altLang="en-US">
              <a:solidFill>
                <a:srgbClr val="898989"/>
              </a:solidFill>
              <a:latin typeface="Calibri" panose="020F0502020204030204" pitchFamily="34" charset="0"/>
            </a:endParaRPr>
          </a:p>
        </p:txBody>
      </p:sp>
    </p:spTree>
    <p:extLst>
      <p:ext uri="{BB962C8B-B14F-4D97-AF65-F5344CB8AC3E}">
        <p14:creationId xmlns:p14="http://schemas.microsoft.com/office/powerpoint/2010/main" val="5646555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6387">
                                            <p:txEl>
                                              <p:pRg st="1" end="1"/>
                                            </p:txEl>
                                          </p:spTgt>
                                        </p:tgtEl>
                                        <p:attrNameLst>
                                          <p:attrName>style.visibility</p:attrName>
                                        </p:attrNameLst>
                                      </p:cBhvr>
                                      <p:to>
                                        <p:strVal val="visible"/>
                                      </p:to>
                                    </p:set>
                                    <p:animEffect transition="in" filter="blinds(horizontal)">
                                      <p:cBhvr>
                                        <p:cTn id="7" dur="500"/>
                                        <p:tgtEl>
                                          <p:spTgt spid="1638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6387">
                                            <p:txEl>
                                              <p:pRg st="2" end="2"/>
                                            </p:txEl>
                                          </p:spTgt>
                                        </p:tgtEl>
                                        <p:attrNameLst>
                                          <p:attrName>style.visibility</p:attrName>
                                        </p:attrNameLst>
                                      </p:cBhvr>
                                      <p:to>
                                        <p:strVal val="visible"/>
                                      </p:to>
                                    </p:set>
                                    <p:animEffect transition="in" filter="blinds(horizontal)">
                                      <p:cBhvr>
                                        <p:cTn id="12" dur="500"/>
                                        <p:tgtEl>
                                          <p:spTgt spid="1638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6387">
                                            <p:txEl>
                                              <p:pRg st="3" end="3"/>
                                            </p:txEl>
                                          </p:spTgt>
                                        </p:tgtEl>
                                        <p:attrNameLst>
                                          <p:attrName>style.visibility</p:attrName>
                                        </p:attrNameLst>
                                      </p:cBhvr>
                                      <p:to>
                                        <p:strVal val="visible"/>
                                      </p:to>
                                    </p:set>
                                    <p:animEffect transition="in" filter="blinds(horizontal)">
                                      <p:cBhvr>
                                        <p:cTn id="17" dur="500"/>
                                        <p:tgtEl>
                                          <p:spTgt spid="16387">
                                            <p:txEl>
                                              <p:pRg st="3" end="3"/>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16387">
                                            <p:txEl>
                                              <p:pRg st="4" end="4"/>
                                            </p:txEl>
                                          </p:spTgt>
                                        </p:tgtEl>
                                        <p:attrNameLst>
                                          <p:attrName>style.visibility</p:attrName>
                                        </p:attrNameLst>
                                      </p:cBhvr>
                                      <p:to>
                                        <p:strVal val="visible"/>
                                      </p:to>
                                    </p:set>
                                    <p:animEffect transition="in" filter="blinds(horizontal)">
                                      <p:cBhvr>
                                        <p:cTn id="20" dur="500"/>
                                        <p:tgtEl>
                                          <p:spTgt spid="1638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US" altLang="en-US"/>
              <a:t> Protection</a:t>
            </a:r>
            <a:endParaRPr lang="en-US" altLang="en-US" b="0"/>
          </a:p>
        </p:txBody>
      </p:sp>
      <p:sp>
        <p:nvSpPr>
          <p:cNvPr id="2" name="Content Placeholder 1"/>
          <p:cNvSpPr>
            <a:spLocks noGrp="1"/>
          </p:cNvSpPr>
          <p:nvPr>
            <p:ph idx="1"/>
          </p:nvPr>
        </p:nvSpPr>
        <p:spPr/>
        <p:txBody>
          <a:bodyPr/>
          <a:lstStyle/>
          <a:p>
            <a:r>
              <a:rPr lang="en-US" altLang="en-US" sz="2400" dirty="0"/>
              <a:t>In one protection model,  computer consists of a collection of objects, hardware or software</a:t>
            </a:r>
            <a:br>
              <a:rPr lang="en-US" altLang="en-US" sz="2400" dirty="0"/>
            </a:br>
            <a:endParaRPr lang="en-US" altLang="en-US" sz="2400" dirty="0"/>
          </a:p>
          <a:p>
            <a:r>
              <a:rPr lang="en-US" altLang="en-US" sz="2400" dirty="0"/>
              <a:t>Each object has a unique name and can be accessed through a well-defined set of operations</a:t>
            </a:r>
            <a:br>
              <a:rPr lang="en-US" altLang="en-US" sz="2400" dirty="0"/>
            </a:br>
            <a:endParaRPr lang="en-US" altLang="en-US" sz="2400" dirty="0"/>
          </a:p>
          <a:p>
            <a:r>
              <a:rPr lang="en-US" altLang="en-US" sz="2400" dirty="0"/>
              <a:t>Protection problem - ensure that each object is accessed correctly and only by those processes that are allowed to do so</a:t>
            </a:r>
            <a:endParaRPr lang="en-US" altLang="en-US" sz="2400" dirty="0">
              <a:latin typeface="Courier New" panose="02070309020205020404" pitchFamily="49" charset="0"/>
            </a:endParaRPr>
          </a:p>
          <a:p>
            <a:pPr marL="0" indent="0">
              <a:buNone/>
            </a:pPr>
            <a:endParaRPr lang="en-US" dirty="0"/>
          </a:p>
        </p:txBody>
      </p:sp>
    </p:spTree>
    <p:extLst>
      <p:ext uri="{BB962C8B-B14F-4D97-AF65-F5344CB8AC3E}">
        <p14:creationId xmlns:p14="http://schemas.microsoft.com/office/powerpoint/2010/main" val="34868210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935567" y="261832"/>
            <a:ext cx="7751233" cy="512233"/>
          </a:xfrm>
        </p:spPr>
        <p:txBody>
          <a:bodyPr/>
          <a:lstStyle/>
          <a:p>
            <a:pPr eaLnBrk="1" hangingPunct="1"/>
            <a:r>
              <a:rPr lang="en-US" altLang="en-US" dirty="0"/>
              <a:t>Principles of Protection</a:t>
            </a:r>
          </a:p>
        </p:txBody>
      </p:sp>
      <p:sp>
        <p:nvSpPr>
          <p:cNvPr id="7171" name="Rectangle 3"/>
          <p:cNvSpPr>
            <a:spLocks noGrp="1" noChangeArrowheads="1"/>
          </p:cNvSpPr>
          <p:nvPr>
            <p:ph type="body" idx="1"/>
          </p:nvPr>
        </p:nvSpPr>
        <p:spPr>
          <a:xfrm>
            <a:off x="228600" y="937261"/>
            <a:ext cx="8915400" cy="4567132"/>
          </a:xfrm>
        </p:spPr>
        <p:txBody>
          <a:bodyPr/>
          <a:lstStyle/>
          <a:p>
            <a:r>
              <a:rPr lang="en-US" altLang="en-US" dirty="0"/>
              <a:t>Guiding principle – </a:t>
            </a:r>
            <a:r>
              <a:rPr lang="en-US" altLang="en-US" b="1" dirty="0">
                <a:solidFill>
                  <a:srgbClr val="3366FF"/>
                </a:solidFill>
              </a:rPr>
              <a:t>principle of least privilege</a:t>
            </a:r>
          </a:p>
          <a:p>
            <a:pPr lvl="1"/>
            <a:r>
              <a:rPr lang="en-US" altLang="en-US" dirty="0"/>
              <a:t>Programs, users and systems should be given just enough </a:t>
            </a:r>
            <a:r>
              <a:rPr lang="en-US" altLang="en-US" b="1" dirty="0">
                <a:solidFill>
                  <a:srgbClr val="3366FF"/>
                </a:solidFill>
              </a:rPr>
              <a:t>privileges </a:t>
            </a:r>
            <a:r>
              <a:rPr lang="en-US" altLang="en-US" dirty="0"/>
              <a:t>to perform their tasks</a:t>
            </a:r>
          </a:p>
          <a:p>
            <a:pPr lvl="1"/>
            <a:r>
              <a:rPr lang="en-US" altLang="en-US" dirty="0"/>
              <a:t>Limits damage if entity has a bug, gets abused</a:t>
            </a:r>
          </a:p>
          <a:p>
            <a:pPr lvl="1"/>
            <a:r>
              <a:rPr lang="en-US" altLang="en-US" dirty="0"/>
              <a:t>Can be static (during life of system, during life of process) </a:t>
            </a:r>
          </a:p>
          <a:p>
            <a:pPr lvl="1"/>
            <a:r>
              <a:rPr lang="en-US" altLang="en-US" dirty="0"/>
              <a:t>Or dynamic (changed by process as needed) – </a:t>
            </a:r>
            <a:r>
              <a:rPr lang="en-US" altLang="en-US" b="1" dirty="0">
                <a:solidFill>
                  <a:srgbClr val="3366FF"/>
                </a:solidFill>
              </a:rPr>
              <a:t>domain switching</a:t>
            </a:r>
            <a:r>
              <a:rPr lang="en-US" altLang="en-US" dirty="0"/>
              <a:t>, </a:t>
            </a:r>
            <a:r>
              <a:rPr lang="en-US" altLang="en-US" b="1" dirty="0">
                <a:solidFill>
                  <a:srgbClr val="3366FF"/>
                </a:solidFill>
              </a:rPr>
              <a:t>privilege escalation</a:t>
            </a:r>
          </a:p>
          <a:p>
            <a:pPr lvl="1"/>
            <a:r>
              <a:rPr lang="en-US" altLang="en-US" dirty="0"/>
              <a:t>“Need to know” a similar concept regarding access to data</a:t>
            </a:r>
          </a:p>
          <a:p>
            <a:r>
              <a:rPr lang="en-US" altLang="en-US" dirty="0"/>
              <a:t>Must consider “grain” aspect</a:t>
            </a:r>
          </a:p>
          <a:p>
            <a:pPr lvl="1"/>
            <a:r>
              <a:rPr lang="en-US" altLang="en-US" dirty="0"/>
              <a:t>Rough-grained  privilege management easier, simpler, but least privilege now done in large chunks</a:t>
            </a:r>
          </a:p>
          <a:p>
            <a:pPr lvl="1"/>
            <a:r>
              <a:rPr lang="en-US" altLang="en-US" dirty="0"/>
              <a:t>Fine-grained management more complex, more overhead, but more protective</a:t>
            </a:r>
          </a:p>
          <a:p>
            <a:pPr lvl="2"/>
            <a:r>
              <a:rPr lang="en-US" altLang="en-US" dirty="0"/>
              <a:t>File ACL lists, RBAC</a:t>
            </a:r>
          </a:p>
          <a:p>
            <a:r>
              <a:rPr lang="en-US" altLang="en-US" dirty="0"/>
              <a:t>Domain can be user, process, procedure</a:t>
            </a:r>
          </a:p>
          <a:p>
            <a:pPr lvl="2"/>
            <a:endParaRPr lang="en-US" altLang="en-US" dirty="0"/>
          </a:p>
          <a:p>
            <a:pPr lvl="2"/>
            <a:endParaRPr lang="en-US" altLang="en-US" dirty="0"/>
          </a:p>
          <a:p>
            <a:pPr lvl="1">
              <a:buFont typeface="Monotype Sorts" pitchFamily="-84" charset="2"/>
              <a:buNone/>
            </a:pPr>
            <a:endParaRPr lang="en-US" altLang="en-US" dirty="0"/>
          </a:p>
        </p:txBody>
      </p:sp>
    </p:spTree>
    <p:extLst>
      <p:ext uri="{BB962C8B-B14F-4D97-AF65-F5344CB8AC3E}">
        <p14:creationId xmlns:p14="http://schemas.microsoft.com/office/powerpoint/2010/main" val="25123457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ltLang="en-US"/>
              <a:t>Domain Structure</a:t>
            </a:r>
          </a:p>
        </p:txBody>
      </p:sp>
      <p:sp>
        <p:nvSpPr>
          <p:cNvPr id="8195" name="Rectangle 3"/>
          <p:cNvSpPr>
            <a:spLocks noGrp="1" noChangeArrowheads="1"/>
          </p:cNvSpPr>
          <p:nvPr>
            <p:ph type="body" idx="1"/>
          </p:nvPr>
        </p:nvSpPr>
        <p:spPr>
          <a:xfrm>
            <a:off x="806450" y="1477433"/>
            <a:ext cx="7685617" cy="4026959"/>
          </a:xfrm>
        </p:spPr>
        <p:txBody>
          <a:bodyPr/>
          <a:lstStyle/>
          <a:p>
            <a:r>
              <a:rPr lang="en-US" altLang="en-US"/>
              <a:t>Access-right = &lt;</a:t>
            </a:r>
            <a:r>
              <a:rPr lang="en-US" altLang="en-US" i="1"/>
              <a:t>object-name</a:t>
            </a:r>
            <a:r>
              <a:rPr lang="en-US" altLang="en-US"/>
              <a:t>, </a:t>
            </a:r>
            <a:r>
              <a:rPr lang="en-US" altLang="en-US" i="1"/>
              <a:t>rights-set</a:t>
            </a:r>
            <a:r>
              <a:rPr lang="en-US" altLang="en-US"/>
              <a:t>&gt;</a:t>
            </a:r>
            <a:br>
              <a:rPr lang="en-US" altLang="en-US"/>
            </a:br>
            <a:r>
              <a:rPr lang="en-US" altLang="en-US"/>
              <a:t>where </a:t>
            </a:r>
            <a:r>
              <a:rPr lang="en-US" altLang="en-US" i="1"/>
              <a:t>rights-set</a:t>
            </a:r>
            <a:r>
              <a:rPr lang="en-US" altLang="en-US"/>
              <a:t> is a subset of all valid operations that can be performed on the object </a:t>
            </a:r>
            <a:br>
              <a:rPr lang="en-US" altLang="en-US"/>
            </a:br>
            <a:endParaRPr lang="en-US" altLang="en-US"/>
          </a:p>
          <a:p>
            <a:r>
              <a:rPr lang="en-US" altLang="en-US"/>
              <a:t>Domain = set of access-rights </a:t>
            </a:r>
            <a:br>
              <a:rPr lang="en-US" altLang="en-US"/>
            </a:br>
            <a:endParaRPr lang="en-US" altLang="en-US"/>
          </a:p>
        </p:txBody>
      </p:sp>
      <p:pic>
        <p:nvPicPr>
          <p:cNvPr id="819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3217" y="3593042"/>
            <a:ext cx="7078133" cy="1385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096895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algn="r" eaLnBrk="1" hangingPunct="1"/>
            <a:endParaRPr lang="en-US" altLang="en-US" dirty="0"/>
          </a:p>
        </p:txBody>
      </p:sp>
      <p:sp>
        <p:nvSpPr>
          <p:cNvPr id="18435" name="Content Placeholder 2"/>
          <p:cNvSpPr>
            <a:spLocks noGrp="1"/>
          </p:cNvSpPr>
          <p:nvPr>
            <p:ph idx="1"/>
          </p:nvPr>
        </p:nvSpPr>
        <p:spPr/>
        <p:txBody>
          <a:bodyPr/>
          <a:lstStyle/>
          <a:p>
            <a:pPr eaLnBrk="1" hangingPunct="1">
              <a:buFont typeface="Arial" panose="020B0604020202020204" pitchFamily="34" charset="0"/>
              <a:buNone/>
            </a:pPr>
            <a:r>
              <a:rPr lang="en-US" altLang="en-US" sz="2400" b="1" dirty="0">
                <a:solidFill>
                  <a:srgbClr val="002060"/>
                </a:solidFill>
              </a:rPr>
              <a:t>Access control</a:t>
            </a:r>
          </a:p>
          <a:p>
            <a:pPr eaLnBrk="1" hangingPunct="1">
              <a:buFont typeface="Arial" panose="020B0604020202020204" pitchFamily="34" charset="0"/>
              <a:buNone/>
            </a:pPr>
            <a:r>
              <a:rPr lang="en-US" altLang="en-US" sz="2400" dirty="0"/>
              <a:t>    </a:t>
            </a:r>
            <a:r>
              <a:rPr lang="en-AU" altLang="en-US" sz="2400" dirty="0"/>
              <a:t>prevention of the unauthorized use of a resource, that is this service controls</a:t>
            </a:r>
          </a:p>
          <a:p>
            <a:pPr eaLnBrk="1" hangingPunct="1">
              <a:buFont typeface="Arial" panose="020B0604020202020204" pitchFamily="34" charset="0"/>
              <a:buNone/>
            </a:pPr>
            <a:r>
              <a:rPr lang="en-AU" altLang="en-US" sz="2400" dirty="0"/>
              <a:t>	-	who can have access to a resource</a:t>
            </a:r>
          </a:p>
          <a:p>
            <a:pPr eaLnBrk="1" hangingPunct="1">
              <a:buFont typeface="Arial" panose="020B0604020202020204" pitchFamily="34" charset="0"/>
              <a:buNone/>
            </a:pPr>
            <a:r>
              <a:rPr lang="en-AU" altLang="en-US" sz="2400" dirty="0"/>
              <a:t>	-	under what condition access can occur</a:t>
            </a:r>
          </a:p>
          <a:p>
            <a:pPr eaLnBrk="1" hangingPunct="1">
              <a:buFont typeface="Arial" panose="020B0604020202020204" pitchFamily="34" charset="0"/>
              <a:buNone/>
            </a:pPr>
            <a:r>
              <a:rPr lang="en-AU" altLang="en-US" sz="2400" dirty="0"/>
              <a:t>	-	what those accessing are allowed to do </a:t>
            </a:r>
            <a:endParaRPr lang="en-US" altLang="en-US" sz="2400" dirty="0"/>
          </a:p>
        </p:txBody>
      </p:sp>
      <p:sp>
        <p:nvSpPr>
          <p:cNvPr id="4" name="Slide Number Placeholder 3"/>
          <p:cNvSpPr>
            <a:spLocks noGrp="1"/>
          </p:cNvSpPr>
          <p:nvPr>
            <p:ph type="sldNum" sz="quarter" idx="4294967295"/>
          </p:nvPr>
        </p:nvSpPr>
        <p:spPr>
          <a:xfrm>
            <a:off x="6553200" y="6356350"/>
            <a:ext cx="2133600" cy="365125"/>
          </a:xfrm>
          <a:prstGeom prst="rect">
            <a:avLst/>
          </a:prstGeom>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04EC3F3-CF16-4CC5-B1ED-3A3982E046BD}" type="slidenum">
              <a:rPr lang="en-US" altLang="en-US">
                <a:solidFill>
                  <a:srgbClr val="898989"/>
                </a:solidFill>
                <a:latin typeface="Calibri" panose="020F0502020204030204" pitchFamily="34" charset="0"/>
              </a:rPr>
              <a:pPr eaLnBrk="1" hangingPunct="1"/>
              <a:t>26</a:t>
            </a:fld>
            <a:endParaRPr lang="en-US" altLang="en-US">
              <a:solidFill>
                <a:srgbClr val="898989"/>
              </a:solidFill>
              <a:latin typeface="Calibri" panose="020F0502020204030204" pitchFamily="34" charset="0"/>
            </a:endParaRPr>
          </a:p>
        </p:txBody>
      </p:sp>
    </p:spTree>
    <p:extLst>
      <p:ext uri="{BB962C8B-B14F-4D97-AF65-F5344CB8AC3E}">
        <p14:creationId xmlns:p14="http://schemas.microsoft.com/office/powerpoint/2010/main" val="10355919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8435">
                                            <p:txEl>
                                              <p:pRg st="2" end="2"/>
                                            </p:txEl>
                                          </p:spTgt>
                                        </p:tgtEl>
                                        <p:attrNameLst>
                                          <p:attrName>style.visibility</p:attrName>
                                        </p:attrNameLst>
                                      </p:cBhvr>
                                      <p:to>
                                        <p:strVal val="visible"/>
                                      </p:to>
                                    </p:set>
                                    <p:animEffect transition="in" filter="blinds(horizontal)">
                                      <p:cBhvr>
                                        <p:cTn id="7" dur="500"/>
                                        <p:tgtEl>
                                          <p:spTgt spid="18435">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8435">
                                            <p:txEl>
                                              <p:pRg st="3" end="3"/>
                                            </p:txEl>
                                          </p:spTgt>
                                        </p:tgtEl>
                                        <p:attrNameLst>
                                          <p:attrName>style.visibility</p:attrName>
                                        </p:attrNameLst>
                                      </p:cBhvr>
                                      <p:to>
                                        <p:strVal val="visible"/>
                                      </p:to>
                                    </p:set>
                                    <p:animEffect transition="in" filter="blinds(horizontal)">
                                      <p:cBhvr>
                                        <p:cTn id="12" dur="500"/>
                                        <p:tgtEl>
                                          <p:spTgt spid="18435">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8435">
                                            <p:txEl>
                                              <p:pRg st="4" end="4"/>
                                            </p:txEl>
                                          </p:spTgt>
                                        </p:tgtEl>
                                        <p:attrNameLst>
                                          <p:attrName>style.visibility</p:attrName>
                                        </p:attrNameLst>
                                      </p:cBhvr>
                                      <p:to>
                                        <p:strVal val="visible"/>
                                      </p:to>
                                    </p:set>
                                    <p:animEffect transition="in" filter="blinds(horizontal)">
                                      <p:cBhvr>
                                        <p:cTn id="17" dur="500"/>
                                        <p:tgtEl>
                                          <p:spTgt spid="1843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889847" y="250402"/>
            <a:ext cx="7751233" cy="512233"/>
          </a:xfrm>
        </p:spPr>
        <p:txBody>
          <a:bodyPr/>
          <a:lstStyle/>
          <a:p>
            <a:pPr eaLnBrk="1" hangingPunct="1"/>
            <a:r>
              <a:rPr lang="en-US" altLang="en-US" dirty="0"/>
              <a:t>Access Matrix</a:t>
            </a:r>
          </a:p>
        </p:txBody>
      </p:sp>
      <p:sp>
        <p:nvSpPr>
          <p:cNvPr id="10243" name="Rectangle 3"/>
          <p:cNvSpPr>
            <a:spLocks noGrp="1" noChangeArrowheads="1"/>
          </p:cNvSpPr>
          <p:nvPr>
            <p:ph type="body" idx="1"/>
          </p:nvPr>
        </p:nvSpPr>
        <p:spPr>
          <a:xfrm>
            <a:off x="806450" y="1477433"/>
            <a:ext cx="7588250" cy="4026959"/>
          </a:xfrm>
        </p:spPr>
        <p:txBody>
          <a:bodyPr/>
          <a:lstStyle/>
          <a:p>
            <a:r>
              <a:rPr lang="en-US" altLang="en-US"/>
              <a:t>View protection as a matrix (</a:t>
            </a:r>
            <a:r>
              <a:rPr lang="en-US" altLang="en-US" i="1"/>
              <a:t>access matrix</a:t>
            </a:r>
            <a:r>
              <a:rPr lang="en-US" altLang="en-US"/>
              <a:t>)</a:t>
            </a:r>
          </a:p>
          <a:p>
            <a:endParaRPr lang="en-US" altLang="en-US"/>
          </a:p>
          <a:p>
            <a:r>
              <a:rPr lang="en-US" altLang="en-US"/>
              <a:t>Rows represent domains</a:t>
            </a:r>
          </a:p>
          <a:p>
            <a:endParaRPr lang="en-US" altLang="en-US"/>
          </a:p>
          <a:p>
            <a:r>
              <a:rPr lang="en-US" altLang="en-US"/>
              <a:t>Columns represent objects</a:t>
            </a:r>
          </a:p>
          <a:p>
            <a:endParaRPr lang="en-US" altLang="en-US"/>
          </a:p>
          <a:p>
            <a:r>
              <a:rPr lang="en-US" altLang="en-US" i="1"/>
              <a:t>Access(i, j)</a:t>
            </a:r>
            <a:r>
              <a:rPr lang="en-US" altLang="en-US"/>
              <a:t> is the set of operations that a process executing in Domain</a:t>
            </a:r>
            <a:r>
              <a:rPr lang="en-US" altLang="en-US" baseline="-25000"/>
              <a:t>i</a:t>
            </a:r>
            <a:r>
              <a:rPr lang="en-US" altLang="en-US"/>
              <a:t> can invoke on Object</a:t>
            </a:r>
            <a:r>
              <a:rPr lang="en-US" altLang="en-US" baseline="-25000"/>
              <a:t>j</a:t>
            </a:r>
          </a:p>
        </p:txBody>
      </p:sp>
    </p:spTree>
    <p:extLst>
      <p:ext uri="{BB962C8B-B14F-4D97-AF65-F5344CB8AC3E}">
        <p14:creationId xmlns:p14="http://schemas.microsoft.com/office/powerpoint/2010/main" val="29745225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ltLang="en-US"/>
              <a:t>Access Matrix</a:t>
            </a:r>
          </a:p>
        </p:txBody>
      </p:sp>
      <p:pic>
        <p:nvPicPr>
          <p:cNvPr id="11267"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250" y="1660525"/>
            <a:ext cx="6904567" cy="356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158234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715857" y="204682"/>
            <a:ext cx="8005233" cy="512233"/>
          </a:xfrm>
        </p:spPr>
        <p:txBody>
          <a:bodyPr/>
          <a:lstStyle/>
          <a:p>
            <a:pPr eaLnBrk="1" hangingPunct="1"/>
            <a:r>
              <a:rPr lang="en-US" altLang="en-US" dirty="0"/>
              <a:t>Use of Access Matrix</a:t>
            </a:r>
          </a:p>
        </p:txBody>
      </p:sp>
      <p:sp>
        <p:nvSpPr>
          <p:cNvPr id="12291" name="Rectangle 3"/>
          <p:cNvSpPr>
            <a:spLocks noGrp="1" noChangeArrowheads="1"/>
          </p:cNvSpPr>
          <p:nvPr>
            <p:ph type="body" idx="1"/>
          </p:nvPr>
        </p:nvSpPr>
        <p:spPr>
          <a:xfrm>
            <a:off x="715857" y="1305983"/>
            <a:ext cx="7645400" cy="4026959"/>
          </a:xfrm>
        </p:spPr>
        <p:txBody>
          <a:bodyPr/>
          <a:lstStyle/>
          <a:p>
            <a:r>
              <a:rPr lang="en-US" altLang="en-US" dirty="0"/>
              <a:t>If a process in Domain </a:t>
            </a:r>
            <a:r>
              <a:rPr lang="en-US" altLang="en-US" i="1" dirty="0"/>
              <a:t>D</a:t>
            </a:r>
            <a:r>
              <a:rPr lang="en-US" altLang="en-US" i="1" baseline="-25000" dirty="0"/>
              <a:t>i</a:t>
            </a:r>
            <a:r>
              <a:rPr lang="en-US" altLang="en-US" i="1" dirty="0"/>
              <a:t> </a:t>
            </a:r>
            <a:r>
              <a:rPr lang="en-US" altLang="en-US" dirty="0"/>
              <a:t>tries to do “op” on object</a:t>
            </a:r>
            <a:r>
              <a:rPr lang="en-US" altLang="en-US" i="1" dirty="0"/>
              <a:t> </a:t>
            </a:r>
            <a:r>
              <a:rPr lang="en-US" altLang="en-US" i="1" dirty="0" err="1"/>
              <a:t>O</a:t>
            </a:r>
            <a:r>
              <a:rPr lang="en-US" altLang="en-US" i="1" baseline="-25000" dirty="0" err="1"/>
              <a:t>j</a:t>
            </a:r>
            <a:r>
              <a:rPr lang="en-US" altLang="en-US" dirty="0"/>
              <a:t>, then “op” must be in the access matrix</a:t>
            </a:r>
          </a:p>
          <a:p>
            <a:r>
              <a:rPr lang="en-US" altLang="en-US" dirty="0"/>
              <a:t>User who creates object can define access column for that object</a:t>
            </a:r>
          </a:p>
          <a:p>
            <a:r>
              <a:rPr lang="en-US" altLang="en-US" dirty="0"/>
              <a:t>Can be expanded to dynamic protection</a:t>
            </a:r>
          </a:p>
          <a:p>
            <a:pPr lvl="1"/>
            <a:r>
              <a:rPr lang="en-US" altLang="en-US" dirty="0"/>
              <a:t>Operations to add, delete access rights</a:t>
            </a:r>
          </a:p>
          <a:p>
            <a:pPr lvl="1"/>
            <a:r>
              <a:rPr lang="en-US" altLang="en-US" dirty="0"/>
              <a:t>Special access rights:</a:t>
            </a:r>
          </a:p>
          <a:p>
            <a:pPr lvl="2"/>
            <a:r>
              <a:rPr lang="en-US" altLang="en-US" i="1" dirty="0"/>
              <a:t>owner of </a:t>
            </a:r>
            <a:r>
              <a:rPr lang="en-US" altLang="en-US" i="1" dirty="0" err="1"/>
              <a:t>O</a:t>
            </a:r>
            <a:r>
              <a:rPr lang="en-US" altLang="en-US" i="1" baseline="-25000" dirty="0" err="1"/>
              <a:t>i</a:t>
            </a:r>
            <a:endParaRPr lang="en-US" altLang="en-US" i="1" dirty="0"/>
          </a:p>
          <a:p>
            <a:pPr lvl="2"/>
            <a:r>
              <a:rPr lang="en-US" altLang="en-US" i="1" dirty="0"/>
              <a:t>copy op from </a:t>
            </a:r>
            <a:r>
              <a:rPr lang="en-US" altLang="en-US" i="1" dirty="0" err="1"/>
              <a:t>O</a:t>
            </a:r>
            <a:r>
              <a:rPr lang="en-US" altLang="en-US" i="1" baseline="-25000" dirty="0" err="1"/>
              <a:t>i</a:t>
            </a:r>
            <a:r>
              <a:rPr lang="en-US" altLang="en-US" i="1" dirty="0"/>
              <a:t> to </a:t>
            </a:r>
            <a:r>
              <a:rPr lang="en-US" altLang="en-US" i="1" dirty="0" err="1"/>
              <a:t>O</a:t>
            </a:r>
            <a:r>
              <a:rPr lang="en-US" altLang="en-US" i="1" baseline="-25000" dirty="0" err="1"/>
              <a:t>j</a:t>
            </a:r>
            <a:r>
              <a:rPr lang="en-US" altLang="en-US" i="1" baseline="-25000" dirty="0"/>
              <a:t> </a:t>
            </a:r>
            <a:r>
              <a:rPr lang="en-US" altLang="en-US" i="1" dirty="0"/>
              <a:t>(denoted by “*”)</a:t>
            </a:r>
          </a:p>
          <a:p>
            <a:pPr lvl="2"/>
            <a:r>
              <a:rPr lang="en-US" altLang="en-US" i="1" dirty="0"/>
              <a:t>control – D</a:t>
            </a:r>
            <a:r>
              <a:rPr lang="en-US" altLang="en-US" i="1" baseline="-25000" dirty="0"/>
              <a:t>i</a:t>
            </a:r>
            <a:r>
              <a:rPr lang="en-US" altLang="en-US" i="1" dirty="0"/>
              <a:t> can modify </a:t>
            </a:r>
            <a:r>
              <a:rPr lang="en-US" altLang="en-US" i="1" dirty="0" err="1"/>
              <a:t>D</a:t>
            </a:r>
            <a:r>
              <a:rPr lang="en-US" altLang="en-US" i="1" baseline="-25000" dirty="0" err="1"/>
              <a:t>j</a:t>
            </a:r>
            <a:r>
              <a:rPr lang="en-US" altLang="en-US" i="1" dirty="0"/>
              <a:t> access rights</a:t>
            </a:r>
          </a:p>
          <a:p>
            <a:pPr lvl="2"/>
            <a:r>
              <a:rPr lang="en-US" altLang="en-US" i="1" dirty="0"/>
              <a:t>transfer – switch from domain D</a:t>
            </a:r>
            <a:r>
              <a:rPr lang="en-US" altLang="en-US" i="1" baseline="-25000" dirty="0"/>
              <a:t>i</a:t>
            </a:r>
            <a:r>
              <a:rPr lang="en-US" altLang="en-US" i="1" dirty="0"/>
              <a:t> to </a:t>
            </a:r>
            <a:r>
              <a:rPr lang="en-US" altLang="en-US" i="1" dirty="0" err="1"/>
              <a:t>D</a:t>
            </a:r>
            <a:r>
              <a:rPr lang="en-US" altLang="en-US" i="1" baseline="-25000" dirty="0" err="1"/>
              <a:t>j</a:t>
            </a:r>
            <a:endParaRPr lang="en-US" altLang="en-US" i="1" baseline="-25000" dirty="0"/>
          </a:p>
          <a:p>
            <a:pPr lvl="1"/>
            <a:r>
              <a:rPr lang="en-US" altLang="en-US" i="1" dirty="0"/>
              <a:t>Copy </a:t>
            </a:r>
            <a:r>
              <a:rPr lang="en-US" altLang="en-US" dirty="0"/>
              <a:t>and </a:t>
            </a:r>
            <a:r>
              <a:rPr lang="en-US" altLang="en-US" i="1" dirty="0"/>
              <a:t>Owner </a:t>
            </a:r>
            <a:r>
              <a:rPr lang="en-US" altLang="en-US" dirty="0"/>
              <a:t>applicable to an object</a:t>
            </a:r>
          </a:p>
          <a:p>
            <a:pPr lvl="1"/>
            <a:r>
              <a:rPr lang="en-US" altLang="en-US" i="1" dirty="0"/>
              <a:t>Control </a:t>
            </a:r>
            <a:r>
              <a:rPr lang="en-US" altLang="en-US" dirty="0"/>
              <a:t>applicable to domain object</a:t>
            </a:r>
          </a:p>
        </p:txBody>
      </p:sp>
    </p:spTree>
    <p:extLst>
      <p:ext uri="{BB962C8B-B14F-4D97-AF65-F5344CB8AC3E}">
        <p14:creationId xmlns:p14="http://schemas.microsoft.com/office/powerpoint/2010/main" val="40264514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806450" y="307552"/>
            <a:ext cx="7810500" cy="512233"/>
          </a:xfrm>
        </p:spPr>
        <p:txBody>
          <a:bodyPr/>
          <a:lstStyle/>
          <a:p>
            <a:pPr eaLnBrk="1" hangingPunct="1"/>
            <a:r>
              <a:rPr lang="en-US" altLang="en-US" dirty="0"/>
              <a:t>Use of Access Matrix (Cont.)</a:t>
            </a:r>
          </a:p>
        </p:txBody>
      </p:sp>
      <p:sp>
        <p:nvSpPr>
          <p:cNvPr id="13315" name="Rectangle 3"/>
          <p:cNvSpPr>
            <a:spLocks noGrp="1" noChangeArrowheads="1"/>
          </p:cNvSpPr>
          <p:nvPr>
            <p:ph type="body" idx="1"/>
          </p:nvPr>
        </p:nvSpPr>
        <p:spPr>
          <a:xfrm>
            <a:off x="806450" y="1477433"/>
            <a:ext cx="7753350" cy="4026959"/>
          </a:xfrm>
        </p:spPr>
        <p:txBody>
          <a:bodyPr/>
          <a:lstStyle/>
          <a:p>
            <a:r>
              <a:rPr lang="en-US" altLang="en-US" b="1">
                <a:solidFill>
                  <a:srgbClr val="3366FF"/>
                </a:solidFill>
              </a:rPr>
              <a:t>Access matrix</a:t>
            </a:r>
            <a:r>
              <a:rPr lang="en-US" altLang="en-US">
                <a:solidFill>
                  <a:srgbClr val="3366FF"/>
                </a:solidFill>
              </a:rPr>
              <a:t> </a:t>
            </a:r>
            <a:r>
              <a:rPr lang="en-US" altLang="en-US"/>
              <a:t>design separates mechanism from policy</a:t>
            </a:r>
          </a:p>
          <a:p>
            <a:pPr lvl="1"/>
            <a:r>
              <a:rPr lang="en-US" altLang="en-US"/>
              <a:t>Mechanism </a:t>
            </a:r>
          </a:p>
          <a:p>
            <a:pPr lvl="2"/>
            <a:r>
              <a:rPr lang="en-US" altLang="en-US"/>
              <a:t>Operating system provides access-matrix + rules</a:t>
            </a:r>
          </a:p>
          <a:p>
            <a:pPr lvl="2"/>
            <a:r>
              <a:rPr lang="en-US" altLang="en-US"/>
              <a:t>If ensures that the matrix is only manipulated by authorized agents and that rules are strictly enforced</a:t>
            </a:r>
          </a:p>
          <a:p>
            <a:pPr lvl="1"/>
            <a:r>
              <a:rPr lang="en-US" altLang="en-US"/>
              <a:t>Policy</a:t>
            </a:r>
          </a:p>
          <a:p>
            <a:pPr lvl="2"/>
            <a:r>
              <a:rPr lang="en-US" altLang="en-US"/>
              <a:t>User dictates policy</a:t>
            </a:r>
          </a:p>
          <a:p>
            <a:pPr lvl="2"/>
            <a:r>
              <a:rPr lang="en-US" altLang="en-US"/>
              <a:t>Who can access what object and in what mode</a:t>
            </a:r>
          </a:p>
          <a:p>
            <a:pPr lvl="2"/>
            <a:endParaRPr lang="en-US" altLang="en-US"/>
          </a:p>
          <a:p>
            <a:r>
              <a:rPr lang="en-US" altLang="en-US"/>
              <a:t>But doesn’t solve the general confinement problem</a:t>
            </a:r>
          </a:p>
          <a:p>
            <a:pPr lvl="1"/>
            <a:endParaRPr lang="en-US" altLang="en-US"/>
          </a:p>
        </p:txBody>
      </p:sp>
    </p:spTree>
    <p:extLst>
      <p:ext uri="{BB962C8B-B14F-4D97-AF65-F5344CB8AC3E}">
        <p14:creationId xmlns:p14="http://schemas.microsoft.com/office/powerpoint/2010/main" val="6675217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endParaRPr lang="en-US" altLang="en-US"/>
          </a:p>
        </p:txBody>
      </p:sp>
      <p:sp>
        <p:nvSpPr>
          <p:cNvPr id="14339" name="Content Placeholder 2"/>
          <p:cNvSpPr>
            <a:spLocks noGrp="1"/>
          </p:cNvSpPr>
          <p:nvPr>
            <p:ph idx="1"/>
          </p:nvPr>
        </p:nvSpPr>
        <p:spPr/>
        <p:txBody>
          <a:bodyPr/>
          <a:lstStyle/>
          <a:p>
            <a:pPr>
              <a:lnSpc>
                <a:spcPct val="90000"/>
              </a:lnSpc>
              <a:tabLst>
                <a:tab pos="2607864" algn="l"/>
              </a:tabLst>
            </a:pPr>
            <a:r>
              <a:rPr lang="en-US" altLang="en-US"/>
              <a:t>Each column = Access-control list for one object </a:t>
            </a:r>
            <a:br>
              <a:rPr lang="en-US" altLang="en-US"/>
            </a:br>
            <a:r>
              <a:rPr lang="en-US" altLang="en-US"/>
              <a:t>Defines who can perform what operation</a:t>
            </a:r>
            <a:br>
              <a:rPr lang="en-US" altLang="en-US"/>
            </a:br>
            <a:br>
              <a:rPr lang="en-US" altLang="en-US" sz="1533"/>
            </a:br>
            <a:r>
              <a:rPr lang="en-US" altLang="en-US" sz="1533"/>
              <a:t>	Domain 1 = Read, Write</a:t>
            </a:r>
            <a:br>
              <a:rPr lang="en-US" altLang="en-US" sz="1533"/>
            </a:br>
            <a:r>
              <a:rPr lang="en-US" altLang="en-US" sz="1533"/>
              <a:t>	Domain 2 = Read</a:t>
            </a:r>
            <a:br>
              <a:rPr lang="en-US" altLang="en-US" sz="1533"/>
            </a:br>
            <a:r>
              <a:rPr lang="en-US" altLang="en-US" sz="1533"/>
              <a:t>	Domain 3 = Read</a:t>
            </a:r>
            <a:br>
              <a:rPr lang="en-US" altLang="en-US" sz="1533"/>
            </a:br>
            <a:br>
              <a:rPr lang="en-US" altLang="en-US" sz="1533"/>
            </a:br>
            <a:r>
              <a:rPr lang="en-US" altLang="en-US" sz="1533"/>
              <a:t>	       </a:t>
            </a:r>
            <a:endParaRPr lang="en-US" altLang="en-US" sz="1533">
              <a:sym typeface="MT Extra" panose="05050102010205020202" pitchFamily="18" charset="2"/>
            </a:endParaRPr>
          </a:p>
          <a:p>
            <a:pPr>
              <a:lnSpc>
                <a:spcPct val="90000"/>
              </a:lnSpc>
              <a:tabLst>
                <a:tab pos="2607864" algn="l"/>
              </a:tabLst>
            </a:pPr>
            <a:r>
              <a:rPr lang="en-US" altLang="en-US">
                <a:sym typeface="MT Extra" panose="05050102010205020202" pitchFamily="18" charset="2"/>
              </a:rPr>
              <a:t>Each Row = Capability List (like a key)</a:t>
            </a:r>
            <a:br>
              <a:rPr lang="en-US" altLang="en-US">
                <a:sym typeface="MT Extra" panose="05050102010205020202" pitchFamily="18" charset="2"/>
              </a:rPr>
            </a:br>
            <a:r>
              <a:rPr lang="en-US" altLang="en-US">
                <a:sym typeface="MT Extra" panose="05050102010205020202" pitchFamily="18" charset="2"/>
              </a:rPr>
              <a:t>For each domain, what operations allowed on what objects</a:t>
            </a:r>
          </a:p>
          <a:p>
            <a:pPr lvl="3">
              <a:lnSpc>
                <a:spcPct val="90000"/>
              </a:lnSpc>
              <a:buNone/>
              <a:tabLst>
                <a:tab pos="2607864" algn="l"/>
              </a:tabLst>
            </a:pPr>
            <a:r>
              <a:rPr lang="en-US" altLang="en-US" sz="1533"/>
              <a:t>Object F1 – Read</a:t>
            </a:r>
          </a:p>
          <a:p>
            <a:pPr lvl="3">
              <a:lnSpc>
                <a:spcPct val="90000"/>
              </a:lnSpc>
              <a:buNone/>
              <a:tabLst>
                <a:tab pos="2607864" algn="l"/>
              </a:tabLst>
            </a:pPr>
            <a:r>
              <a:rPr lang="en-US" altLang="en-US" sz="1533"/>
              <a:t>Object F4 – Read, Write, Execute</a:t>
            </a:r>
          </a:p>
          <a:p>
            <a:pPr lvl="3">
              <a:lnSpc>
                <a:spcPct val="90000"/>
              </a:lnSpc>
              <a:buNone/>
              <a:tabLst>
                <a:tab pos="2607864" algn="l"/>
              </a:tabLst>
            </a:pPr>
            <a:r>
              <a:rPr lang="en-US" altLang="en-US" sz="1533"/>
              <a:t>Object F5 – Read, Write, Delete, Copy</a:t>
            </a:r>
          </a:p>
          <a:p>
            <a:pPr>
              <a:tabLst>
                <a:tab pos="2607864" algn="l"/>
              </a:tabLst>
            </a:pPr>
            <a:endParaRPr lang="en-US" altLang="en-US"/>
          </a:p>
        </p:txBody>
      </p:sp>
    </p:spTree>
    <p:extLst>
      <p:ext uri="{BB962C8B-B14F-4D97-AF65-F5344CB8AC3E}">
        <p14:creationId xmlns:p14="http://schemas.microsoft.com/office/powerpoint/2010/main" val="34549690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945092" y="273262"/>
            <a:ext cx="7684558" cy="512233"/>
          </a:xfrm>
        </p:spPr>
        <p:txBody>
          <a:bodyPr/>
          <a:lstStyle/>
          <a:p>
            <a:pPr eaLnBrk="1" hangingPunct="1"/>
            <a:r>
              <a:rPr lang="en-US" altLang="en-US" sz="2867" dirty="0"/>
              <a:t>Role-based Access Control in Solaris 10</a:t>
            </a:r>
          </a:p>
        </p:txBody>
      </p:sp>
      <p:pic>
        <p:nvPicPr>
          <p:cNvPr id="1638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7693" y="1610784"/>
            <a:ext cx="3345391" cy="416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871792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of today’s lecture</a:t>
            </a:r>
          </a:p>
        </p:txBody>
      </p:sp>
      <p:sp>
        <p:nvSpPr>
          <p:cNvPr id="3" name="Content Placeholder 2"/>
          <p:cNvSpPr>
            <a:spLocks noGrp="1"/>
          </p:cNvSpPr>
          <p:nvPr>
            <p:ph idx="1"/>
          </p:nvPr>
        </p:nvSpPr>
        <p:spPr/>
        <p:txBody>
          <a:bodyPr/>
          <a:lstStyle/>
          <a:p>
            <a:r>
              <a:rPr lang="en-US" sz="2400" dirty="0"/>
              <a:t>Today we discussed about who the hackers are and what is their motivation</a:t>
            </a:r>
          </a:p>
          <a:p>
            <a:r>
              <a:rPr lang="en-US" sz="2400" dirty="0"/>
              <a:t>We also discussed the differences between vulnerability and attack.</a:t>
            </a:r>
          </a:p>
          <a:p>
            <a:r>
              <a:rPr lang="en-US" sz="2400" dirty="0"/>
              <a:t>We continued our discussion on Threat Modelling and Risk Assessment</a:t>
            </a:r>
          </a:p>
          <a:p>
            <a:r>
              <a:rPr lang="en-US" sz="2400" dirty="0"/>
              <a:t>We have seen that there are security tradeoffs. Too much security can be inconvenient.</a:t>
            </a:r>
          </a:p>
          <a:p>
            <a:r>
              <a:rPr lang="en-US" sz="2400" dirty="0"/>
              <a:t>And lastly, we discussed about different security testing tools that can be used for penetration testing. </a:t>
            </a:r>
          </a:p>
        </p:txBody>
      </p:sp>
    </p:spTree>
    <p:extLst>
      <p:ext uri="{BB962C8B-B14F-4D97-AF65-F5344CB8AC3E}">
        <p14:creationId xmlns:p14="http://schemas.microsoft.com/office/powerpoint/2010/main" val="27755166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ctrTitle"/>
          </p:nvPr>
        </p:nvSpPr>
        <p:spPr>
          <a:xfrm>
            <a:off x="685800" y="990600"/>
            <a:ext cx="7772400" cy="1890713"/>
          </a:xfrm>
        </p:spPr>
        <p:txBody>
          <a:bodyPr/>
          <a:lstStyle/>
          <a:p>
            <a:pPr eaLnBrk="1" hangingPunct="1"/>
            <a:r>
              <a:rPr lang="en-US" altLang="en-US"/>
              <a:t>The End</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FE5C92F24E4244AAD2ED8B96D617959" ma:contentTypeVersion="6" ma:contentTypeDescription="Create a new document." ma:contentTypeScope="" ma:versionID="3018d496b803f6cc1781f7a6cb4acf16">
  <xsd:schema xmlns:xsd="http://www.w3.org/2001/XMLSchema" xmlns:xs="http://www.w3.org/2001/XMLSchema" xmlns:p="http://schemas.microsoft.com/office/2006/metadata/properties" xmlns:ns2="f6eb52e1-44dd-45c2-887b-74d63854f9ed" targetNamespace="http://schemas.microsoft.com/office/2006/metadata/properties" ma:root="true" ma:fieldsID="b11849237a42fd386cbd3544317d650b" ns2:_="">
    <xsd:import namespace="f6eb52e1-44dd-45c2-887b-74d63854f9e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eb52e1-44dd-45c2-887b-74d63854f9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5296707-C520-46E1-B49B-3CACC633D9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6eb52e1-44dd-45c2-887b-74d63854f9e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2DB65C7-72AE-44EA-AD2D-212A4FA7A433}">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FD7CE1C6-D9E6-43C2-8A7C-8745E06737C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OS8</Template>
  <TotalTime>10560</TotalTime>
  <Words>2306</Words>
  <Application>Microsoft Macintosh PowerPoint</Application>
  <PresentationFormat>On-screen Show (4:3)</PresentationFormat>
  <Paragraphs>287</Paragraphs>
  <Slides>34</Slides>
  <Notes>25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34</vt:i4>
      </vt:variant>
    </vt:vector>
  </HeadingPairs>
  <TitlesOfParts>
    <vt:vector size="45" baseType="lpstr">
      <vt:lpstr>Arial</vt:lpstr>
      <vt:lpstr>Calibri</vt:lpstr>
      <vt:lpstr>Courier New</vt:lpstr>
      <vt:lpstr>Helvetica</vt:lpstr>
      <vt:lpstr>Monotype Sorts</vt:lpstr>
      <vt:lpstr>Times New Roman</vt:lpstr>
      <vt:lpstr>Times-Roman</vt:lpstr>
      <vt:lpstr>Verdana</vt:lpstr>
      <vt:lpstr>Webdings</vt:lpstr>
      <vt:lpstr>Wingdings</vt:lpstr>
      <vt:lpstr>os-8</vt:lpstr>
      <vt:lpstr>PowerPoint Presentation</vt:lpstr>
      <vt:lpstr>Another case study </vt:lpstr>
      <vt:lpstr>Finding about the case studies</vt:lpstr>
      <vt:lpstr>Security needs and objectives</vt:lpstr>
      <vt:lpstr>Safety vs. security</vt:lpstr>
      <vt:lpstr>Why security is difficult to achieve?</vt:lpstr>
      <vt:lpstr>Threat Modeling and Risk Assessment </vt:lpstr>
      <vt:lpstr>Threat Modeling and Risk Assessment</vt:lpstr>
      <vt:lpstr>How much security?</vt:lpstr>
      <vt:lpstr>Testing Security </vt:lpstr>
      <vt:lpstr>Penetration Testing Tools</vt:lpstr>
      <vt:lpstr>How to get secure?</vt:lpstr>
      <vt:lpstr>Protection, detection, reaction</vt:lpstr>
      <vt:lpstr>Protection, detection, reaction</vt:lpstr>
      <vt:lpstr>Is a particular security measure good?</vt:lpstr>
      <vt:lpstr>Security through obscurity … ?</vt:lpstr>
      <vt:lpstr>Aspects of Security </vt:lpstr>
      <vt:lpstr>OSI Security Architecture</vt:lpstr>
      <vt:lpstr>Security Attacks Classification</vt:lpstr>
      <vt:lpstr>Passive attack</vt:lpstr>
      <vt:lpstr>Active attack</vt:lpstr>
      <vt:lpstr>Security Service</vt:lpstr>
      <vt:lpstr> Protection</vt:lpstr>
      <vt:lpstr>Principles of Protection</vt:lpstr>
      <vt:lpstr>Domain Structure</vt:lpstr>
      <vt:lpstr>PowerPoint Presentation</vt:lpstr>
      <vt:lpstr>Access Matrix</vt:lpstr>
      <vt:lpstr>Access Matrix</vt:lpstr>
      <vt:lpstr>Use of Access Matrix</vt:lpstr>
      <vt:lpstr>Use of Access Matrix (Cont.)</vt:lpstr>
      <vt:lpstr>PowerPoint Presentation</vt:lpstr>
      <vt:lpstr>Role-based Access Control in Solaris 10</vt:lpstr>
      <vt:lpstr>Summary of today’s lecture</vt:lpstr>
      <vt:lpstr>The End</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Microsoft Office User</cp:lastModifiedBy>
  <cp:revision>251</cp:revision>
  <cp:lastPrinted>2001-06-14T13:58:17Z</cp:lastPrinted>
  <dcterms:created xsi:type="dcterms:W3CDTF">2011-01-13T23:43:38Z</dcterms:created>
  <dcterms:modified xsi:type="dcterms:W3CDTF">2024-01-05T21:05:39Z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0x0101009FE5C92F24E4244AAD2ED8B96D617959</vt:lpwstr>
  </property>
</Properties>
</file>