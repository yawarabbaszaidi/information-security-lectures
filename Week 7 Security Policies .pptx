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49" r:id="rId5"/>
  </p:sldMasterIdLst>
  <p:notesMasterIdLst>
    <p:notesMasterId r:id="rId27"/>
  </p:notesMasterIdLst>
  <p:handoutMasterIdLst>
    <p:handoutMasterId r:id="rId28"/>
  </p:handoutMasterIdLst>
  <p:sldIdLst>
    <p:sldId id="257" r:id="rId6"/>
    <p:sldId id="416" r:id="rId7"/>
    <p:sldId id="287" r:id="rId8"/>
    <p:sldId id="260" r:id="rId9"/>
    <p:sldId id="288" r:id="rId10"/>
    <p:sldId id="316" r:id="rId11"/>
    <p:sldId id="289" r:id="rId12"/>
    <p:sldId id="417" r:id="rId13"/>
    <p:sldId id="290" r:id="rId14"/>
    <p:sldId id="262" r:id="rId15"/>
    <p:sldId id="426" r:id="rId16"/>
    <p:sldId id="418" r:id="rId17"/>
    <p:sldId id="427" r:id="rId18"/>
    <p:sldId id="419" r:id="rId19"/>
    <p:sldId id="420" r:id="rId20"/>
    <p:sldId id="421" r:id="rId21"/>
    <p:sldId id="422" r:id="rId22"/>
    <p:sldId id="423" r:id="rId23"/>
    <p:sldId id="424" r:id="rId24"/>
    <p:sldId id="425" r:id="rId25"/>
    <p:sldId id="286" r:id="rId26"/>
  </p:sldIdLst>
  <p:sldSz cx="10080625" cy="7559675"/>
  <p:notesSz cx="7010400" cy="9296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04">
          <p15:clr>
            <a:srgbClr val="A4A3A4"/>
          </p15:clr>
        </p15:guide>
        <p15:guide id="2" pos="20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8F8DB"/>
    <a:srgbClr val="C5CD8D"/>
    <a:srgbClr val="FFFF00"/>
    <a:srgbClr val="6600FF"/>
    <a:srgbClr val="008000"/>
    <a:srgbClr val="CCFF66"/>
    <a:srgbClr val="EBFE5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52" autoAdjust="0"/>
    <p:restoredTop sz="93896" autoAdjust="0"/>
  </p:normalViewPr>
  <p:slideViewPr>
    <p:cSldViewPr snapToGrid="0">
      <p:cViewPr varScale="1">
        <p:scale>
          <a:sx n="82" d="100"/>
          <a:sy n="82" d="100"/>
        </p:scale>
        <p:origin x="616" y="16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9048"/>
    </p:cViewPr>
  </p:sorterViewPr>
  <p:notesViewPr>
    <p:cSldViewPr snapToGrid="0">
      <p:cViewPr varScale="1">
        <p:scale>
          <a:sx n="59" d="100"/>
          <a:sy n="59" d="100"/>
        </p:scale>
        <p:origin x="-1752" y="-72"/>
      </p:cViewPr>
      <p:guideLst>
        <p:guide orient="horz" pos="2504"/>
        <p:guide pos="20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9BEA92EC-6F58-4F4A-BE9B-836640621F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6F7E5317-DDE1-445C-827D-6EA1C2368AB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3346C8F3-47FA-4FE4-AA7E-E069C01C063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0D26863E-69F0-4024-A00B-E2FF2CD70FC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FC093F-B30F-4B88-A7DA-D0971514BC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1288C842-5267-42A1-9287-6699EFCED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010400" cy="9296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E687E4B0-3D35-479A-9AC0-BE1339AFA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010400" cy="9296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100" name="AutoShape 3">
            <a:extLst>
              <a:ext uri="{FF2B5EF4-FFF2-40B4-BE49-F238E27FC236}">
                <a16:creationId xmlns:a16="http://schemas.microsoft.com/office/drawing/2014/main" id="{6B04A007-B501-4C69-A1E6-F27F0D765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010400" cy="9296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0E734F60-8CA3-42DB-8C30-878BC866B1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60488" y="893763"/>
            <a:ext cx="4289425" cy="32162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D8B6D25-CE80-411D-9129-D1B33C3845A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85850" y="4422775"/>
            <a:ext cx="48450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E81FCE7-5CB8-4304-8B8E-19B37DDF46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307975"/>
            <a:ext cx="4957763" cy="3717925"/>
          </a:xfrm>
          <a:ln/>
        </p:spPr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701DED20-4B24-4A2F-A0E8-411B1625B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3186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FF2DBD91-CB49-477A-B81A-31A076057B6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D6F38B-75CA-45A0-82B1-397A04A45C7E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32865DD6-8D0D-4F61-BA80-A8C7307755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DB74BE9-4C62-4980-91A7-3500E23EE16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F34A3C1-7D85-4F24-B1A8-AD0627EC47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09FB09-726F-425E-B4CE-9A23E781444F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B7A326C-E6E3-45D8-A51D-0D9F5F1794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D970E3B-7DBE-40D8-803E-13D7C21940B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04F27EB0-C3A8-426F-87C6-F1A4C75A363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3BA9CB-771C-4E5F-A001-78CA6581FF95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46C3C20-E245-4967-90F7-51910823D1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90826BF-3AB6-40C9-9AFA-C5FFCAD370F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AE076E4-A5D0-4248-A608-78FEA89605F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8D81F9-9DC8-41A9-98E6-EE1A07563265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CCA1CD7-B8E7-43B8-BFED-216878F640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5775DD62-7D90-4A31-84F1-F801BCD36F0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AE076E4-A5D0-4248-A608-78FEA89605F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8D81F9-9DC8-41A9-98E6-EE1A07563265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CCA1CD7-B8E7-43B8-BFED-216878F640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5775DD62-7D90-4A31-84F1-F801BCD36F0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627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B7DEB15-5489-40F7-BD30-4CEB85FBE2F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89999A-4CAB-461A-9F28-D47362F5ABDE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20681011-E7CD-43BE-ACD0-6C2C625301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91B6283-68CE-42B1-AE67-544656E6749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6136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320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043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097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617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366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1398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60BF289-079A-47C4-A9D3-C686A5931A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F827CC-F1CD-43C5-BD47-77280CAAEED7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812B490-3AC8-4005-9081-FE047BE40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B6D608-316D-4A9E-8EF9-59D7F596C24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8814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CB8B667F-25B2-4D61-815F-7DC6D008F9B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5C1641-1548-4EF9-9A16-5E99DAEF5E48}" type="slidenum">
              <a:rPr lang="en-US" altLang="en-US" sz="13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30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DF2400A-126B-4AE7-AF27-F710EA2AD5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FE6458E6-6FC1-4BF3-8803-2390C251DBF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9A11A-CB07-41A6-BEE4-803C5F536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26D95-442C-4C7D-B130-22B8A2B65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8921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2B32-E9EE-4900-AF8E-6C138959F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E61D0-33A8-46A5-8223-6C402BA0B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288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DF74-BB2F-4F3D-A251-4EAC5B4C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94005-94EC-4F97-8BE8-679B1F35F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089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669A7-E9A9-4D2E-8E03-4A40D1A6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A3D9-5F87-4245-A586-2EF22CFB2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9775" y="1708150"/>
            <a:ext cx="4224338" cy="49720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9247B-9332-4BD5-9D6B-E3562CD25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1708150"/>
            <a:ext cx="4224337" cy="49720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460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163E-A63D-4EC4-855F-BD9E006B1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6ACAB-31E0-41A1-8F3D-C137DECD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85A1A-207A-48F4-905A-F8830E020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44736F-3AFA-44F3-9D94-84D0D4EB3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F7FEF-6F09-4D04-A981-F21939B49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21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4AD3-3C4F-46C7-9A6E-7C6F60A3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826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08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B80D-1416-44F3-BDAD-A884F7A52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BF8A-443D-42F4-9955-98B5CA5A3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074E0-4B2C-4E1B-A5CA-5D07E00DD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756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1EE5-ACA7-403C-B828-29FE634B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2AAFD-DC9A-44DF-8097-9C5368987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01B5C-141B-4E0E-9572-118BD5213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285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E0C2A-9EF0-48A5-A9FE-50ED3F6B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47624-DAA8-4C80-ABF7-DCCC66B04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918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1711F-1474-493D-9E19-A94CDD654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1375" y="182563"/>
            <a:ext cx="2149475" cy="6497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2D5FD-E034-4DD0-9AFE-CDFAA9248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9775" y="182563"/>
            <a:ext cx="6299200" cy="649763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0986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FA48558-1F7A-445D-AE4C-2BAB0684F93D}"/>
              </a:ext>
            </a:extLst>
          </p:cNvPr>
          <p:cNvGrpSpPr>
            <a:grpSpLocks/>
          </p:cNvGrpSpPr>
          <p:nvPr/>
        </p:nvGrpSpPr>
        <p:grpSpPr bwMode="auto">
          <a:xfrm>
            <a:off x="219075" y="3263900"/>
            <a:ext cx="9491663" cy="222250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4A2C54BD-298E-4D24-98E9-CC219A326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cy-GB" altLang="en-US" sz="2646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5D0479C-1855-47A1-97E3-EDC46BF6B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cy-GB" altLang="en-US" sz="2646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3C632E-7B4C-4F23-B418-9157428D9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cy-GB" altLang="en-US" sz="2646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CEDBCD11-F463-4F0B-94F6-64B5AD87EB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54863" y="7262813"/>
            <a:ext cx="29908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102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1B68214B-05F9-465D-879A-44B1E29D15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163" y="7289800"/>
            <a:ext cx="29543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102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sz="1102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102" b="1">
                <a:solidFill>
                  <a:srgbClr val="336699"/>
                </a:solidFill>
                <a:latin typeface="Helvetica" pitchFamily="-84" charset="0"/>
              </a:rPr>
              <a:t> Edit9on</a:t>
            </a: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6047" y="755968"/>
            <a:ext cx="8568531" cy="2344899"/>
          </a:xfrm>
        </p:spPr>
        <p:txBody>
          <a:bodyPr/>
          <a:lstStyle>
            <a:lvl1pPr>
              <a:defRPr sz="474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3338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63E1-94C3-48F9-A503-8F4152072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E4F79-D524-4F05-8714-10BA17DEA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019213-8910-40E7-A527-E3E2D3DB9F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996BA3-A45B-4A27-A191-7DEA115DDB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B86244-3B1F-4C32-8317-A0C30788C6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D5AA2-42DF-499D-AC42-FBD4998C2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912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F9B4-5E0B-40FF-849E-E65220FC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755C-6929-4C5D-A809-99CFCCFA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5E8F95-7D9D-4E95-9B22-17568389FB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F9695A-A774-4BC2-B132-CE710FDAE2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8B8642-FF1C-46E4-AA03-EF1B58387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18DAF-5625-4FCA-AD40-6E1F67E858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921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22B8-580A-46FE-B0F1-F66830E1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22131-0585-40B7-BFA7-30FAC0AC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900071-E07C-4132-AB34-51D6763E03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1E1097-F42A-4301-9333-7E1FE83690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79839A-6D7E-459A-BC04-88D66DAE81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EFFD5-3EBC-4388-AEE9-7D61DDB661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7483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B18CE-3129-4284-858F-7E18B9C9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B77EB-8869-4725-9B5C-4EDDBD33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36EDC-0A15-4ACB-89AC-367244A7F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EBD798-808F-4CDB-9974-83360D4203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9576AD-1EF6-4E49-B47C-85B06D94C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B94CA-BC8E-42C5-A0B8-DE9D48275A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7A6D-07E0-49E1-9A9C-2CF6BD3D31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625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A714-0C1D-4277-88C9-5FC7D6F6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82C85-7F4F-40DC-8294-783AACFBE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5DF11-AC18-4C10-9706-C1CD2134B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418E1-69D8-4972-AE2E-E05301D66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10A97-1323-4F8C-B913-D00DC8370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1DA4C96-F6B5-4705-898C-2954A0ECC4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D33FF2B-F417-40D7-9DD6-DED625A3B3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4A8D23C-446D-41E7-A31E-86C7AFBCD0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EDED3-C430-46E1-9356-ED277D88B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995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87F4-C47C-4FC3-94BC-B41A2CA6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9A89221-C7CC-4BBD-805E-7DF5D63162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0938B7-09BD-40ED-A48A-F729A72BA2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25D021-6A66-4775-8F15-9676412BDF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0507F-CCE9-4AC0-932A-E6ACB96E3A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937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DA78AD9-5AFD-4D11-A0DD-C82519E9C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5AFDC9B-103D-432C-A9A8-7046ADDA97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FBB4121-AD01-4653-BC59-B270F8622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EBC16-383F-44CE-AB91-91A08B08A6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425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C179-02A9-470C-A7E5-45696B95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12CBC-89BC-40A1-BF8F-31717342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E61B7-D09A-4C99-9D9B-6F532F02B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F42F8-8BF0-4786-A3A5-AB32CD6254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9294A-0471-441D-9D74-AAA46F6AB5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6DE9F1-866A-464A-83D8-DB2CE29A0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3CFFC-99EB-4D01-98ED-902F98B329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8164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0523-1ECE-49BE-9953-15A184649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7F99E-7CEF-4FE0-A824-7A00318E1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90445-24EF-4058-B0C3-EADA10138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68A60-83B5-4702-AB42-1C29EDF884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BDD691-31B9-432B-8D78-EFCC0B4C9D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10108C-FD1F-4F58-AFF1-5E2E40CF85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F1C452-795B-402C-B3F8-E753808F9A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826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7CCF-9DEE-41E0-9FDD-2A18D041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CD03E-8D14-416A-B5CC-6A1111CB8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194F30-66DB-4692-84F3-2E0AA84D26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C5905C-0520-4DE3-8ED6-9D578DB107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31C286-B860-48E2-ABA4-727B2DC769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46543-67DF-4B15-91E0-2071FDC861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225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D89578-D940-4304-8D5F-EF7CBCA61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450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65585-458D-49DD-AE24-5995ED238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4825" y="303213"/>
            <a:ext cx="6653213" cy="645001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D126FB-BD62-4CC6-8C63-F2AE6C57CE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300818-6D85-4C70-A69E-5E648921C0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53F8BD-7A16-491F-80AF-E51967AAC7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E8FD3-316B-4A32-AE7F-1EB80ADAF3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62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7E89D05D-06B4-4330-BAAC-EB6DEEA53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9775" y="182563"/>
            <a:ext cx="8601075" cy="125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A4AD992E-1AFE-4263-8EB1-62FE1FA8B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9493AA4-623E-4727-92A9-4D9164AC2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6884988"/>
            <a:ext cx="2352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D46380A0-E005-4074-8568-3C498F8014EE}" type="slidenum">
              <a:rPr lang="en-US" altLang="en-US" sz="1400" smtClean="0">
                <a:solidFill>
                  <a:schemeClr val="tx1"/>
                </a:solidFill>
              </a:rPr>
              <a:pPr algn="r">
                <a:defRPr/>
              </a:pPr>
              <a:t>‹#›</a:t>
            </a:fld>
            <a:endParaRPr lang="en-US" altLang="en-US" sz="14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44" r:id="rId12"/>
  </p:sldLayoutIdLst>
  <p:txStyles>
    <p:titleStyle>
      <a:lvl1pPr algn="ctr" defTabSz="449263" rtl="0" eaLnBrk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800" b="1">
          <a:solidFill>
            <a:schemeClr val="tx1"/>
          </a:solidFill>
          <a:latin typeface="Garamond" panose="02020404030301010803" pitchFamily="18" charset="0"/>
        </a:defRPr>
      </a:lvl2pPr>
      <a:lvl3pPr algn="ctr" defTabSz="449263" rtl="0" eaLnBrk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800" b="1">
          <a:solidFill>
            <a:schemeClr val="tx1"/>
          </a:solidFill>
          <a:latin typeface="Garamond" panose="02020404030301010803" pitchFamily="18" charset="0"/>
        </a:defRPr>
      </a:lvl3pPr>
      <a:lvl4pPr algn="ctr" defTabSz="449263" rtl="0" eaLnBrk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800" b="1">
          <a:solidFill>
            <a:schemeClr val="tx1"/>
          </a:solidFill>
          <a:latin typeface="Garamond" panose="02020404030301010803" pitchFamily="18" charset="0"/>
        </a:defRPr>
      </a:lvl4pPr>
      <a:lvl5pPr algn="ctr" defTabSz="449263" rtl="0" eaLnBrk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800" b="1">
          <a:solidFill>
            <a:schemeClr val="tx1"/>
          </a:solidFill>
          <a:latin typeface="Garamond" panose="02020404030301010803" pitchFamily="18" charset="0"/>
        </a:defRPr>
      </a:lvl5pPr>
      <a:lvl6pPr marL="457200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</a:defRPr>
      </a:lvl6pPr>
      <a:lvl7pPr marL="914400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</a:defRPr>
      </a:lvl7pPr>
      <a:lvl8pPr marL="1371600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</a:defRPr>
      </a:lvl8pPr>
      <a:lvl9pPr marL="1828800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</a:defRPr>
      </a:lvl9pPr>
    </p:titleStyle>
    <p:bodyStyle>
      <a:lvl1pPr marL="427038" indent="-322263" algn="l" defTabSz="449263" rtl="0" eaLnBrk="0" fontAlgn="base" hangingPunct="0">
        <a:spcBef>
          <a:spcPct val="0"/>
        </a:spcBef>
        <a:spcAft>
          <a:spcPts val="100"/>
        </a:spcAft>
        <a:buClr>
          <a:srgbClr val="000000"/>
        </a:buClr>
        <a:buSzPct val="45000"/>
        <a:buFont typeface="StarSymbol" charset="0"/>
        <a:buChar char="●"/>
        <a:defRPr sz="32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858838" indent="-285750" algn="l" defTabSz="449263" rtl="0" eaLnBrk="0" fontAlgn="base" hangingPunct="0">
        <a:lnSpc>
          <a:spcPct val="94000"/>
        </a:lnSpc>
        <a:spcBef>
          <a:spcPct val="0"/>
        </a:spcBef>
        <a:spcAft>
          <a:spcPts val="1088"/>
        </a:spcAft>
        <a:buClr>
          <a:srgbClr val="000000"/>
        </a:buClr>
        <a:buSzPct val="75000"/>
        <a:buFont typeface="StarSymbol" charset="0"/>
        <a:buChar char="–"/>
        <a:defRPr sz="2800" b="1" kern="1200">
          <a:solidFill>
            <a:srgbClr val="000000"/>
          </a:solidFill>
          <a:latin typeface="+mn-lt"/>
          <a:ea typeface="+mn-ea"/>
          <a:cs typeface="+mn-cs"/>
        </a:defRPr>
      </a:lvl2pPr>
      <a:lvl3pPr marL="1290638" indent="-212725" algn="l" defTabSz="449263" rtl="0" eaLnBrk="0" fontAlgn="base" hangingPunct="0">
        <a:lnSpc>
          <a:spcPct val="94000"/>
        </a:lnSpc>
        <a:spcBef>
          <a:spcPct val="0"/>
        </a:spcBef>
        <a:spcAft>
          <a:spcPts val="813"/>
        </a:spcAft>
        <a:buClr>
          <a:srgbClr val="000000"/>
        </a:buClr>
        <a:buSzPct val="45000"/>
        <a:buFont typeface="StarSymbol" charset="0"/>
        <a:buChar char="●"/>
        <a:defRPr sz="2400" b="1" kern="1200">
          <a:solidFill>
            <a:srgbClr val="000000"/>
          </a:solidFill>
          <a:latin typeface="+mn-lt"/>
          <a:ea typeface="+mn-ea"/>
          <a:cs typeface="+mn-cs"/>
        </a:defRPr>
      </a:lvl3pPr>
      <a:lvl4pPr marL="1722438" indent="-211138" algn="l" defTabSz="449263" rtl="0" eaLnBrk="0" fontAlgn="base" hangingPunct="0">
        <a:lnSpc>
          <a:spcPct val="94000"/>
        </a:lnSpc>
        <a:spcBef>
          <a:spcPct val="0"/>
        </a:spcBef>
        <a:spcAft>
          <a:spcPts val="525"/>
        </a:spcAft>
        <a:buClr>
          <a:srgbClr val="000000"/>
        </a:buClr>
        <a:buSzPct val="75000"/>
        <a:buFont typeface="StarSymbol" charset="0"/>
        <a:buChar char="–"/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4pPr>
      <a:lvl5pPr marL="2154238" indent="-212725" algn="l" defTabSz="449263" rtl="0" eaLnBrk="0" fontAlgn="base" hangingPunct="0">
        <a:lnSpc>
          <a:spcPct val="94000"/>
        </a:lnSpc>
        <a:spcBef>
          <a:spcPct val="0"/>
        </a:spcBef>
        <a:spcAft>
          <a:spcPts val="238"/>
        </a:spcAft>
        <a:buClr>
          <a:srgbClr val="000000"/>
        </a:buClr>
        <a:buSzPct val="45000"/>
        <a:buFont typeface="StarSymbol" charset="0"/>
        <a:buChar char="●"/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A15C120-4991-4BCC-ADBD-7FA69923A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303213"/>
            <a:ext cx="9072563" cy="125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B678B69-61CE-4262-AB72-E2CAD2AA3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5" y="1763713"/>
            <a:ext cx="9072563" cy="4989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49CFF361-2A8D-48E1-AEA6-D0E406CD48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4825" y="6884988"/>
            <a:ext cx="23510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A89C9564-DCFD-4448-A846-AC51CA9B60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875" y="6884988"/>
            <a:ext cx="31908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45094" name="Rectangle 6">
            <a:extLst>
              <a:ext uri="{FF2B5EF4-FFF2-40B4-BE49-F238E27FC236}">
                <a16:creationId xmlns:a16="http://schemas.microsoft.com/office/drawing/2014/main" id="{08BC6C07-A211-46EE-B537-00536243F9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713" y="6884988"/>
            <a:ext cx="2352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8BEC44D-03B9-43BF-89F1-C46AE5DEC3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AE734CA-8070-4B78-9498-5BCAD9AE8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3282950"/>
            <a:ext cx="8567738" cy="2263775"/>
          </a:xfrm>
        </p:spPr>
        <p:txBody>
          <a:bodyPr lIns="19841" tIns="51588" rIns="19841" bIns="51588"/>
          <a:lstStyle/>
          <a:p>
            <a:pPr defTabSz="914400" eaLnBrk="1">
              <a:lnSpc>
                <a:spcPct val="80000"/>
              </a:lnSpc>
            </a:pPr>
            <a:r>
              <a:rPr lang="en-GB" altLang="en-US" sz="5400" dirty="0">
                <a:solidFill>
                  <a:srgbClr val="0000CC"/>
                </a:solidFill>
              </a:rPr>
              <a:t>Information Security Essential</a:t>
            </a:r>
            <a:br>
              <a:rPr lang="en-GB" altLang="en-US" sz="5400" dirty="0">
                <a:solidFill>
                  <a:srgbClr val="0000CC"/>
                </a:solidFill>
              </a:rPr>
            </a:br>
            <a:br>
              <a:rPr lang="en-GB" altLang="en-US" sz="5400" dirty="0">
                <a:solidFill>
                  <a:srgbClr val="0000CC"/>
                </a:solidFill>
              </a:rPr>
            </a:br>
            <a:r>
              <a:rPr lang="en-GB" altLang="en-US" sz="5400" dirty="0">
                <a:solidFill>
                  <a:srgbClr val="0000CC"/>
                </a:solidFill>
              </a:rPr>
              <a:t>ISC511</a:t>
            </a:r>
            <a:br>
              <a:rPr lang="en-GB" altLang="en-US" sz="5400" dirty="0">
                <a:solidFill>
                  <a:srgbClr val="0000CC"/>
                </a:solidFill>
              </a:rPr>
            </a:br>
            <a:r>
              <a:rPr lang="en-GB" altLang="en-US" sz="6600" dirty="0">
                <a:solidFill>
                  <a:srgbClr val="0000CC"/>
                </a:solidFill>
              </a:rPr>
              <a:t> </a:t>
            </a:r>
            <a:br>
              <a:rPr lang="en-GB" altLang="en-US" sz="6600" dirty="0">
                <a:solidFill>
                  <a:srgbClr val="0000CC"/>
                </a:solidFill>
              </a:rPr>
            </a:br>
            <a:br>
              <a:rPr lang="en-GB" altLang="en-US" sz="6600" dirty="0">
                <a:solidFill>
                  <a:srgbClr val="0000CC"/>
                </a:solidFill>
              </a:rPr>
            </a:br>
            <a:r>
              <a:rPr lang="en-GB" altLang="en-US" sz="2800" dirty="0">
                <a:solidFill>
                  <a:srgbClr val="0000CC"/>
                </a:solidFill>
              </a:rPr>
              <a:t>(Week 7)</a:t>
            </a:r>
            <a:br>
              <a:rPr lang="en-GB" altLang="en-US" sz="2800">
                <a:solidFill>
                  <a:srgbClr val="0000CC"/>
                </a:solidFill>
              </a:rPr>
            </a:br>
            <a:r>
              <a:rPr lang="en-GB" altLang="en-US" sz="2800">
                <a:solidFill>
                  <a:srgbClr val="0000CC"/>
                </a:solidFill>
              </a:rPr>
              <a:t>01-11-2021</a:t>
            </a:r>
            <a:r>
              <a:rPr lang="en-GB" altLang="en-US" sz="6600">
                <a:solidFill>
                  <a:srgbClr val="0000CC"/>
                </a:solidFill>
              </a:rPr>
              <a:t> </a:t>
            </a:r>
            <a:endParaRPr lang="en-GB" altLang="en-US" sz="6600" dirty="0">
              <a:solidFill>
                <a:srgbClr val="0000CC"/>
              </a:solidFill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D007440E-B4A9-4495-B9C4-306D6F505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4414838"/>
            <a:ext cx="7053262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841" tIns="51588" rIns="19841" bIns="51588" anchor="ctr"/>
          <a:lstStyle>
            <a:lvl1pPr defTabSz="1008063"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728663" algn="l"/>
                <a:tab pos="1679575" algn="l"/>
                <a:tab pos="2632075" algn="l"/>
                <a:tab pos="3584575" algn="l"/>
                <a:tab pos="4537075" algn="l"/>
                <a:tab pos="5489575" algn="l"/>
                <a:tab pos="64420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47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0101-F235-4C0A-B97D-26B39A22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289" y="872380"/>
            <a:ext cx="8601075" cy="125571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Threat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10092-2EA0-4D20-BFF0-7D9B2C417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75" y="6033015"/>
            <a:ext cx="8601075" cy="763201"/>
          </a:xfrm>
        </p:spPr>
        <p:txBody>
          <a:bodyPr/>
          <a:lstStyle/>
          <a:p>
            <a:pPr marL="104775" indent="0" algn="ctr">
              <a:buNone/>
            </a:pPr>
            <a:r>
              <a:rPr lang="en-US" sz="1600" b="0" dirty="0"/>
              <a:t>https://ocw.mit.edu/courses/electrical-engineering-and-computer-science/6-858-computer-systems-security-fall-2014/lecture-notes/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FB978-32A0-482E-8FA4-73862845B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336" y="3230320"/>
            <a:ext cx="1346028" cy="1346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ED68E8-C039-4862-BDF5-A738AFDC4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12" y="3715436"/>
            <a:ext cx="1870270" cy="1161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E83916-0AB1-43D7-9590-5698BC630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748" y="4048970"/>
            <a:ext cx="1757996" cy="12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3F589F-189D-42E8-8CB6-B42798F4A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785" y="2321714"/>
            <a:ext cx="1559053" cy="134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7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D5ECA23-A9E2-41E7-A5CF-9A1AC6DEA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Outlines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3989720-7851-4FE0-B90E-F6A6C7849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628775"/>
            <a:ext cx="8493125" cy="4438650"/>
          </a:xfrm>
        </p:spPr>
        <p:txBody>
          <a:bodyPr/>
          <a:lstStyle/>
          <a:p>
            <a:r>
              <a:rPr lang="en-US" altLang="en-US" sz="2800" dirty="0"/>
              <a:t>Threat Models	</a:t>
            </a:r>
          </a:p>
          <a:p>
            <a:endParaRPr lang="en-US" altLang="en-US" sz="2800" dirty="0"/>
          </a:p>
          <a:p>
            <a:r>
              <a:rPr lang="en-US" altLang="en-US" sz="2800" dirty="0"/>
              <a:t>Policing</a:t>
            </a:r>
          </a:p>
          <a:p>
            <a:endParaRPr lang="en-US" altLang="en-US" sz="2800" dirty="0"/>
          </a:p>
          <a:p>
            <a:r>
              <a:rPr lang="en-US" altLang="en-US" sz="2800" dirty="0"/>
              <a:t>Security Risk Vs Benefits</a:t>
            </a:r>
          </a:p>
          <a:p>
            <a:endParaRPr lang="en-US" altLang="en-US" sz="2800" dirty="0"/>
          </a:p>
          <a:p>
            <a:r>
              <a:rPr lang="en-US" altLang="en-US" sz="2800" dirty="0"/>
              <a:t>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1E47A92-5122-456B-9FBC-611BC8090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Security Design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7C4838E-FD9B-41EC-9054-22D0370D4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0843" y="1628775"/>
            <a:ext cx="9278938" cy="4573588"/>
          </a:xfrm>
        </p:spPr>
        <p:txBody>
          <a:bodyPr/>
          <a:lstStyle/>
          <a:p>
            <a:pPr marL="104775" indent="0">
              <a:buNone/>
            </a:pPr>
            <a:endParaRPr lang="en-US" sz="2800" dirty="0"/>
          </a:p>
          <a:p>
            <a:pPr marL="104775" indent="0">
              <a:buNone/>
            </a:pPr>
            <a:r>
              <a:rPr lang="en-US" sz="2800" dirty="0"/>
              <a:t>Security is also defined as “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achieving some goal in the presence of an adversary</a:t>
            </a:r>
            <a:r>
              <a:rPr lang="en-US" sz="2800" dirty="0"/>
              <a:t>”. </a:t>
            </a:r>
          </a:p>
          <a:p>
            <a:pPr marL="104775" indent="0">
              <a:buNone/>
            </a:pPr>
            <a:r>
              <a:rPr lang="en-US" sz="2800" dirty="0"/>
              <a:t>Many systems are connected to the Internet, which has adversaries. </a:t>
            </a:r>
          </a:p>
          <a:p>
            <a:pPr marL="104775" indent="0">
              <a:buNone/>
            </a:pPr>
            <a:r>
              <a:rPr lang="en-US" sz="2800" dirty="0"/>
              <a:t>Thus, design of many systems might need to address security, i.e. will the system work when there's an adversary?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5452270-B6BC-491D-A3F5-4270446FA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1363" y="692150"/>
            <a:ext cx="8836025" cy="563563"/>
          </a:xfrm>
        </p:spPr>
        <p:txBody>
          <a:bodyPr/>
          <a:lstStyle/>
          <a:p>
            <a:pPr eaLnBrk="1" hangingPunct="1"/>
            <a:r>
              <a:rPr lang="en-US" altLang="en-US" dirty="0"/>
              <a:t>High Level Plan for Thinking about Security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6EE9023-143E-4B44-BCE1-1ABC2DA68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0066" y="1628775"/>
            <a:ext cx="9751498" cy="4933950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Policy: </a:t>
            </a:r>
            <a:r>
              <a:rPr lang="en-US" sz="2800" dirty="0"/>
              <a:t>The	goal you want	to achieve.	e.g. only	Alice	should read	file F: 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Common goals: </a:t>
            </a:r>
            <a:r>
              <a:rPr lang="en-US" sz="2800" dirty="0"/>
              <a:t>confidentiality,	integrity,	availability.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Threat model: </a:t>
            </a:r>
            <a:r>
              <a:rPr lang="en-US" sz="2800" dirty="0"/>
              <a:t>assumptions about what the attacker could do. e.g. can guess passwords, cannot physically grab file server Better to err on the side of assuming attacker can do something.. 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Mechanism: </a:t>
            </a:r>
            <a:r>
              <a:rPr lang="en-US" sz="2800" dirty="0"/>
              <a:t>knobs that your system provides to help uphold policy. e.g. user accounts, passwords, file permissions, encryption.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Resulting goal</a:t>
            </a:r>
            <a:r>
              <a:rPr lang="en-US" sz="2800" dirty="0"/>
              <a:t>: no way for adversary within threat model to violate policy. Note that goal has nothing to say about mechanism. 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91AE51EA-03CD-4A83-AACA-4D97297FB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Why is Security Hard? </a:t>
            </a:r>
            <a:b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Negative Goal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788CA35-2935-4AA5-A8A1-74B2F6F215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27038" lvl="1" indent="-322263">
              <a:spcAft>
                <a:spcPts val="100"/>
              </a:spcAft>
              <a:buSzPct val="45000"/>
              <a:buFont typeface="StarSymbol" charset="0"/>
              <a:buChar char="●"/>
              <a:defRPr/>
            </a:pPr>
            <a:r>
              <a:rPr lang="en-US" altLang="en-US" dirty="0"/>
              <a:t>Need	to	guarantee	policy,	assuming	the	threat	model.</a:t>
            </a:r>
          </a:p>
          <a:p>
            <a:pPr marL="427038" lvl="1" indent="-322263">
              <a:spcAft>
                <a:spcPts val="100"/>
              </a:spcAft>
              <a:buSzPct val="45000"/>
              <a:buFont typeface="StarSymbol" charset="0"/>
              <a:buChar char="●"/>
              <a:defRPr/>
            </a:pPr>
            <a:r>
              <a:rPr lang="en-US" altLang="en-US" dirty="0"/>
              <a:t>Difficult	to	think	of	all	possible	ways	that	attacker	might	break	in.</a:t>
            </a:r>
          </a:p>
          <a:p>
            <a:pPr marL="427038" lvl="1" indent="-322263">
              <a:spcAft>
                <a:spcPts val="100"/>
              </a:spcAft>
              <a:buSzPct val="45000"/>
              <a:buFont typeface="StarSymbol" charset="0"/>
              <a:buChar char="●"/>
              <a:defRPr/>
            </a:pPr>
            <a:r>
              <a:rPr lang="en-US" altLang="en-US" dirty="0"/>
              <a:t>Realistic	threat	 models	are	open-ended 	(almost	negative	models).</a:t>
            </a:r>
          </a:p>
          <a:p>
            <a:pPr marL="427038" lvl="1" indent="-322263">
              <a:spcAft>
                <a:spcPts val="100"/>
              </a:spcAft>
              <a:buSzPct val="45000"/>
              <a:buFont typeface="StarSymbol" charset="0"/>
              <a:buChar char="●"/>
              <a:defRPr/>
            </a:pPr>
            <a:r>
              <a:rPr lang="en-US" altLang="en-US" dirty="0"/>
              <a:t>Contrast:	easy	to	check	whether	a	positive	goal	is	upheld,	e.g.	Alice	can	actually	read	file	F.</a:t>
            </a:r>
          </a:p>
          <a:p>
            <a:pPr marL="427038" lvl="1" indent="-322263">
              <a:spcAft>
                <a:spcPts val="100"/>
              </a:spcAft>
              <a:buSzPct val="45000"/>
              <a:buFont typeface="StarSymbol" charset="0"/>
              <a:buChar char="●"/>
              <a:defRPr/>
            </a:pPr>
            <a:r>
              <a:rPr lang="en-US" altLang="en-US" dirty="0"/>
              <a:t>Weakest	link	matters.</a:t>
            </a:r>
          </a:p>
          <a:p>
            <a:pPr marL="427038" lvl="1" indent="-322263">
              <a:spcAft>
                <a:spcPts val="100"/>
              </a:spcAft>
              <a:buSzPct val="45000"/>
              <a:buFont typeface="StarSymbol" charset="0"/>
              <a:buChar char="●"/>
              <a:defRPr/>
            </a:pPr>
            <a:r>
              <a:rPr lang="en-US" altLang="en-US" dirty="0"/>
              <a:t>Iterative	process:	design,	update	threat	model	as	necessary,	etc.</a:t>
            </a:r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A0E0D8A-2DEB-4DD3-9C9E-F2ED9B731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0887" y="534057"/>
            <a:ext cx="8960671" cy="774043"/>
          </a:xfrm>
        </p:spPr>
        <p:txBody>
          <a:bodyPr/>
          <a:lstStyle/>
          <a:p>
            <a:pPr eaLnBrk="1" hangingPunct="1"/>
            <a:r>
              <a:rPr lang="en-US" altLang="en-US" dirty="0"/>
              <a:t>What’s the point if we can’t achieve Perfect Security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112D5-932D-404F-A254-8CDBA1671783}"/>
              </a:ext>
            </a:extLst>
          </p:cNvPr>
          <p:cNvSpPr/>
          <p:nvPr/>
        </p:nvSpPr>
        <p:spPr>
          <a:xfrm>
            <a:off x="518729" y="2619959"/>
            <a:ext cx="9192829" cy="2703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latin typeface="+mn-lt"/>
              </a:rPr>
              <a:t>Each system will likely have some breaking point leading to compromise.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Doesn't necessarily mean the system is not useful: depends on context.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latin typeface="+mn-lt"/>
              </a:rPr>
              <a:t>Important to understand what a system can do, and what a system cannot.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A0E0D8A-2DEB-4DD3-9C9E-F2ED9B731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0887" y="534057"/>
            <a:ext cx="8960671" cy="774043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 Risk Vs Benefit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112D5-932D-404F-A254-8CDBA1671783}"/>
              </a:ext>
            </a:extLst>
          </p:cNvPr>
          <p:cNvSpPr/>
          <p:nvPr/>
        </p:nvSpPr>
        <p:spPr>
          <a:xfrm>
            <a:off x="443897" y="1752855"/>
            <a:ext cx="9192829" cy="314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latin typeface="+mn-lt"/>
              </a:rPr>
              <a:t>In reality, must manage security risk vs. benefit.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More secure systems means less risk (or less consequence) of some compromise.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latin typeface="+mn-lt"/>
              </a:rPr>
              <a:t>Insecure systems may require manual auditing to check for attacks, etc.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latin typeface="+mn-lt"/>
              </a:rPr>
              <a:t>Higher Cost of attack means more adversaries will be deterred.  </a:t>
            </a:r>
          </a:p>
        </p:txBody>
      </p:sp>
    </p:spTree>
    <p:extLst>
      <p:ext uri="{BB962C8B-B14F-4D97-AF65-F5344CB8AC3E}">
        <p14:creationId xmlns:p14="http://schemas.microsoft.com/office/powerpoint/2010/main" val="29879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2D48C00-EEF2-4FB4-A5ED-12BD9D821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692150"/>
            <a:ext cx="8621712" cy="563563"/>
          </a:xfrm>
        </p:spPr>
        <p:txBody>
          <a:bodyPr/>
          <a:lstStyle/>
          <a:p>
            <a:pPr eaLnBrk="1" hangingPunct="1"/>
            <a:r>
              <a:rPr lang="en-US" altLang="en-US" dirty="0"/>
              <a:t>Better Security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7B1FB-8321-4FC5-9CA0-965CC8C04A0E}"/>
              </a:ext>
            </a:extLst>
          </p:cNvPr>
          <p:cNvSpPr/>
          <p:nvPr/>
        </p:nvSpPr>
        <p:spPr>
          <a:xfrm>
            <a:off x="216063" y="1488577"/>
            <a:ext cx="9648497" cy="5732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latin typeface="+mn-lt"/>
              </a:rPr>
              <a:t>Better security often makes new functionality practical and safe. Suppose you want to run some application on your system. 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Large companies sometimes prohibit users from installing software that hasn't been approved on their desktops, partly due to security. 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 err="1">
                <a:latin typeface="+mn-lt"/>
              </a:rPr>
              <a:t>Javascript</a:t>
            </a:r>
            <a:r>
              <a:rPr lang="en-US" sz="2800" b="1" dirty="0">
                <a:latin typeface="+mn-lt"/>
              </a:rPr>
              <a:t> in the browser is isolated, making it ok (for the most part) to run new code/applications without manual inspection/approval (or virtual machines, or Native Client, or better OS isolation mechanisms). </a:t>
            </a:r>
          </a:p>
          <a:p>
            <a:pPr marL="427038" indent="-322263" defTabSz="449263">
              <a:spcAft>
                <a:spcPts val="100"/>
              </a:spcAft>
              <a:buClr>
                <a:srgbClr val="000000"/>
              </a:buClr>
              <a:buSzPct val="45000"/>
              <a:buFont typeface="StarSymbol" charset="0"/>
              <a:buChar char="●"/>
            </a:pPr>
            <a:r>
              <a:rPr lang="en-US" sz="2800" b="1" dirty="0">
                <a:latin typeface="+mn-lt"/>
              </a:rPr>
              <a:t>Similarly, VPNs make it practical to mitigate risk of allowing employees to connect to a corporate network from anywhere on the Internet.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goes wrong #1: </a:t>
            </a:r>
            <a:br>
              <a:rPr lang="en-US" dirty="0"/>
            </a:br>
            <a:r>
              <a:rPr lang="en-US" dirty="0"/>
              <a:t>Problems with the policy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731" y="1623848"/>
            <a:ext cx="9270124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altLang="en-US" sz="2400" dirty="0"/>
              <a:t>Example 1: Sarah Palin’s email Account</a:t>
            </a:r>
          </a:p>
          <a:p>
            <a:pPr marL="104775" indent="0">
              <a:buNone/>
            </a:pPr>
            <a:r>
              <a:rPr lang="en-US" altLang="en-US" sz="2400" dirty="0"/>
              <a:t>https://en.wikipedia.org/wiki/Sarah_Palin_email_hack</a:t>
            </a:r>
          </a:p>
          <a:p>
            <a:pPr marL="104775" indent="0">
              <a:buNone/>
            </a:pPr>
            <a:endParaRPr lang="en-US" altLang="en-US" sz="2400" dirty="0"/>
          </a:p>
          <a:p>
            <a:r>
              <a:rPr lang="en-US" altLang="en-US" sz="2400" dirty="0"/>
              <a:t>Yahoo	email	accounts	have	a	username,	password,	and	security	questions.</a:t>
            </a:r>
          </a:p>
          <a:p>
            <a:r>
              <a:rPr lang="en-US" altLang="en-US" sz="2400" dirty="0">
                <a:solidFill>
                  <a:schemeClr val="accent2">
                    <a:lumMod val="50000"/>
                  </a:schemeClr>
                </a:solidFill>
              </a:rPr>
              <a:t>User	can	log	in	by	supplying	username	and	password.</a:t>
            </a:r>
          </a:p>
          <a:p>
            <a:r>
              <a:rPr lang="en-US" altLang="en-US" sz="2400" dirty="0">
                <a:solidFill>
                  <a:schemeClr val="accent2">
                    <a:lumMod val="50000"/>
                  </a:schemeClr>
                </a:solidFill>
              </a:rPr>
              <a:t>If 	user	forgets	password,	can	reset	by	answering	security	Questions</a:t>
            </a:r>
          </a:p>
          <a:p>
            <a:r>
              <a:rPr lang="en-US" altLang="en-US" sz="2400" dirty="0"/>
              <a:t>Security	questions	can	sometimes	be	easier	to	guess than passwords. 	</a:t>
            </a:r>
          </a:p>
          <a:p>
            <a:r>
              <a:rPr lang="en-US" altLang="en-US" sz="2400" dirty="0">
                <a:solidFill>
                  <a:schemeClr val="accent2">
                    <a:lumMod val="50000"/>
                  </a:schemeClr>
                </a:solidFill>
              </a:rPr>
              <a:t>Some	adversary	guessed	Sarah	Palin's	high	school,	birthday,	etc.	</a:t>
            </a:r>
          </a:p>
          <a:p>
            <a:r>
              <a:rPr lang="en-US" altLang="en-US" sz="2400" dirty="0"/>
              <a:t>Policy	amounts	to:	can	log	in	with	either	password	or	security	Questions. (no way to enforce "Only	if user	forgets	password,	then	...")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B99C-1D8D-434A-840F-FFA7DCC43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D191-0AF3-408E-B9D1-7C7214454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ED43A-847C-4CAA-AE74-3D4CE91B0D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91728" y="182562"/>
            <a:ext cx="9888897" cy="741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3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goes wrong #1: </a:t>
            </a:r>
            <a:br>
              <a:rPr lang="en-US" dirty="0"/>
            </a:br>
            <a:r>
              <a:rPr lang="en-US" dirty="0"/>
              <a:t>Problems with the policy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3421" y="1623848"/>
            <a:ext cx="9907204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altLang="en-US" sz="2400" dirty="0"/>
              <a:t>Example 2: Mat Honan’s accounts at Amazon, Apple, Google etc. </a:t>
            </a:r>
          </a:p>
          <a:p>
            <a:pPr marL="104775" indent="0">
              <a:buNone/>
            </a:pPr>
            <a:r>
              <a:rPr lang="en-US" altLang="en-US" sz="2400" dirty="0"/>
              <a:t>https://www.wired.com/2012/08/apple-amazon-mat-honan-hacking/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Gmail password reset: send a verification link to a backup email address</a:t>
            </a:r>
          </a:p>
          <a:p>
            <a:pPr marL="104775" indent="0">
              <a:buNone/>
            </a:pPr>
            <a:r>
              <a:rPr lang="en-US" sz="2400" dirty="0"/>
              <a:t>	Google helpfully prints part of the backup email address.</a:t>
            </a:r>
          </a:p>
          <a:p>
            <a:pPr marL="104775" indent="0">
              <a:buNone/>
            </a:pPr>
            <a:r>
              <a:rPr lang="en-US" sz="2400" dirty="0"/>
              <a:t>	Mat Honan's backup address was his Apple @me.com account</a:t>
            </a:r>
          </a:p>
          <a:p>
            <a:pPr marL="104775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Apple password reset: need billing address, last 4 digits of credit card. 	Address can be easy, but how to get 4 digits of user's credit card 	number?</a:t>
            </a:r>
          </a:p>
          <a:p>
            <a:pPr marL="104775" indent="0">
              <a:buNone/>
            </a:pPr>
            <a:r>
              <a:rPr lang="en-US" sz="2400" dirty="0"/>
              <a:t>Amazon: can add a credit card to an account, no password required. </a:t>
            </a:r>
          </a:p>
          <a:p>
            <a:pPr marL="104775" indent="0">
              <a:buNone/>
            </a:pPr>
            <a:r>
              <a:rPr lang="en-US" sz="2400" dirty="0"/>
              <a:t>	Amazon password reset: provide any one of user's credit card no.</a:t>
            </a:r>
          </a:p>
          <a:p>
            <a:pPr marL="104775" indent="0">
              <a:buNone/>
            </a:pPr>
            <a:r>
              <a:rPr lang="en-US" sz="2400" dirty="0"/>
              <a:t>	Amazon: will not print credit card numbers. But will print last 4 digits!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478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DA59-812F-4D6B-82B8-DC4D50B1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4684C-E1AA-45F7-91BF-DEAB0216D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12CDF-276C-4CE2-BB17-769A88C28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23092" y="0"/>
            <a:ext cx="9957533" cy="746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4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goes wrong #1: </a:t>
            </a:r>
            <a:br>
              <a:rPr lang="en-US" dirty="0"/>
            </a:br>
            <a:r>
              <a:rPr lang="en-US" dirty="0"/>
              <a:t>Problems with the policy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3421" y="1623848"/>
            <a:ext cx="9907204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altLang="en-US" sz="2400" dirty="0"/>
              <a:t>Example 3: </a:t>
            </a:r>
            <a:r>
              <a:rPr lang="en-US" sz="2400" dirty="0"/>
              <a:t>Twitter's @N account hijacking </a:t>
            </a:r>
            <a:r>
              <a:rPr lang="en-US" altLang="en-US" sz="2400" dirty="0"/>
              <a:t>https://medium.com/@N/how-i-lost-my-50-000-twitter-username-24eb09e026dd</a:t>
            </a: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Can be hard for legitimate user to prove they own an account! 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How to Solve?</a:t>
            </a:r>
          </a:p>
          <a:p>
            <a:pPr marL="104775" indent="0">
              <a:buNone/>
            </a:pPr>
            <a:r>
              <a:rPr lang="en-US" sz="2400" dirty="0"/>
              <a:t>Think hard about implications of policy statements. </a:t>
            </a:r>
          </a:p>
          <a:p>
            <a:pPr marL="104775" indent="0">
              <a:buNone/>
            </a:pPr>
            <a:r>
              <a:rPr lang="en-US" sz="2400" dirty="0"/>
              <a:t>Some policy checking tools can help, but need a way to specify what's bad. Difficult in distributed systems: don't know what everyone is doing.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3236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68014" y="368136"/>
            <a:ext cx="10348639" cy="1255712"/>
          </a:xfrm>
        </p:spPr>
        <p:txBody>
          <a:bodyPr/>
          <a:lstStyle/>
          <a:p>
            <a:pPr eaLnBrk="1" hangingPunct="1"/>
            <a:r>
              <a:rPr lang="en-US" dirty="0"/>
              <a:t>What goes wrong #2: </a:t>
            </a:r>
            <a:br>
              <a:rPr lang="en-US" dirty="0"/>
            </a:br>
            <a:r>
              <a:rPr lang="en-US" sz="4400" dirty="0"/>
              <a:t>Problems with threat model/assumptions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3421" y="1939159"/>
            <a:ext cx="9907204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sz="2400" dirty="0"/>
              <a:t>Example 1: human factors not accounted for, example, phishing attacks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	User gets email asking to renew email account, transfer money, or ...</a:t>
            </a:r>
          </a:p>
          <a:p>
            <a:pPr marL="104775" indent="0">
              <a:buNone/>
            </a:pPr>
            <a:r>
              <a:rPr lang="en-US" sz="2400" dirty="0"/>
              <a:t>	 Tech support gets call from convincing- sounding user to reset password	</a:t>
            </a:r>
          </a:p>
          <a:p>
            <a:pPr marL="104775" indent="0">
              <a:buNone/>
            </a:pPr>
            <a:r>
              <a:rPr lang="en-US" sz="2400" dirty="0"/>
              <a:t>	"</a:t>
            </a:r>
            <a:r>
              <a:rPr lang="en-US" sz="2400" dirty="0" err="1"/>
              <a:t>Rubberhose</a:t>
            </a:r>
            <a:r>
              <a:rPr lang="en-US" sz="2400" dirty="0"/>
              <a:t> cryptanalysis".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2554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68014" y="368136"/>
            <a:ext cx="10348639" cy="1255712"/>
          </a:xfrm>
        </p:spPr>
        <p:txBody>
          <a:bodyPr/>
          <a:lstStyle/>
          <a:p>
            <a:pPr eaLnBrk="1" hangingPunct="1"/>
            <a:r>
              <a:rPr lang="en-US" dirty="0"/>
              <a:t>What goes wrong #2: </a:t>
            </a:r>
            <a:br>
              <a:rPr lang="en-US" dirty="0"/>
            </a:br>
            <a:r>
              <a:rPr lang="en-US" sz="4400" dirty="0"/>
              <a:t>Problems with threat model/assumptions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6455"/>
            <a:ext cx="9907204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sz="2400" dirty="0"/>
              <a:t>Example 2: computational assumptions change over time.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	MIT's Kerberos system used 56-bit DES keys, since mid-1980’s.</a:t>
            </a:r>
          </a:p>
          <a:p>
            <a:pPr marL="104775" indent="0">
              <a:buNone/>
            </a:pPr>
            <a:r>
              <a:rPr lang="en-US" sz="2400" dirty="0"/>
              <a:t>	At the time, seemed fine to assume adversary can't check all 2^56 keys.</a:t>
            </a:r>
          </a:p>
          <a:p>
            <a:pPr marL="104775" indent="0">
              <a:buNone/>
            </a:pPr>
            <a:r>
              <a:rPr lang="en-US" sz="2400" dirty="0"/>
              <a:t>	 No longer reasonable: now costs about $100</a:t>
            </a:r>
          </a:p>
          <a:p>
            <a:pPr marL="104775" indent="0">
              <a:buNone/>
            </a:pPr>
            <a:r>
              <a:rPr lang="en-US" sz="2400" dirty="0"/>
              <a:t>	 https://www.clou </a:t>
            </a:r>
            <a:r>
              <a:rPr lang="en-US" sz="2400" dirty="0" err="1"/>
              <a:t>reasona</a:t>
            </a:r>
            <a:r>
              <a:rPr lang="en-US" sz="2400" dirty="0"/>
              <a:t> dcracker.com/dictionaries.html </a:t>
            </a:r>
          </a:p>
          <a:p>
            <a:pPr marL="104775" indent="0">
              <a:buNone/>
            </a:pPr>
            <a:r>
              <a:rPr lang="en-US" sz="2400" dirty="0"/>
              <a:t>	Several years ago, 6.858 final project showed you can get any key in a day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05949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68014" y="368136"/>
            <a:ext cx="10348639" cy="1255712"/>
          </a:xfrm>
        </p:spPr>
        <p:txBody>
          <a:bodyPr/>
          <a:lstStyle/>
          <a:p>
            <a:pPr eaLnBrk="1" hangingPunct="1"/>
            <a:r>
              <a:rPr lang="en-US" dirty="0"/>
              <a:t>What goes wrong #2: </a:t>
            </a:r>
            <a:br>
              <a:rPr lang="en-US" dirty="0"/>
            </a:br>
            <a:r>
              <a:rPr lang="en-US" sz="4400" dirty="0"/>
              <a:t>Problems with threat model/assumptions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6455"/>
            <a:ext cx="9932276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sz="2400" dirty="0"/>
              <a:t>Example 3: All SSL certificate </a:t>
            </a:r>
            <a:r>
              <a:rPr lang="en-US" sz="2400" dirty="0" err="1"/>
              <a:t>CAs</a:t>
            </a:r>
            <a:r>
              <a:rPr lang="en-US" sz="2400" dirty="0"/>
              <a:t> are fully trusted 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	To connect o to an SSL-enabled web site, web browser verifies certificate. </a:t>
            </a:r>
          </a:p>
          <a:p>
            <a:pPr marL="104775" indent="0">
              <a:buNone/>
            </a:pPr>
            <a:r>
              <a:rPr lang="en-US" sz="2400" dirty="0"/>
              <a:t>	Certificate is a combination of server's host name and cryptographic key, signed by some trusted certificate authority (CA). </a:t>
            </a:r>
          </a:p>
          <a:p>
            <a:pPr marL="104775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Long list (hundreds) of certificate authorities trusted by most browsers.</a:t>
            </a:r>
          </a:p>
          <a:p>
            <a:pPr marL="104775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If any CA is compromised, adversary can intercept SSL connections with a "fake" certificate for any server host name. </a:t>
            </a:r>
          </a:p>
          <a:p>
            <a:pPr marL="104775" indent="0">
              <a:buNone/>
            </a:pPr>
            <a:endParaRPr lang="en-US" altLang="en-US" sz="2400" dirty="0"/>
          </a:p>
          <a:p>
            <a:pPr marL="104775" indent="0">
              <a:buNone/>
            </a:pPr>
            <a:r>
              <a:rPr lang="en-US" sz="2400" dirty="0"/>
              <a:t>In 2011, two </a:t>
            </a:r>
            <a:r>
              <a:rPr lang="en-US" sz="2400" dirty="0" err="1"/>
              <a:t>CAs</a:t>
            </a:r>
            <a:r>
              <a:rPr lang="en-US" sz="2400" dirty="0"/>
              <a:t> were compromised, issued fake certs for many domains e.g., google, yahoo, tor //etc.</a:t>
            </a:r>
          </a:p>
          <a:p>
            <a:pPr marL="104775" indent="0">
              <a:buNone/>
            </a:pPr>
            <a:r>
              <a:rPr lang="en-US" sz="2400" dirty="0"/>
              <a:t>https://en.wikipedia.org/wiki/Comodo_Group</a:t>
            </a:r>
          </a:p>
          <a:p>
            <a:pPr marL="104775" indent="0">
              <a:buNone/>
            </a:pPr>
            <a:r>
              <a:rPr lang="en-US" sz="2400" dirty="0"/>
              <a:t>https://en.wikipedia.org/wiki/DigiNotar</a:t>
            </a:r>
          </a:p>
        </p:txBody>
      </p:sp>
    </p:spTree>
    <p:extLst>
      <p:ext uri="{BB962C8B-B14F-4D97-AF65-F5344CB8AC3E}">
        <p14:creationId xmlns:p14="http://schemas.microsoft.com/office/powerpoint/2010/main" val="6169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68014" y="368136"/>
            <a:ext cx="10348639" cy="1255712"/>
          </a:xfrm>
        </p:spPr>
        <p:txBody>
          <a:bodyPr/>
          <a:lstStyle/>
          <a:p>
            <a:pPr eaLnBrk="1" hangingPunct="1"/>
            <a:r>
              <a:rPr lang="en-US" dirty="0"/>
              <a:t>What goes wrong #2: </a:t>
            </a:r>
            <a:br>
              <a:rPr lang="en-US" dirty="0"/>
            </a:br>
            <a:r>
              <a:rPr lang="en-US" sz="4400" dirty="0"/>
              <a:t>Problems with threat model/assumptions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6455"/>
            <a:ext cx="9932276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sz="2400" dirty="0"/>
              <a:t>Example 4: Assuming your hardware is trustworthy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If National Security Agency is your adversary, turns out to not be a good assumption.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https://www.schneier.com/blog/archives/2013/12/more_about_the.html</a:t>
            </a:r>
          </a:p>
        </p:txBody>
      </p:sp>
    </p:spTree>
    <p:extLst>
      <p:ext uri="{BB962C8B-B14F-4D97-AF65-F5344CB8AC3E}">
        <p14:creationId xmlns:p14="http://schemas.microsoft.com/office/powerpoint/2010/main" val="3625741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68014" y="368136"/>
            <a:ext cx="10348639" cy="1255712"/>
          </a:xfrm>
        </p:spPr>
        <p:txBody>
          <a:bodyPr/>
          <a:lstStyle/>
          <a:p>
            <a:pPr eaLnBrk="1" hangingPunct="1"/>
            <a:r>
              <a:rPr lang="en-US" dirty="0"/>
              <a:t>What goes wrong #2: </a:t>
            </a:r>
            <a:br>
              <a:rPr lang="en-US" dirty="0"/>
            </a:br>
            <a:r>
              <a:rPr lang="en-US" sz="4400" dirty="0"/>
              <a:t>Problems with threat model/assumptions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6455"/>
            <a:ext cx="9932276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sz="2400" dirty="0"/>
              <a:t>Example 5: assuming good randomness for cryptography. 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Need high-quality randomness to generate the keys that can't be guessed. </a:t>
            </a:r>
          </a:p>
          <a:p>
            <a:pPr marL="104775" indent="0">
              <a:buNone/>
            </a:pPr>
            <a:r>
              <a:rPr lang="en-US" sz="2400" dirty="0"/>
              <a:t>Problem: embedded devices, virtual machines may not have much randomness. As a result, many keys are similar or susceptible to guessing attacks. 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https://factorable.net/weakkeys12.extended.pdf</a:t>
            </a:r>
          </a:p>
        </p:txBody>
      </p:sp>
    </p:spTree>
    <p:extLst>
      <p:ext uri="{BB962C8B-B14F-4D97-AF65-F5344CB8AC3E}">
        <p14:creationId xmlns:p14="http://schemas.microsoft.com/office/powerpoint/2010/main" val="4244651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305E0DA-45CB-424D-907E-8CD41E1F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68014" y="368136"/>
            <a:ext cx="10348639" cy="1255712"/>
          </a:xfrm>
        </p:spPr>
        <p:txBody>
          <a:bodyPr/>
          <a:lstStyle/>
          <a:p>
            <a:pPr eaLnBrk="1" hangingPunct="1"/>
            <a:r>
              <a:rPr lang="en-US" dirty="0"/>
              <a:t>What goes wrong #2: </a:t>
            </a:r>
            <a:br>
              <a:rPr lang="en-US" dirty="0"/>
            </a:br>
            <a:r>
              <a:rPr lang="en-US" sz="4400" dirty="0"/>
              <a:t>Problems with threat model/assumptions</a:t>
            </a:r>
            <a:endParaRPr lang="en-US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0E3E57-6748-4306-946E-463B6683D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6455"/>
            <a:ext cx="9932276" cy="4887311"/>
          </a:xfrm>
        </p:spPr>
        <p:txBody>
          <a:bodyPr/>
          <a:lstStyle/>
          <a:p>
            <a:pPr marL="104775" indent="0">
              <a:buNone/>
            </a:pPr>
            <a:r>
              <a:rPr lang="en-US" sz="2400" dirty="0"/>
              <a:t>Example 6: Subverting military OS Security 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r>
              <a:rPr lang="en-US" sz="2400" dirty="0"/>
              <a:t>In the 80's, military encouraged research into secure Operating Systems</a:t>
            </a:r>
          </a:p>
          <a:p>
            <a:pPr marL="104775" indent="0">
              <a:buNone/>
            </a:pPr>
            <a:r>
              <a:rPr lang="en-US" sz="2400" dirty="0"/>
              <a:t>Adversary gained access to development systems, modified OS code.</a:t>
            </a:r>
          </a:p>
          <a:p>
            <a:pPr marL="104775" indent="0">
              <a:buNone/>
            </a:pPr>
            <a:endParaRPr lang="en-US" sz="2400" dirty="0"/>
          </a:p>
          <a:p>
            <a:pPr marL="104775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0359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6B9AAD1-56AB-4120-B9EC-5FE73887CF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092200"/>
            <a:ext cx="8569325" cy="20843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5C92F24E4244AAD2ED8B96D617959" ma:contentTypeVersion="6" ma:contentTypeDescription="Create a new document." ma:contentTypeScope="" ma:versionID="3018d496b803f6cc1781f7a6cb4acf16">
  <xsd:schema xmlns:xsd="http://www.w3.org/2001/XMLSchema" xmlns:xs="http://www.w3.org/2001/XMLSchema" xmlns:p="http://schemas.microsoft.com/office/2006/metadata/properties" xmlns:ns2="f6eb52e1-44dd-45c2-887b-74d63854f9ed" targetNamespace="http://schemas.microsoft.com/office/2006/metadata/properties" ma:root="true" ma:fieldsID="b11849237a42fd386cbd3544317d650b" ns2:_="">
    <xsd:import namespace="f6eb52e1-44dd-45c2-887b-74d63854f9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eb52e1-44dd-45c2-887b-74d63854f9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C02B35-39D3-42ED-BE1F-BBB45524128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A85B35E-4732-4AAB-9207-82891D5A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CECA6-7EFA-40FA-AF9A-764331FF05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eb52e1-44dd-45c2-887b-74d63854f9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1481</Words>
  <Application>Microsoft Macintosh PowerPoint</Application>
  <PresentationFormat>Custom</PresentationFormat>
  <Paragraphs>131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Black</vt:lpstr>
      <vt:lpstr>Comic Sans MS</vt:lpstr>
      <vt:lpstr>Garamond</vt:lpstr>
      <vt:lpstr>Helvetica</vt:lpstr>
      <vt:lpstr>StarSymbol</vt:lpstr>
      <vt:lpstr>Times New Roman</vt:lpstr>
      <vt:lpstr>Verdana</vt:lpstr>
      <vt:lpstr>Default Design</vt:lpstr>
      <vt:lpstr>Custom Design</vt:lpstr>
      <vt:lpstr>Information Security Essential  ISC511    (Week 7) 01-11-2021 </vt:lpstr>
      <vt:lpstr>Threat Models</vt:lpstr>
      <vt:lpstr>Outlines</vt:lpstr>
      <vt:lpstr>The Security Design</vt:lpstr>
      <vt:lpstr>High Level Plan for Thinking about Security</vt:lpstr>
      <vt:lpstr>Why is Security Hard?  Negative Goal</vt:lpstr>
      <vt:lpstr>What’s the point if we can’t achieve Perfect Security</vt:lpstr>
      <vt:lpstr>Security Risk Vs Benefit</vt:lpstr>
      <vt:lpstr>Better Security</vt:lpstr>
      <vt:lpstr>What goes wrong #1:  Problems with the policy</vt:lpstr>
      <vt:lpstr>PowerPoint Presentation</vt:lpstr>
      <vt:lpstr>What goes wrong #1:  Problems with the policy</vt:lpstr>
      <vt:lpstr>PowerPoint Presentation</vt:lpstr>
      <vt:lpstr>What goes wrong #1:  Problems with the policy</vt:lpstr>
      <vt:lpstr>What goes wrong #2:  Problems with threat model/assumptions</vt:lpstr>
      <vt:lpstr>What goes wrong #2:  Problems with threat model/assumptions</vt:lpstr>
      <vt:lpstr>What goes wrong #2:  Problems with threat model/assumptions</vt:lpstr>
      <vt:lpstr>What goes wrong #2:  Problems with threat model/assumptions</vt:lpstr>
      <vt:lpstr>What goes wrong #2:  Problems with threat model/assumptions</vt:lpstr>
      <vt:lpstr>What goes wrong #2:  Problems with threat model/assumptions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   to Internetworking</dc:title>
  <dc:creator>pro400G1</dc:creator>
  <cp:lastModifiedBy>Syed Yawar Abbas Zaidi</cp:lastModifiedBy>
  <cp:revision>323</cp:revision>
  <dcterms:modified xsi:type="dcterms:W3CDTF">2026-04-13T06:22:15Z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0x0101009FE5C92F24E4244AAD2ED8B96D617959</vt:lpwstr>
  </property>
</Properties>
</file>