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0" r:id="rId6"/>
    <p:sldId id="261" r:id="rId7"/>
    <p:sldId id="470" r:id="rId8"/>
    <p:sldId id="263" r:id="rId9"/>
    <p:sldId id="265" r:id="rId10"/>
    <p:sldId id="266" r:id="rId11"/>
    <p:sldId id="460" r:id="rId12"/>
    <p:sldId id="267" r:id="rId13"/>
    <p:sldId id="268" r:id="rId14"/>
    <p:sldId id="269" r:id="rId15"/>
    <p:sldId id="272" r:id="rId16"/>
    <p:sldId id="273" r:id="rId17"/>
    <p:sldId id="475" r:id="rId18"/>
    <p:sldId id="476" r:id="rId19"/>
    <p:sldId id="279" r:id="rId20"/>
    <p:sldId id="282" r:id="rId21"/>
    <p:sldId id="286" r:id="rId22"/>
    <p:sldId id="287" r:id="rId23"/>
    <p:sldId id="463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464" r:id="rId42"/>
    <p:sldId id="307" r:id="rId43"/>
    <p:sldId id="308" r:id="rId44"/>
    <p:sldId id="465" r:id="rId45"/>
    <p:sldId id="309" r:id="rId46"/>
    <p:sldId id="330" r:id="rId47"/>
    <p:sldId id="331" r:id="rId48"/>
    <p:sldId id="332" r:id="rId49"/>
    <p:sldId id="335" r:id="rId50"/>
    <p:sldId id="334" r:id="rId51"/>
    <p:sldId id="333" r:id="rId52"/>
    <p:sldId id="316" r:id="rId53"/>
    <p:sldId id="467" r:id="rId54"/>
    <p:sldId id="468" r:id="rId55"/>
    <p:sldId id="317" r:id="rId56"/>
    <p:sldId id="318" r:id="rId57"/>
    <p:sldId id="478" r:id="rId58"/>
    <p:sldId id="319" r:id="rId59"/>
    <p:sldId id="320" r:id="rId60"/>
    <p:sldId id="321" r:id="rId61"/>
    <p:sldId id="479" r:id="rId62"/>
    <p:sldId id="322" r:id="rId63"/>
    <p:sldId id="323" r:id="rId64"/>
    <p:sldId id="324" r:id="rId6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6"/>
    <p:restoredTop sz="94679"/>
  </p:normalViewPr>
  <p:slideViewPr>
    <p:cSldViewPr>
      <p:cViewPr varScale="1">
        <p:scale>
          <a:sx n="121" d="100"/>
          <a:sy n="121" d="100"/>
        </p:scale>
        <p:origin x="9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001710-69C7-47E0-A009-944FD7F7D3E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47EC867-7E93-4ED0-B3F8-37B1F1ABBB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56509D2-C55C-4F25-ABBF-2DDCE0AD108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ACECD33-568F-4CE5-A5D7-70B0B60EC4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0B86860-B2E4-41E1-922D-184AF160E5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5FF0753-A0BA-4DA8-A44A-EB3B22C1A1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96AE0C-3CD4-40C9-8F01-0D40702E56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B793BE5-6F90-46BA-BD3D-0F16F126C4D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B86AD9-95D4-4F38-9E6E-4E5B0FFDF0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3C21702-A047-4FFF-A7FB-A100139285A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AA27FDA-192C-4959-94E7-7B5E7C92CC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J:\Brians Documents\paladingrp\PaladinGroup-logo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620000" y="6346018"/>
            <a:ext cx="1442080" cy="511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0" y="6477000"/>
            <a:ext cx="381000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FDABF2-8568-4284-A42E-6743BE8BA1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9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95000"/>
                </a:schemeClr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br>
              <a:rPr lang="en-US" dirty="0"/>
            </a:br>
            <a:r>
              <a:rPr lang="en-US" dirty="0"/>
              <a:t>Access Control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Presented by: </a:t>
            </a:r>
            <a:r>
              <a:rPr lang="en-US" dirty="0" err="1"/>
              <a:t>Yawar</a:t>
            </a:r>
            <a:r>
              <a:rPr lang="en-US" dirty="0"/>
              <a:t> Abbas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 Controls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 Access controls are security features that control how people can interact with systems, and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Access*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Access is the data flow between an subject and an object.</a:t>
            </a:r>
          </a:p>
          <a:p>
            <a:pPr lvl="1"/>
            <a:r>
              <a:rPr lang="en-US" dirty="0"/>
              <a:t>Subject is a person, process or program</a:t>
            </a:r>
          </a:p>
          <a:p>
            <a:pPr lvl="1"/>
            <a:r>
              <a:rPr lang="en-US" dirty="0"/>
              <a:t>Object is a resource (file, printer etc)</a:t>
            </a:r>
          </a:p>
          <a:p>
            <a:pPr lvl="1"/>
            <a:r>
              <a:rPr lang="en-US" dirty="0"/>
              <a:t>Access controls should support the CIA triad!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Access*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What is the CIA triad?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Components of Access Control	(156)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839200" cy="51816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dirty="0"/>
              <a:t>The component of Access Control that we are about to discuss are:</a:t>
            </a:r>
          </a:p>
          <a:p>
            <a:pPr lvl="1"/>
            <a:r>
              <a:rPr lang="en-US" dirty="0"/>
              <a:t>Identification:</a:t>
            </a:r>
          </a:p>
          <a:p>
            <a:pPr lvl="2"/>
            <a:r>
              <a:rPr lang="en-US" dirty="0"/>
              <a:t>Who are you? (user id etc)</a:t>
            </a:r>
          </a:p>
          <a:p>
            <a:pPr lvl="1"/>
            <a:r>
              <a:rPr lang="en-US" dirty="0"/>
              <a:t>Authentication:</a:t>
            </a:r>
          </a:p>
          <a:p>
            <a:pPr lvl="2"/>
            <a:r>
              <a:rPr lang="en-US" dirty="0"/>
              <a:t>Prove you really are who you say you are</a:t>
            </a:r>
          </a:p>
          <a:p>
            <a:pPr lvl="1"/>
            <a:r>
              <a:rPr lang="en-US" dirty="0"/>
              <a:t>Authorization:</a:t>
            </a:r>
          </a:p>
          <a:p>
            <a:pPr lvl="2"/>
            <a:r>
              <a:rPr lang="en-US" dirty="0"/>
              <a:t>What are you allowed to access.</a:t>
            </a:r>
          </a:p>
          <a:p>
            <a:pPr lvl="1"/>
            <a:r>
              <a:rPr lang="en-US" dirty="0"/>
              <a:t>Auditing:</a:t>
            </a:r>
          </a:p>
          <a:p>
            <a:pPr lvl="2"/>
            <a:r>
              <a:rPr lang="en-US" dirty="0"/>
              <a:t>Your access is logged and reviewed.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Identification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Identifies a user </a:t>
            </a:r>
            <a:r>
              <a:rPr lang="en-US" b="1" dirty="0"/>
              <a:t>uniquely</a:t>
            </a:r>
          </a:p>
          <a:p>
            <a:pPr lvl="1"/>
            <a:r>
              <a:rPr lang="en-US" dirty="0"/>
              <a:t>Identification </a:t>
            </a:r>
            <a:r>
              <a:rPr lang="en-US" b="1" dirty="0"/>
              <a:t>must</a:t>
            </a:r>
            <a:r>
              <a:rPr lang="en-US" dirty="0"/>
              <a:t> be unique for accountability</a:t>
            </a:r>
          </a:p>
          <a:p>
            <a:pPr lvl="1"/>
            <a:r>
              <a:rPr lang="en-US" dirty="0"/>
              <a:t>Standard naming schemes should be used</a:t>
            </a:r>
          </a:p>
          <a:p>
            <a:pPr lvl="1"/>
            <a:r>
              <a:rPr lang="en-US" dirty="0"/>
              <a:t>Identifier should not indicate extra information about user (like job position)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(160)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Proving who you say you are, usually one of these 3</a:t>
            </a:r>
          </a:p>
          <a:p>
            <a:pPr lvl="1"/>
            <a:r>
              <a:rPr lang="en-US" dirty="0"/>
              <a:t>Something you know</a:t>
            </a:r>
          </a:p>
          <a:p>
            <a:pPr lvl="1"/>
            <a:r>
              <a:rPr lang="en-US" dirty="0"/>
              <a:t>Something you have</a:t>
            </a:r>
          </a:p>
          <a:p>
            <a:pPr lvl="1"/>
            <a:r>
              <a:rPr lang="en-US" dirty="0"/>
              <a:t>Something you are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(160)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r>
              <a:rPr lang="en-US"/>
              <a:t>What is wrong with just using one of these methods?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Any single method is weak by itself.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Strong Authentication (159)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Strong Authentication is the combination of 2 or more of these and is encouraged!</a:t>
            </a:r>
          </a:p>
          <a:p>
            <a:pPr lvl="1"/>
            <a:r>
              <a:rPr lang="en-US" dirty="0"/>
              <a:t>Strong Authentication provides a higher level of </a:t>
            </a:r>
            <a:r>
              <a:rPr lang="en-US" i="1" dirty="0"/>
              <a:t>assurance</a:t>
            </a:r>
            <a:r>
              <a:rPr lang="en-US" dirty="0"/>
              <a:t>* </a:t>
            </a:r>
          </a:p>
          <a:p>
            <a:pPr lvl="1"/>
            <a:r>
              <a:rPr lang="en-US" dirty="0"/>
              <a:t>Strong Authentication is also called multi-factor </a:t>
            </a:r>
            <a:r>
              <a:rPr lang="en-US" i="1" dirty="0"/>
              <a:t>authentication</a:t>
            </a:r>
            <a:r>
              <a:rPr lang="en-US" dirty="0"/>
              <a:t>*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Authorization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concept of ensuring that someone who is authenticated is </a:t>
            </a:r>
            <a:r>
              <a:rPr lang="en-US" b="1" dirty="0"/>
              <a:t>allowed</a:t>
            </a:r>
            <a:r>
              <a:rPr lang="en-US" dirty="0"/>
              <a:t> access to a resource. </a:t>
            </a:r>
          </a:p>
          <a:p>
            <a:pPr lvl="1"/>
            <a:r>
              <a:rPr lang="en-US" dirty="0"/>
              <a:t>Authorization is a preventative control*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Auditing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Logging and reviewing accesses to objects.</a:t>
            </a:r>
          </a:p>
          <a:p>
            <a:pPr lvl="1"/>
            <a:r>
              <a:rPr lang="en-US" dirty="0"/>
              <a:t>What is the purpose of auditing?</a:t>
            </a:r>
          </a:p>
          <a:p>
            <a:pPr lvl="1"/>
            <a:r>
              <a:rPr lang="en-US" dirty="0"/>
              <a:t>Auditing is a detective control*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Identity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Management (160)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Identity management products are used to identify, authenticate and authorize users in an automated means.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Management (160)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 algn="ctr">
              <a:buNone/>
            </a:pPr>
            <a:r>
              <a:rPr lang="en-US" dirty="0"/>
              <a:t>It’s a broad term.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Identity Management (160)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These products may include</a:t>
            </a:r>
          </a:p>
          <a:p>
            <a:pPr lvl="1"/>
            <a:r>
              <a:rPr lang="en-US" dirty="0"/>
              <a:t>Directories</a:t>
            </a:r>
          </a:p>
          <a:p>
            <a:pPr lvl="1"/>
            <a:r>
              <a:rPr lang="en-US" dirty="0"/>
              <a:t>User account management</a:t>
            </a:r>
          </a:p>
          <a:p>
            <a:pPr lvl="1"/>
            <a:r>
              <a:rPr lang="en-US" dirty="0"/>
              <a:t>Profiles</a:t>
            </a:r>
          </a:p>
          <a:p>
            <a:pPr lvl="1"/>
            <a:r>
              <a:rPr lang="en-US" dirty="0"/>
              <a:t>Access controls</a:t>
            </a:r>
          </a:p>
          <a:p>
            <a:pPr lvl="1"/>
            <a:r>
              <a:rPr lang="en-US" dirty="0"/>
              <a:t>Password management</a:t>
            </a:r>
          </a:p>
          <a:p>
            <a:pPr lvl="1"/>
            <a:r>
              <a:rPr lang="en-US" dirty="0"/>
              <a:t>Single Sign on</a:t>
            </a:r>
          </a:p>
          <a:p>
            <a:pPr lvl="1"/>
            <a:r>
              <a:rPr lang="en-US" dirty="0"/>
              <a:t>Permissions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Password Management In ID systems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for users to change their passwords, </a:t>
            </a:r>
          </a:p>
          <a:p>
            <a:r>
              <a:rPr lang="en-US" dirty="0"/>
              <a:t>May allow users  to retrieve/reset password automatically using special information (challenge questions) or processes</a:t>
            </a:r>
          </a:p>
          <a:p>
            <a:r>
              <a:rPr lang="en-US" dirty="0"/>
              <a:t>Helpdesk assisted resets/retrievals</a:t>
            </a:r>
          </a:p>
          <a:p>
            <a:r>
              <a:rPr lang="en-US" dirty="0"/>
              <a:t>May handle password synchronization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Authentication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Biometrics (179)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Bio -life 		</a:t>
            </a:r>
          </a:p>
          <a:p>
            <a:pPr>
              <a:buNone/>
            </a:pPr>
            <a:r>
              <a:rPr lang="en-US" dirty="0"/>
              <a:t>Metrics - measure</a:t>
            </a:r>
          </a:p>
          <a:p>
            <a:pPr lvl="1"/>
            <a:r>
              <a:rPr lang="en-US" dirty="0"/>
              <a:t>Biometrics verifies (authenticates) an individuals identity by analyzing unique personal attribute </a:t>
            </a:r>
          </a:p>
          <a:p>
            <a:pPr lvl="1"/>
            <a:r>
              <a:rPr lang="en-US" dirty="0"/>
              <a:t>Require enrollment before being used*</a:t>
            </a:r>
          </a:p>
          <a:p>
            <a:pPr lvl="1"/>
            <a:r>
              <a:rPr lang="en-US" dirty="0"/>
              <a:t>EXPENSIVE</a:t>
            </a:r>
          </a:p>
          <a:p>
            <a:pPr lvl="1"/>
            <a:r>
              <a:rPr lang="en-US" dirty="0"/>
              <a:t>COMPLEX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Can be based on </a:t>
            </a:r>
          </a:p>
          <a:p>
            <a:pPr lvl="1"/>
            <a:r>
              <a:rPr lang="en-US" dirty="0"/>
              <a:t>behavior (signature dynamics) – might change over time</a:t>
            </a:r>
          </a:p>
          <a:p>
            <a:pPr lvl="1"/>
            <a:r>
              <a:rPr lang="en-US" dirty="0"/>
              <a:t>Physical attribute (fingerprints, iris, retina scans)</a:t>
            </a:r>
          </a:p>
          <a:p>
            <a:pPr lvl="1"/>
            <a:r>
              <a:rPr lang="en-US" dirty="0"/>
              <a:t>We will talk about the different types of biometrics later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Can give incorrect results*</a:t>
            </a:r>
          </a:p>
          <a:p>
            <a:pPr lvl="2" eaLnBrk="1" hangingPunct="1">
              <a:buFontTx/>
              <a:buNone/>
            </a:pPr>
            <a:r>
              <a:rPr lang="en-US" dirty="0"/>
              <a:t>False negative – Type 1 error* (annoying)</a:t>
            </a:r>
          </a:p>
          <a:p>
            <a:pPr lvl="2" eaLnBrk="1" hangingPunct="1">
              <a:buFontTx/>
              <a:buNone/>
            </a:pPr>
            <a:r>
              <a:rPr lang="en-US" dirty="0"/>
              <a:t>False positive – Type 2 error* (very bad)</a:t>
            </a:r>
          </a:p>
          <a:p>
            <a:endParaRPr lang="en-GB" dirty="0"/>
          </a:p>
          <a:p>
            <a:r>
              <a:rPr lang="en-GB" dirty="0"/>
              <a:t>A “false positive” occurs when the system incorrectly matches an input to a non-matching template, while in a “false negative”, the system fails to detect a match between an input and a matching template.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 problems?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Expensive</a:t>
            </a:r>
          </a:p>
          <a:p>
            <a:r>
              <a:rPr lang="en-US" dirty="0"/>
              <a:t>Unwieldy</a:t>
            </a:r>
          </a:p>
          <a:p>
            <a:r>
              <a:rPr lang="en-US" dirty="0"/>
              <a:t>Intrusive</a:t>
            </a:r>
          </a:p>
          <a:p>
            <a:r>
              <a:rPr lang="en-US" dirty="0"/>
              <a:t>Can be slow (should not take more than 5-10 seconds)*</a:t>
            </a:r>
          </a:p>
          <a:p>
            <a:r>
              <a:rPr lang="en-US" dirty="0"/>
              <a:t>Complex (enrollment)</a:t>
            </a:r>
          </a:p>
          <a:p>
            <a:r>
              <a:rPr lang="en-US" dirty="0"/>
              <a:t>Privacy Issues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 Types Overview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We will talk in more depth of each in the next couple slides</a:t>
            </a:r>
          </a:p>
          <a:p>
            <a:pPr lvl="1"/>
            <a:r>
              <a:rPr lang="en-US" sz="2600" dirty="0"/>
              <a:t>Fingerprint</a:t>
            </a:r>
          </a:p>
          <a:p>
            <a:pPr lvl="1"/>
            <a:r>
              <a:rPr lang="en-US" sz="2600" dirty="0"/>
              <a:t>Hand Geometry</a:t>
            </a:r>
          </a:p>
          <a:p>
            <a:pPr lvl="1"/>
            <a:r>
              <a:rPr lang="en-US" sz="2600" dirty="0"/>
              <a:t>Retina Scan</a:t>
            </a:r>
          </a:p>
          <a:p>
            <a:pPr lvl="1"/>
            <a:r>
              <a:rPr lang="en-US" sz="2600" dirty="0"/>
              <a:t>Iris Scan</a:t>
            </a:r>
          </a:p>
          <a:p>
            <a:pPr lvl="1"/>
            <a:r>
              <a:rPr lang="en-US" sz="2600" dirty="0"/>
              <a:t>Keyboard Dynamics</a:t>
            </a:r>
          </a:p>
          <a:p>
            <a:pPr lvl="1"/>
            <a:r>
              <a:rPr lang="en-US" sz="2600" dirty="0"/>
              <a:t>Keyboard Dynamics</a:t>
            </a:r>
          </a:p>
          <a:p>
            <a:pPr lvl="1"/>
            <a:r>
              <a:rPr lang="en-US" sz="2600" dirty="0"/>
              <a:t>Voice Print</a:t>
            </a:r>
          </a:p>
          <a:p>
            <a:pPr lvl="1"/>
            <a:r>
              <a:rPr lang="en-US" sz="2600" dirty="0"/>
              <a:t>Facial Scan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Finger Print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819" name="Picture 3" descr="fingerpri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828800"/>
            <a:ext cx="397966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Fingerprint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Measures ridge endings an bifurcations (changes in the qualitative or topological  structure) and other details called “minutiae”</a:t>
            </a:r>
          </a:p>
          <a:p>
            <a:r>
              <a:rPr lang="en-US"/>
              <a:t>Full fingerprint is stored, the scanners just compute specific features and values and sends those for verification against the real fingerprint.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 Geometry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Measures:</a:t>
            </a:r>
          </a:p>
          <a:p>
            <a:pPr lvl="1"/>
            <a:r>
              <a:rPr lang="en-US" dirty="0"/>
              <a:t>Overall shape of hand</a:t>
            </a:r>
          </a:p>
          <a:p>
            <a:pPr lvl="1"/>
            <a:r>
              <a:rPr lang="en-US" dirty="0"/>
              <a:t>Length and width of fingers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Retina Scan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1" name="Picture 3" descr="retin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752600"/>
            <a:ext cx="6781800" cy="457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Retina Scan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Reads blood vessel patterns on the back of the eye.</a:t>
            </a:r>
          </a:p>
          <a:p>
            <a:pPr lvl="1"/>
            <a:r>
              <a:rPr lang="en-US" dirty="0"/>
              <a:t>Patterns are extremely unique</a:t>
            </a:r>
          </a:p>
          <a:p>
            <a:pPr lvl="1"/>
            <a:r>
              <a:rPr lang="en-US" dirty="0"/>
              <a:t>Retina patters can change </a:t>
            </a:r>
          </a:p>
          <a:p>
            <a:pPr lvl="1"/>
            <a:r>
              <a:rPr lang="en-US" dirty="0"/>
              <a:t>Can possibly be a privacy issue</a:t>
            </a:r>
          </a:p>
          <a:p>
            <a:pPr lvl="1"/>
            <a:r>
              <a:rPr lang="en-US" dirty="0"/>
              <a:t>Place scanner so sun does NOT shine through aperture*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Iris Scan</a:t>
            </a:r>
          </a:p>
        </p:txBody>
      </p:sp>
      <p:pic>
        <p:nvPicPr>
          <p:cNvPr id="39939" name="Picture 3" descr="iri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752600"/>
            <a:ext cx="4783207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Iris Scan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Measures </a:t>
            </a:r>
          </a:p>
          <a:p>
            <a:pPr lvl="1"/>
            <a:r>
              <a:rPr lang="en-US" dirty="0"/>
              <a:t>Colors</a:t>
            </a:r>
          </a:p>
          <a:p>
            <a:pPr lvl="1"/>
            <a:r>
              <a:rPr lang="en-US" dirty="0"/>
              <a:t>Rifts</a:t>
            </a:r>
          </a:p>
          <a:p>
            <a:pPr lvl="1"/>
            <a:r>
              <a:rPr lang="en-US" dirty="0"/>
              <a:t>Rings</a:t>
            </a:r>
          </a:p>
          <a:p>
            <a:pPr lvl="1"/>
            <a:r>
              <a:rPr lang="en-US" dirty="0"/>
              <a:t>Furrows (wrinkle, rut or groove)</a:t>
            </a:r>
          </a:p>
          <a:p>
            <a:r>
              <a:rPr lang="en-US" dirty="0"/>
              <a:t>Has the most </a:t>
            </a:r>
            <a:r>
              <a:rPr lang="en-US" b="1" i="1" dirty="0"/>
              <a:t>assurance </a:t>
            </a:r>
            <a:r>
              <a:rPr lang="en-US" dirty="0"/>
              <a:t>of all biometric systems*</a:t>
            </a:r>
          </a:p>
          <a:p>
            <a:r>
              <a:rPr lang="en-US" dirty="0"/>
              <a:t>IRIS remains constant through adulthood</a:t>
            </a:r>
          </a:p>
          <a:p>
            <a:r>
              <a:rPr lang="en-US" dirty="0"/>
              <a:t>Place scanner so sun does NOT shine through aperture*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Signature Dynamics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on the fact that most people sign in the same manner, and this is hard to reproduce</a:t>
            </a:r>
          </a:p>
          <a:p>
            <a:r>
              <a:rPr lang="en-US" dirty="0"/>
              <a:t>Monitor the motions and the pressure while moving (as opposed to a static signature)</a:t>
            </a:r>
          </a:p>
          <a:p>
            <a:r>
              <a:rPr lang="en-US" dirty="0"/>
              <a:t>Type I error rate is high</a:t>
            </a:r>
          </a:p>
          <a:p>
            <a:r>
              <a:rPr lang="en-US" dirty="0"/>
              <a:t>Type II error rate is low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Keyboard dynamics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the speeds and motions as you type, including timed difference between characters typed. For a given phrase</a:t>
            </a:r>
          </a:p>
          <a:p>
            <a:r>
              <a:rPr lang="en-US" dirty="0"/>
              <a:t>This is more effective than a password</a:t>
            </a:r>
          </a:p>
          <a:p>
            <a:pPr lvl="1"/>
            <a:r>
              <a:rPr lang="en-US" dirty="0"/>
              <a:t>it is hard to repeats someone's typing style, where as it’s easy to get someone's password.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Voice Print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Measures speech patterns, inflection and intonation (i.e.. pitch and tone)</a:t>
            </a:r>
          </a:p>
          <a:p>
            <a:r>
              <a:rPr lang="en-US"/>
              <a:t>For enrollment, you say several different phrases.</a:t>
            </a:r>
          </a:p>
          <a:p>
            <a:r>
              <a:rPr lang="en-US"/>
              <a:t>For authentication words are jumbled.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Facial Scan</a:t>
            </a:r>
          </a:p>
        </p:txBody>
      </p:sp>
      <p:pic>
        <p:nvPicPr>
          <p:cNvPr id="45059" name="Picture 3" descr="facial-sca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76400"/>
            <a:ext cx="556260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Facial Scan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Geometric measurements of</a:t>
            </a:r>
          </a:p>
          <a:p>
            <a:pPr lvl="1"/>
            <a:r>
              <a:rPr lang="en-US" dirty="0"/>
              <a:t>Bone structure</a:t>
            </a:r>
          </a:p>
          <a:p>
            <a:pPr lvl="1"/>
            <a:r>
              <a:rPr lang="en-US" dirty="0"/>
              <a:t>Nose ridges</a:t>
            </a:r>
          </a:p>
          <a:p>
            <a:pPr lvl="1"/>
            <a:r>
              <a:rPr lang="en-US" dirty="0"/>
              <a:t>Eye width</a:t>
            </a:r>
          </a:p>
          <a:p>
            <a:pPr lvl="1"/>
            <a:r>
              <a:rPr lang="en-US" dirty="0"/>
              <a:t>Chin shape</a:t>
            </a:r>
          </a:p>
          <a:p>
            <a:pPr lvl="1"/>
            <a:r>
              <a:rPr lang="en-US" dirty="0"/>
              <a:t>Forehead size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 Topography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Peaks and valleys of hand along with overall shape and curvature</a:t>
            </a:r>
          </a:p>
          <a:p>
            <a:r>
              <a:rPr lang="en-US"/>
              <a:t>This is opposed to size and width of the fingers (hand geometry)</a:t>
            </a:r>
          </a:p>
          <a:p>
            <a:r>
              <a:rPr lang="en-US"/>
              <a:t>Camera on the side at an angle snaps a pictures</a:t>
            </a:r>
          </a:p>
          <a:p>
            <a:r>
              <a:rPr lang="en-US"/>
              <a:t>Not unique enough to stand on it’s own, but can be used with hand geometry to add assurance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Biometrics wrap up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We covered a bunch of different biometrics</a:t>
            </a:r>
          </a:p>
          <a:p>
            <a:pPr eaLnBrk="1" hangingPunct="1"/>
            <a:r>
              <a:rPr lang="en-US"/>
              <a:t>Understand some are behavioral* based</a:t>
            </a:r>
          </a:p>
          <a:p>
            <a:pPr lvl="1" eaLnBrk="1" hangingPunct="1"/>
            <a:r>
              <a:rPr lang="en-US"/>
              <a:t>Voice print</a:t>
            </a:r>
          </a:p>
          <a:p>
            <a:pPr lvl="1" eaLnBrk="1" hangingPunct="1"/>
            <a:r>
              <a:rPr lang="en-US"/>
              <a:t>Keyboard dynamics</a:t>
            </a:r>
          </a:p>
          <a:p>
            <a:pPr lvl="1" eaLnBrk="1" hangingPunct="1"/>
            <a:r>
              <a:rPr lang="en-US"/>
              <a:t>Can change over time</a:t>
            </a:r>
          </a:p>
          <a:p>
            <a:pPr eaLnBrk="1" hangingPunct="1"/>
            <a:r>
              <a:rPr lang="en-US"/>
              <a:t>Some are physically based</a:t>
            </a:r>
          </a:p>
          <a:p>
            <a:pPr lvl="1" eaLnBrk="1" hangingPunct="1"/>
            <a:r>
              <a:rPr lang="en-US"/>
              <a:t>Fingerprint</a:t>
            </a:r>
          </a:p>
          <a:p>
            <a:pPr lvl="1" eaLnBrk="1" hangingPunct="1"/>
            <a:r>
              <a:rPr lang="en-US"/>
              <a:t>Iris scan</a:t>
            </a:r>
          </a:p>
          <a:p>
            <a:pPr lvl="1" eaLnBrk="1" hangingPunct="1">
              <a:buFontTx/>
              <a:buNone/>
            </a:pPr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Biometrics wrap Up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Fingerprints are probably the most commonly used and cheapest*</a:t>
            </a:r>
          </a:p>
          <a:p>
            <a:r>
              <a:rPr lang="en-US" dirty="0"/>
              <a:t>Iris scanning provides the most “assurance”*</a:t>
            </a:r>
          </a:p>
          <a:p>
            <a:r>
              <a:rPr lang="en-US" dirty="0"/>
              <a:t>Some methods are intrusive*</a:t>
            </a:r>
          </a:p>
          <a:p>
            <a:r>
              <a:rPr lang="en-US" dirty="0"/>
              <a:t>Biometrics do cause privacy issues*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Biometrics Wrap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Understand Type I and Type II errors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Be able to define CER, is a lower CER value better or worse?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Passwords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Passwords (184)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dirty="0"/>
              <a:t>Password – A protected string of characters that one uses to authenticate themselves.</a:t>
            </a:r>
          </a:p>
          <a:p>
            <a:pPr lvl="1">
              <a:buNone/>
            </a:pPr>
            <a:r>
              <a:rPr lang="en-US" dirty="0"/>
              <a:t>Password authentication is:</a:t>
            </a:r>
          </a:p>
          <a:p>
            <a:pPr lvl="2"/>
            <a:r>
              <a:rPr lang="en-US" dirty="0"/>
              <a:t>Something you know</a:t>
            </a:r>
          </a:p>
          <a:p>
            <a:pPr lvl="2"/>
            <a:endParaRPr lang="en-US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Passwords (184)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Password traits</a:t>
            </a:r>
          </a:p>
          <a:p>
            <a:endParaRPr lang="en-US" dirty="0"/>
          </a:p>
          <a:p>
            <a:pPr lvl="1"/>
            <a:r>
              <a:rPr lang="en-US" dirty="0"/>
              <a:t>Simplest form of authentication*</a:t>
            </a:r>
          </a:p>
          <a:p>
            <a:pPr lvl="1"/>
            <a:r>
              <a:rPr lang="en-US" dirty="0"/>
              <a:t>Cheapest form of authentication*</a:t>
            </a:r>
          </a:p>
          <a:p>
            <a:pPr lvl="1"/>
            <a:r>
              <a:rPr lang="en-US" dirty="0"/>
              <a:t>Oldest form of authentication</a:t>
            </a:r>
          </a:p>
          <a:p>
            <a:pPr lvl="1"/>
            <a:r>
              <a:rPr lang="en-US" dirty="0"/>
              <a:t>Most commonly used form of authentication*</a:t>
            </a:r>
          </a:p>
          <a:p>
            <a:pPr lvl="1"/>
            <a:r>
              <a:rPr lang="en-US" dirty="0"/>
              <a:t>Weakest form of authentication*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Passwords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People write down passwords</a:t>
            </a:r>
          </a:p>
          <a:p>
            <a:r>
              <a:rPr lang="en-US" dirty="0"/>
              <a:t>People use weak passwords</a:t>
            </a:r>
          </a:p>
          <a:p>
            <a:r>
              <a:rPr lang="en-US" dirty="0"/>
              <a:t>People re-use passwords</a:t>
            </a:r>
          </a:p>
          <a:p>
            <a:r>
              <a:rPr lang="en-US" dirty="0"/>
              <a:t>If you make passwords to hard to remember then people write them down</a:t>
            </a:r>
          </a:p>
          <a:p>
            <a:r>
              <a:rPr lang="en-US" dirty="0"/>
              <a:t>If you make them too easy then they are easily cracked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 Management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Proper Password Management, including password policies can help mitigate some of the problems with passwords. 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First choose a strong password!</a:t>
            </a:r>
          </a:p>
          <a:p>
            <a:pPr lvl="1"/>
            <a:r>
              <a:rPr lang="en-US" dirty="0"/>
              <a:t>Minimum password lengths - 8</a:t>
            </a:r>
          </a:p>
          <a:p>
            <a:pPr lvl="1"/>
            <a:r>
              <a:rPr lang="en-US" dirty="0"/>
              <a:t>Case changes, number and special characters</a:t>
            </a:r>
          </a:p>
          <a:p>
            <a:pPr lvl="2"/>
            <a:r>
              <a:rPr lang="en-US" dirty="0"/>
              <a:t>1 or more A-Z</a:t>
            </a:r>
          </a:p>
          <a:p>
            <a:pPr lvl="2"/>
            <a:r>
              <a:rPr lang="en-US" dirty="0"/>
              <a:t>1 or more a-z</a:t>
            </a:r>
          </a:p>
          <a:p>
            <a:pPr lvl="2"/>
            <a:r>
              <a:rPr lang="en-US" dirty="0"/>
              <a:t>1 or more 0-9</a:t>
            </a:r>
          </a:p>
          <a:p>
            <a:pPr lvl="2"/>
            <a:r>
              <a:rPr lang="en-US" dirty="0"/>
              <a:t>1 or more special character</a:t>
            </a:r>
          </a:p>
          <a:p>
            <a:pPr lvl="1"/>
            <a:r>
              <a:rPr lang="en-US" dirty="0"/>
              <a:t>No personal information (usernames, real name, children's names, birthdates)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Password Management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8763000" cy="5257800"/>
          </a:xfrm>
        </p:spPr>
        <p:txBody>
          <a:bodyPr/>
          <a:lstStyle/>
          <a:p>
            <a:pPr marL="633222" indent="-514350" eaLnBrk="1" hangingPunct="1">
              <a:buFont typeface="+mj-lt"/>
              <a:buAutoNum type="arabicPeriod" startAt="2"/>
            </a:pPr>
            <a:r>
              <a:rPr lang="en-US" sz="2800" dirty="0"/>
              <a:t>Use a password checker before accepting a new password</a:t>
            </a:r>
          </a:p>
          <a:p>
            <a:pPr marL="633222" indent="-514350" eaLnBrk="1" hangingPunct="1">
              <a:buFont typeface="+mj-lt"/>
              <a:buAutoNum type="arabicPeriod" startAt="2"/>
            </a:pPr>
            <a:r>
              <a:rPr lang="en-US" sz="2800" dirty="0"/>
              <a:t>The OS should enforce password requirements </a:t>
            </a:r>
          </a:p>
          <a:p>
            <a:pPr lvl="1" eaLnBrk="1" hangingPunct="1"/>
            <a:r>
              <a:rPr lang="en-US" sz="2400" dirty="0"/>
              <a:t>Aging –when a password expires </a:t>
            </a:r>
          </a:p>
          <a:p>
            <a:pPr lvl="2" eaLnBrk="1" hangingPunct="1"/>
            <a:r>
              <a:rPr lang="en-US" sz="2000" dirty="0"/>
              <a:t>Minimum password age: days to weeks</a:t>
            </a:r>
          </a:p>
          <a:p>
            <a:pPr lvl="2" eaLnBrk="1" hangingPunct="1"/>
            <a:r>
              <a:rPr lang="en-US" sz="2000" dirty="0"/>
              <a:t>Maximum password age : 60-90 days</a:t>
            </a:r>
          </a:p>
          <a:p>
            <a:pPr lvl="1" eaLnBrk="1" hangingPunct="1"/>
            <a:r>
              <a:rPr lang="en-US" sz="2400" dirty="0"/>
              <a:t>Reuse of old passwords (password history)</a:t>
            </a:r>
          </a:p>
          <a:p>
            <a:pPr lvl="1" eaLnBrk="1" hangingPunct="1"/>
            <a:r>
              <a:rPr lang="en-US" sz="2400" dirty="0"/>
              <a:t>Minimum number of characters</a:t>
            </a:r>
          </a:p>
          <a:p>
            <a:pPr lvl="1" eaLnBrk="1" hangingPunct="1"/>
            <a:r>
              <a:rPr lang="en-US" sz="2400" dirty="0"/>
              <a:t>Limit login attempts – disable logins after a certain number of failed attempts</a:t>
            </a:r>
          </a:p>
          <a:p>
            <a:pPr algn="ctr" eaLnBrk="1" hangingPunct="1">
              <a:buFontTx/>
              <a:buNone/>
            </a:pPr>
            <a:r>
              <a:rPr lang="en-US" sz="2800" dirty="0"/>
              <a:t>(more)</a:t>
            </a:r>
          </a:p>
          <a:p>
            <a:pPr lvl="1" eaLnBrk="1" hangingPunct="1">
              <a:buFontTx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Password Management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33222" indent="-514350">
              <a:buFont typeface="+mj-lt"/>
              <a:buAutoNum type="arabicPeriod" startAt="4"/>
            </a:pPr>
            <a:r>
              <a:rPr lang="en-US" dirty="0"/>
              <a:t>System should NOT store passwords in plaintext, hash them instead.</a:t>
            </a:r>
          </a:p>
          <a:p>
            <a:pPr marL="633222" indent="-514350">
              <a:buFont typeface="+mj-lt"/>
              <a:buAutoNum type="arabicPeriod" startAt="4"/>
            </a:pPr>
            <a:r>
              <a:rPr lang="en-US" dirty="0"/>
              <a:t>Use passwords salts</a:t>
            </a:r>
          </a:p>
          <a:p>
            <a:pPr marL="925830" lvl="1" indent="-514350"/>
            <a:r>
              <a:rPr lang="en-US" dirty="0"/>
              <a:t> random values added to the encryption/hash process to make it harder to brute force (one password may hash/encrypt to multiple different results)</a:t>
            </a:r>
          </a:p>
          <a:p>
            <a:pPr marL="633222" indent="-514350">
              <a:buFont typeface="+mj-lt"/>
              <a:buAutoNum type="arabicPeriod" startAt="4"/>
            </a:pPr>
            <a:r>
              <a:rPr lang="en-US" dirty="0"/>
              <a:t>You can  encrypt hashes… (Windows SYSKEY)… but…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Passphrases (190)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like to use a “passphrase” to generate a password </a:t>
            </a:r>
          </a:p>
          <a:p>
            <a:endParaRPr lang="en-US" dirty="0"/>
          </a:p>
          <a:p>
            <a:r>
              <a:rPr lang="en-US" dirty="0"/>
              <a:t>I Like Iced Tea and Cranberry with Lemon</a:t>
            </a:r>
          </a:p>
          <a:p>
            <a:r>
              <a:rPr lang="en-US" dirty="0"/>
              <a:t>I L I T A C W L</a:t>
            </a:r>
          </a:p>
          <a:p>
            <a:r>
              <a:rPr lang="en-US" dirty="0"/>
              <a:t>1 L 1 t @ c w l</a:t>
            </a:r>
          </a:p>
          <a:p>
            <a:r>
              <a:rPr lang="en-US" dirty="0"/>
              <a:t>All people seems to need data processing </a:t>
            </a:r>
          </a:p>
          <a:p>
            <a:r>
              <a:rPr lang="en-US" dirty="0"/>
              <a:t>Ap$tnDp1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Attacks on Password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Sniffing (Electronic Monitoring)</a:t>
            </a:r>
          </a:p>
          <a:p>
            <a:r>
              <a:rPr lang="en-US" dirty="0"/>
              <a:t>Dictionary Attack</a:t>
            </a:r>
          </a:p>
          <a:p>
            <a:r>
              <a:rPr lang="en-US" dirty="0"/>
              <a:t>Brute force attacks</a:t>
            </a:r>
          </a:p>
          <a:p>
            <a:r>
              <a:rPr lang="en-US" dirty="0"/>
              <a:t>Social Engineering</a:t>
            </a:r>
          </a:p>
          <a:p>
            <a:r>
              <a:rPr lang="en-US" dirty="0"/>
              <a:t>Rainbow tables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Password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Simply a phrase, application will probably make a “virtual password” from the passphrase (etc a hash)</a:t>
            </a:r>
          </a:p>
          <a:p>
            <a:r>
              <a:rPr lang="en-US" dirty="0"/>
              <a:t>Generally more secure than a password</a:t>
            </a:r>
          </a:p>
          <a:p>
            <a:pPr lvl="1"/>
            <a:r>
              <a:rPr lang="en-US" dirty="0"/>
              <a:t>Longer</a:t>
            </a:r>
          </a:p>
          <a:p>
            <a:pPr lvl="1"/>
            <a:r>
              <a:rPr lang="en-US" dirty="0"/>
              <a:t>Yet easier to remember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Cognitive passwords (187)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Facts that only a user should know.</a:t>
            </a:r>
          </a:p>
          <a:p>
            <a:pPr lvl="1"/>
            <a:r>
              <a:rPr lang="en-US" dirty="0"/>
              <a:t> Can be used by helpdesk authenticate a user without revealing the password.</a:t>
            </a:r>
          </a:p>
          <a:p>
            <a:pPr lvl="1"/>
            <a:r>
              <a:rPr lang="en-US" dirty="0"/>
              <a:t> Often used for password reset challenges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Problems with cognitive passwords</a:t>
            </a:r>
          </a:p>
        </p:txBody>
      </p:sp>
      <p:pic>
        <p:nvPicPr>
          <p:cNvPr id="4" name="Picture 3" descr="sarah-palin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676400"/>
            <a:ext cx="56388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2590800"/>
            <a:ext cx="2590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dirty="0"/>
              <a:t>Not really secure. I’m not a big fan.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Cognitive Passwords (187)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“As detailed in the postings, the Palin hack didn’t require any real skill. Instead, the hacker simply reset Palin’s password using her </a:t>
            </a:r>
            <a:r>
              <a:rPr lang="en-US" dirty="0" err="1"/>
              <a:t>birthdate</a:t>
            </a:r>
            <a:r>
              <a:rPr lang="en-US" dirty="0"/>
              <a:t>, ZIP code and information about where she met her spouse — the security question on her Yahoo account, which was answered (Wasilla High) by a simple Google search.”</a:t>
            </a:r>
          </a:p>
        </p:txBody>
      </p:sp>
      <p:sp>
        <p:nvSpPr>
          <p:cNvPr id="64516" name="TextBox 3"/>
          <p:cNvSpPr txBox="1">
            <a:spLocks noChangeArrowheads="1"/>
          </p:cNvSpPr>
          <p:nvPr/>
        </p:nvSpPr>
        <p:spPr bwMode="auto">
          <a:xfrm>
            <a:off x="533400" y="6020402"/>
            <a:ext cx="8229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/>
              <a:t>Sarah_Palin_email_hack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Time Password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Password that is used only once then no longer valid</a:t>
            </a:r>
          </a:p>
          <a:p>
            <a:pPr lvl="1"/>
            <a:r>
              <a:rPr lang="en-US" dirty="0"/>
              <a:t>Used in high security environments</a:t>
            </a:r>
          </a:p>
          <a:p>
            <a:pPr lvl="1"/>
            <a:r>
              <a:rPr lang="en-US" dirty="0"/>
              <a:t>VERY secure</a:t>
            </a:r>
          </a:p>
          <a:p>
            <a:pPr lvl="1"/>
            <a:r>
              <a:rPr lang="en-US" dirty="0"/>
              <a:t>Not vulnerable to electronic eavesdropping, but vulnerable to loss of token.</a:t>
            </a:r>
          </a:p>
          <a:p>
            <a:pPr lvl="1"/>
            <a:r>
              <a:rPr lang="en-US" dirty="0"/>
              <a:t>Require a token device to generate passwords. (RSA </a:t>
            </a:r>
            <a:r>
              <a:rPr lang="en-US" dirty="0" err="1"/>
              <a:t>SecureID</a:t>
            </a:r>
            <a:r>
              <a:rPr lang="en-US" dirty="0"/>
              <a:t> key is an example)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Time Password Token Type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One time passwords are one of two types that we are about to discuss.</a:t>
            </a:r>
          </a:p>
          <a:p>
            <a:pPr lvl="1"/>
            <a:r>
              <a:rPr lang="en-US" dirty="0"/>
              <a:t>Synchronous </a:t>
            </a:r>
          </a:p>
          <a:p>
            <a:pPr lvl="1"/>
            <a:r>
              <a:rPr lang="en-US" dirty="0"/>
              <a:t>Asynchronous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Synchronous One Time Password</a:t>
            </a:r>
            <a:endParaRPr 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Synchronous – uses time to synchronize between token and authentication server</a:t>
            </a:r>
          </a:p>
          <a:p>
            <a:pPr lvl="1"/>
            <a:r>
              <a:rPr lang="en-US" dirty="0"/>
              <a:t>Clocks must be synchronized!</a:t>
            </a:r>
          </a:p>
          <a:p>
            <a:pPr lvl="1"/>
            <a:r>
              <a:rPr lang="en-US" dirty="0"/>
              <a:t>Can also use counter-sync which a button is pushed that increments values on the token and the server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/>
              <a:t>Synchronous One Time Password</a:t>
            </a:r>
          </a:p>
        </p:txBody>
      </p:sp>
      <p:pic>
        <p:nvPicPr>
          <p:cNvPr id="67587" name="Picture 3" descr="secureI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752600"/>
            <a:ext cx="61722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OTP Token Types (187)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Asynchronous</a:t>
            </a:r>
          </a:p>
          <a:p>
            <a:pPr lvl="1"/>
            <a:r>
              <a:rPr lang="en-US" dirty="0"/>
              <a:t>Challenge response</a:t>
            </a:r>
          </a:p>
          <a:p>
            <a:pPr lvl="2"/>
            <a:r>
              <a:rPr lang="en-US" dirty="0"/>
              <a:t>Auth sends a challenge (a random value called a nonce)* </a:t>
            </a:r>
          </a:p>
          <a:p>
            <a:pPr lvl="2"/>
            <a:r>
              <a:rPr lang="en-US" dirty="0"/>
              <a:t>User enters nonce into token, along with PIN</a:t>
            </a:r>
          </a:p>
          <a:p>
            <a:pPr lvl="2"/>
            <a:r>
              <a:rPr lang="en-US" dirty="0"/>
              <a:t>Token encrypts nonce and returns value</a:t>
            </a:r>
          </a:p>
          <a:p>
            <a:pPr lvl="2"/>
            <a:r>
              <a:rPr lang="en-US" dirty="0"/>
              <a:t>Users inputs value into workstation</a:t>
            </a:r>
          </a:p>
          <a:p>
            <a:pPr lvl="2"/>
            <a:r>
              <a:rPr lang="en-US" dirty="0"/>
              <a:t>If server can decrypt then you are good.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Challenge OTP</a:t>
            </a:r>
          </a:p>
        </p:txBody>
      </p:sp>
      <p:pic>
        <p:nvPicPr>
          <p:cNvPr id="69635" name="Picture 3" descr="challenge-smart-c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76400"/>
            <a:ext cx="6934200" cy="4577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Types of Authentication ()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Other types of Authentication that we are about to discuss are</a:t>
            </a:r>
          </a:p>
          <a:p>
            <a:r>
              <a:rPr lang="en-US" dirty="0"/>
              <a:t>Digital Signatures</a:t>
            </a:r>
          </a:p>
          <a:p>
            <a:r>
              <a:rPr lang="en-US" dirty="0"/>
              <a:t>Memory Cards</a:t>
            </a:r>
          </a:p>
          <a:p>
            <a:r>
              <a:rPr lang="en-US" dirty="0"/>
              <a:t>Smart Cards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Digital Signature (talk about in more depth in chapter 8).</a:t>
            </a:r>
          </a:p>
          <a:p>
            <a:pPr lvl="1"/>
            <a:r>
              <a:rPr lang="en-US" dirty="0"/>
              <a:t>Take a hash value of a message, encrypt hash with your private key</a:t>
            </a:r>
          </a:p>
          <a:p>
            <a:pPr lvl="1"/>
            <a:r>
              <a:rPr lang="en-US" dirty="0"/>
              <a:t>Anyone with your public key can decrypt and verify message is from you.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Memory Cards</a:t>
            </a:r>
          </a:p>
        </p:txBody>
      </p:sp>
      <p:pic>
        <p:nvPicPr>
          <p:cNvPr id="71683" name="Picture 3" descr="credit-card-vis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52600"/>
            <a:ext cx="6292851" cy="471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Cards (190)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 smart card</a:t>
            </a:r>
          </a:p>
          <a:p>
            <a:r>
              <a:rPr lang="en-US" dirty="0"/>
              <a:t>Holds information, does NOT process</a:t>
            </a:r>
          </a:p>
          <a:p>
            <a:r>
              <a:rPr lang="en-US" dirty="0"/>
              <a:t>A memory card holds authentication info, usually you’ll want to pair this with a PIN… WHY?</a:t>
            </a:r>
          </a:p>
          <a:p>
            <a:r>
              <a:rPr lang="en-US" dirty="0"/>
              <a:t>A credit card or ATM card is a type of memory card, so is a key/swipe card </a:t>
            </a:r>
          </a:p>
          <a:p>
            <a:r>
              <a:rPr lang="en-US" dirty="0"/>
              <a:t>Usually insecure, easily copied.*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5C92F24E4244AAD2ED8B96D617959" ma:contentTypeVersion="6" ma:contentTypeDescription="Create a new document." ma:contentTypeScope="" ma:versionID="3018d496b803f6cc1781f7a6cb4acf16">
  <xsd:schema xmlns:xsd="http://www.w3.org/2001/XMLSchema" xmlns:xs="http://www.w3.org/2001/XMLSchema" xmlns:p="http://schemas.microsoft.com/office/2006/metadata/properties" xmlns:ns2="f6eb52e1-44dd-45c2-887b-74d63854f9ed" targetNamespace="http://schemas.microsoft.com/office/2006/metadata/properties" ma:root="true" ma:fieldsID="b11849237a42fd386cbd3544317d650b" ns2:_="">
    <xsd:import namespace="f6eb52e1-44dd-45c2-887b-74d63854f9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eb52e1-44dd-45c2-887b-74d63854f9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6E21A0-54D9-453C-95F8-47495FBBAF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254013-E1FF-4BCF-ACA2-76C53291CAE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ECFB57C-C176-4867-8671-15CE46830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eb52e1-44dd-45c2-887b-74d63854f9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1092</TotalTime>
  <Words>1819</Words>
  <Application>Microsoft Macintosh PowerPoint</Application>
  <PresentationFormat>On-screen Show (4:3)</PresentationFormat>
  <Paragraphs>294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Corbel</vt:lpstr>
      <vt:lpstr>Wingdings</vt:lpstr>
      <vt:lpstr>Wingdings 2</vt:lpstr>
      <vt:lpstr>Wingdings 3</vt:lpstr>
      <vt:lpstr>Module</vt:lpstr>
      <vt:lpstr> Access Control</vt:lpstr>
      <vt:lpstr>Access Controls</vt:lpstr>
      <vt:lpstr>Access*</vt:lpstr>
      <vt:lpstr>Access*</vt:lpstr>
      <vt:lpstr>Components of Access Control (156)</vt:lpstr>
      <vt:lpstr>Identification </vt:lpstr>
      <vt:lpstr>Authentication (160)</vt:lpstr>
      <vt:lpstr>Authentication (160)</vt:lpstr>
      <vt:lpstr>Strong Authentication (159)</vt:lpstr>
      <vt:lpstr>Authorization</vt:lpstr>
      <vt:lpstr>Auditing</vt:lpstr>
      <vt:lpstr>Identity Management</vt:lpstr>
      <vt:lpstr>Identity Management (160)</vt:lpstr>
      <vt:lpstr>Identity Management (160)</vt:lpstr>
      <vt:lpstr>Identity Management (160)</vt:lpstr>
      <vt:lpstr>Password Management In ID systems </vt:lpstr>
      <vt:lpstr>Authentication</vt:lpstr>
      <vt:lpstr>Biometrics (179)</vt:lpstr>
      <vt:lpstr>Biometrics</vt:lpstr>
      <vt:lpstr>Biometrics</vt:lpstr>
      <vt:lpstr>Biometric problems?</vt:lpstr>
      <vt:lpstr>Biometric Types Overview</vt:lpstr>
      <vt:lpstr>Finger Print</vt:lpstr>
      <vt:lpstr>Fingerprint</vt:lpstr>
      <vt:lpstr>Hand Geometry</vt:lpstr>
      <vt:lpstr>Retina Scan</vt:lpstr>
      <vt:lpstr>Retina Scan</vt:lpstr>
      <vt:lpstr>Iris Scan</vt:lpstr>
      <vt:lpstr>Iris Scan</vt:lpstr>
      <vt:lpstr>Signature Dynamics</vt:lpstr>
      <vt:lpstr>Keyboard dynamics</vt:lpstr>
      <vt:lpstr>Voice Print</vt:lpstr>
      <vt:lpstr>Facial Scan</vt:lpstr>
      <vt:lpstr>Facial Scan</vt:lpstr>
      <vt:lpstr>Hand Topography</vt:lpstr>
      <vt:lpstr>Biometrics wrap up</vt:lpstr>
      <vt:lpstr>Biometrics wrap Up</vt:lpstr>
      <vt:lpstr>Biometrics Wrap up</vt:lpstr>
      <vt:lpstr>Passwords</vt:lpstr>
      <vt:lpstr>Passwords (184)</vt:lpstr>
      <vt:lpstr>Passwords (184)</vt:lpstr>
      <vt:lpstr>Problems with Passwords </vt:lpstr>
      <vt:lpstr>Password Management</vt:lpstr>
      <vt:lpstr>Password Management</vt:lpstr>
      <vt:lpstr>Password Management</vt:lpstr>
      <vt:lpstr>Passphrases (190)</vt:lpstr>
      <vt:lpstr>Attacks on Password</vt:lpstr>
      <vt:lpstr>Virtual Password</vt:lpstr>
      <vt:lpstr>Cognitive passwords (187)</vt:lpstr>
      <vt:lpstr>Problems with cognitive passwords</vt:lpstr>
      <vt:lpstr>Cognitive Passwords (187)</vt:lpstr>
      <vt:lpstr>One Time Password</vt:lpstr>
      <vt:lpstr>One Time Password Token Type</vt:lpstr>
      <vt:lpstr>Synchronous One Time Password</vt:lpstr>
      <vt:lpstr>Synchronous One Time Password</vt:lpstr>
      <vt:lpstr>OTP Token Types (187)</vt:lpstr>
      <vt:lpstr>Challenge OTP</vt:lpstr>
      <vt:lpstr>Other Types of Authentication ()</vt:lpstr>
      <vt:lpstr>Digital Signatures</vt:lpstr>
      <vt:lpstr>Memory Cards</vt:lpstr>
      <vt:lpstr>Memory Cards (190)</vt:lpstr>
    </vt:vector>
  </TitlesOfParts>
  <Company>BEB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   Access Control</dc:title>
  <dc:creator>brianb</dc:creator>
  <cp:lastModifiedBy>Syed Yawar Abbas Zaidi</cp:lastModifiedBy>
  <cp:revision>153</cp:revision>
  <dcterms:created xsi:type="dcterms:W3CDTF">2010-03-17T06:07:58Z</dcterms:created>
  <dcterms:modified xsi:type="dcterms:W3CDTF">2026-05-16T08:33:58Z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0x0101009FE5C92F24E4244AAD2ED8B96D617959</vt:lpwstr>
  </property>
</Properties>
</file>